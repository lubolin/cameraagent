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88" d="100"/>
          <a:sy n="188" d="100"/>
        </p:scale>
        <p:origin x="514"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0:00–0:27</a:t>
            </a:r>
          </a:p>
          <a:p>
            <a:endParaRPr/>
          </a:p>
          <a:p>
            <a:r>
              <a:t>Say:</a:t>
            </a:r>
          </a:p>
          <a:p>
            <a:r>
              <a:t>Hi, we are Team FiveCent. We built Photo Helper, a voice-first camera-control agent for casual photography. People know the outcome they want—a brighter picture, a closer subject, or time to join the frame—but not which settings create it. Photo Helper translates that request into a bounded workflow on the phone camera.</a:t>
            </a:r>
          </a:p>
          <a:p>
            <a:endParaRPr/>
          </a:p>
          <a:p>
            <a:r>
              <a:t>Presenter cue: Let the family scenario establish the problem before advancing.</a:t>
            </a:r>
          </a:p>
          <a:p>
            <a:endParaRPr/>
          </a:p>
          <a:p>
            <a:r>
              <a:t>[Sources]</a:t>
            </a:r>
          </a:p>
          <a:p>
            <a:r>
              <a:t>- C:\Users\bolin\Desktop\CameraAgent\submission-assets\photo-helper-cover-16x9-v6-actual-ui.png</a:t>
            </a:r>
          </a:p>
          <a:p>
            <a:r>
              <a:t>- C:\Users\bolin\Desktop\CameraAgent\submission.md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0:27–1:08</a:t>
            </a:r>
          </a:p>
          <a:p>
            <a:endParaRPr/>
          </a:p>
          <a:p>
            <a:r>
              <a:t>Say:</a:t>
            </a:r>
          </a:p>
          <a:p>
            <a:r>
              <a:t>People do not think in technical terms such as exposure compensation, focus coordinates, or timer menus. They say, “It is too dark,” “Focus on that,” or “Take it in five seconds.” The challenge is translating those intentions before the moment is lost. This can be harder for less-confident smartphone users, including older adults, less tech-literate people, and people with accessibility challenges. We have not yet tested directly with every group, so our claim is deliberately narrow: Photo Helper translates ordinary language into supported camera controls. It is not an autonomous photographer.</a:t>
            </a:r>
          </a:p>
          <a:p>
            <a:endParaRPr/>
          </a:p>
          <a:p>
            <a:r>
              <a:t>Presenter cue: Point first to the three phrases, then land on the product boundary.</a:t>
            </a:r>
          </a:p>
          <a:p>
            <a:endParaRPr/>
          </a:p>
          <a:p>
            <a:r>
              <a:t>[Sources]</a:t>
            </a:r>
          </a:p>
          <a:p>
            <a:r>
              <a:t>- C:\Users\bolin\Desktop\CameraAgent\submission.md</a:t>
            </a:r>
          </a:p>
          <a:p>
            <a:r>
              <a:t>- C:\Users\bolin\Desktop\CameraAgent\submission-assets\project-brief.md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1:08–2:13</a:t>
            </a:r>
          </a:p>
          <a:p>
            <a:endParaRPr/>
          </a:p>
          <a:p>
            <a:r>
              <a:t>Say:</a:t>
            </a:r>
          </a:p>
          <a:p>
            <a:r>
              <a:t>Let’s see a demo.</a:t>
            </a:r>
          </a:p>
          <a:p>
            <a:endParaRPr/>
          </a:p>
          <a:p>
            <a:r>
              <a:t>Presenter cue:</a:t>
            </a:r>
          </a:p>
          <a:p>
            <a:r>
              <a:t>1. Advance to this holding slide.</a:t>
            </a:r>
          </a:p>
          <a:p>
            <a:r>
              <a:t>2. Switch to the pre-recorded demo tab.</a:t>
            </a:r>
          </a:p>
          <a:p>
            <a:r>
              <a:t>3. Play the approximately 60-second stitched demo.</a:t>
            </a:r>
          </a:p>
          <a:p>
            <a:r>
              <a:t>4. Switch back and advance immediately to the pipeline slide.</a:t>
            </a:r>
          </a:p>
          <a:p>
            <a:endParaRPr/>
          </a:p>
          <a:p>
            <a:r>
              <a:t>Timing allowance: about 60 seconds for playback and five seconds total for tab switching.</a:t>
            </a:r>
          </a:p>
          <a:p>
            <a:endParaRPr/>
          </a:p>
          <a:p>
            <a:r>
              <a:t>[Sources]</a:t>
            </a:r>
          </a:p>
          <a:p>
            <a:r>
              <a:t>- C:\Users\bolin\Desktop\CameraAgent\submission-assets\demo-video-full-script.md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2:13–3:05</a:t>
            </a:r>
          </a:p>
          <a:p>
            <a:endParaRPr/>
          </a:p>
          <a:p>
            <a:r>
              <a:t>Say:</a:t>
            </a:r>
          </a:p>
          <a:p>
            <a:r>
              <a:t>The behavior you saw follows four stages. First, the app supplies the voice request, its on-device transcript, clean and labelled frames, plus current camera settings and context. Second, Qwen3.7 Flash returns strict JSON: at most eight actions from six permitted types. The architecture could use another multimodal model, but it would need prompt and contract tuning. Third, Android validates syntax, the allowlist, device capabilities, and whether the lens, frame, and session are still current—similar to the test stage in an agent loop. Only then are CameraX or Camera2 controls applied. Failed setting transactions roll back, and Reset restores the baseline. Qwen receives transcribed text and request still frames, but never microphone audio or a continuous preview stream.</a:t>
            </a:r>
          </a:p>
          <a:p>
            <a:endParaRPr/>
          </a:p>
          <a:p>
            <a:r>
              <a:t>Presenter cue: Trace left to right, then finish on the privacy boundary.</a:t>
            </a:r>
          </a:p>
          <a:p>
            <a:endParaRPr/>
          </a:p>
          <a:p>
            <a:r>
              <a:t>[Sources]</a:t>
            </a:r>
          </a:p>
          <a:p>
            <a:r>
              <a:t>- C:\Users\bolin\Desktop\CameraAgent\README.md</a:t>
            </a:r>
          </a:p>
          <a:p>
            <a:r>
              <a:t>- C:\Users\bolin\Desktop\CameraAgent\app\src\main\java\com\bolin\photohelper\visual\CommandContracts.kt</a:t>
            </a:r>
          </a:p>
          <a:p>
            <a:r>
              <a:t>- C:\Users\bolin\Desktop\CameraAgent\app\src\main\java\com\bolin\photohelper\visual\VisualContracts.kt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3:05–4:02</a:t>
            </a:r>
          </a:p>
          <a:p>
            <a:endParaRPr/>
          </a:p>
          <a:p>
            <a:r>
              <a:t>Say:</a:t>
            </a:r>
          </a:p>
          <a:p>
            <a:r>
              <a:t>Development used both Codex and WorkBuddy. Codex supported rapid prototyping and design documents, then traced failures, added regression tests, and made focused changes. In WorkBuddy, HY3 led the repo-wide audit, implementation pass, and physical-device verification, supported by the Mobile Application Developer expert. Kimi-K3 and the UI Designer expert acted as a second pair of eyes on interaction and interface decisions. A final HY3 and Software Workshop pass checked the shipped behavior. The current code passes 211 unit tests, and WorkBuddy’s deterministic device run passed 57 out of 57 tests. Throughout, human approval separated agent roles, Android retained camera authority, and microphone audio stayed on-device.</a:t>
            </a:r>
          </a:p>
          <a:p>
            <a:endParaRPr/>
          </a:p>
          <a:p>
            <a:r>
              <a:t>Presenter cue: Move across the four roles, then land on verification and privacy.</a:t>
            </a:r>
          </a:p>
          <a:p>
            <a:endParaRPr/>
          </a:p>
          <a:p>
            <a:r>
              <a:t>[Sources]</a:t>
            </a:r>
          </a:p>
          <a:p>
            <a:r>
              <a:t>- C:\Users\bolin\Desktop\CameraAgent\outputs\workbuddy\HY3_AUDIT_PACKET.md</a:t>
            </a:r>
          </a:p>
          <a:p>
            <a:r>
              <a:t>- C:\Users\bolin\Desktop\CameraAgent\outputs\workbuddy\WORKBUDDY_CHANGELOG.md</a:t>
            </a:r>
          </a:p>
          <a:p>
            <a:r>
              <a:t>- C:\Users\bolin\Desktop\CameraAgent\outputs\workbuddy\K3_DEVICE_VERIFICATION.md</a:t>
            </a:r>
          </a:p>
          <a:p>
            <a:r>
              <a:t>- C:\Users\bolin\Desktop\CameraAgent\outputs\workbuddy\FINAL_STABILIZATION_REPORT.md</a:t>
            </a:r>
          </a:p>
          <a:p>
            <a:r>
              <a:t>- C:\Users\bolin\Desktop\CameraAgent\app\build\test-results\testDebugUnitTest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4:02–4:55</a:t>
            </a:r>
          </a:p>
          <a:p>
            <a:endParaRPr/>
          </a:p>
          <a:p>
            <a:r>
              <a:t>Say:</a:t>
            </a:r>
          </a:p>
          <a:p>
            <a:r>
              <a:t>The immediate product is a casual camera utility: a trustworthy translation layer between spoken intent and controls already on the phone. Future distribution could involve phone makers or camera-app partners. Photo Helper might become an optional voice mode, a limited integration exposing the same allowlisted actions, validation, and Reset behavior, or an overlay for an existing camera app. That is a direction, not a current partnership. We would also explore local models for faster response, improve focus accuracy, and measure manual interactions, retakes, and agent confidence before making broader claims. Photo Helper: speak in outcomes, not camera settings.</a:t>
            </a:r>
          </a:p>
          <a:p>
            <a:endParaRPr/>
          </a:p>
          <a:p>
            <a:r>
              <a:t>Presenter cue: Separate today’s utility from the future distribution path, then finish on the tagline.</a:t>
            </a:r>
          </a:p>
          <a:p>
            <a:endParaRPr/>
          </a:p>
          <a:p>
            <a:r>
              <a:t>[Sources]</a:t>
            </a:r>
          </a:p>
          <a:p>
            <a:r>
              <a:t>- C:\Users\bolin\Desktop\CameraAgent\submission.md</a:t>
            </a:r>
          </a:p>
          <a:p>
            <a:r>
              <a:t>- C:\Users\bolin\Desktop\CameraAgent\submission-assets\project-brief.md</a:t>
            </a:r>
          </a:p>
          <a:p>
            <a:r>
              <a:t>- C:\Users\bolin\Desktop\CameraAgent\submission-assets\pitch-day-plan.md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318"/>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1403357C-3609-49A1-978A-2E43EDD02ED9}"/>
              </a:ext>
            </a:extLst>
          </p:cNvPr>
          <p:cNvSpPr>
            <a:spLocks noGrp="1"/>
          </p:cNvSpPr>
          <p:nvPr/>
        </p:nvSpPr>
        <p:spPr>
          <a:xfrm>
            <a:off x="7124700" y="6153150"/>
            <a:ext cx="4457700" cy="400050"/>
          </a:xfrm>
          <a:prstGeom prst="roundRect">
            <a:avLst>
              <a:gd name="adj" fmla="val 50000"/>
            </a:avLst>
          </a:prstGeom>
          <a:solidFill>
            <a:srgbClr val="111318">
              <a:alpha val="80000"/>
            </a:srgbClr>
          </a:solidFill>
          <a:ln w="0">
            <a:noFill/>
            <a:prstDash val="solid"/>
          </a:ln>
        </p:spPr>
        <p:txBody>
          <a:bodyPr/>
          <a:lstStyle/>
          <a:p>
            <a:endParaRPr lang="en-US"/>
          </a:p>
        </p:txBody>
      </p:sp>
      <p:sp>
        <p:nvSpPr>
          <p:cNvPr id="3" name="Rectangle 2">
            <a:extLst>
              <a:ext uri="{FF2B5EF4-FFF2-40B4-BE49-F238E27FC236}">
                <a16:creationId xmlns:a16="http://schemas.microsoft.com/office/drawing/2014/main" id="{E232F1EF-F33F-430D-8329-8D4F72705126}"/>
              </a:ext>
            </a:extLst>
          </p:cNvPr>
          <p:cNvSpPr>
            <a:spLocks noGrp="1"/>
          </p:cNvSpPr>
          <p:nvPr/>
        </p:nvSpPr>
        <p:spPr>
          <a:xfrm>
            <a:off x="7334250" y="6257925"/>
            <a:ext cx="4038600" cy="190500"/>
          </a:xfrm>
          <a:prstGeom prst="rect">
            <a:avLst/>
          </a:prstGeom>
          <a:noFill/>
          <a:ln w="0">
            <a:noFill/>
            <a:prstDash val="solid"/>
          </a:ln>
        </p:spPr>
        <p:txBody>
          <a:bodyPr anchor="t"/>
          <a:lstStyle/>
          <a:p>
            <a:pPr algn="ctr">
              <a:buNone/>
              <a:defRPr sz="900" b="1" i="0">
                <a:solidFill>
                  <a:srgbClr val="FFFFFF"/>
                </a:solidFill>
              </a:defRPr>
            </a:pPr>
            <a:r>
              <a:rPr sz="900" b="1" i="0">
                <a:solidFill>
                  <a:srgbClr val="FFFFFF"/>
                </a:solidFill>
              </a:rPr>
              <a:t>LIFE AGENT · TEAM FIVECENT · SINGAPORE</a:t>
            </a:r>
          </a:p>
        </p:txBody>
      </p:sp>
    </p:spTree>
    <p:extLst>
      <p:ext uri="{BB962C8B-B14F-4D97-AF65-F5344CB8AC3E}">
        <p14:creationId xmlns:p14="http://schemas.microsoft.com/office/powerpoint/2010/main" val="714653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2BE279B-0BDD-4712-93ED-545D9D6CA2E8}"/>
              </a:ext>
            </a:extLst>
          </p:cNvPr>
          <p:cNvSpPr>
            <a:spLocks noGrp="1"/>
          </p:cNvSpPr>
          <p:nvPr/>
        </p:nvSpPr>
        <p:spPr>
          <a:xfrm>
            <a:off x="609600" y="400050"/>
            <a:ext cx="495300" cy="209550"/>
          </a:xfrm>
          <a:prstGeom prst="rect">
            <a:avLst/>
          </a:prstGeom>
          <a:noFill/>
          <a:ln w="0">
            <a:noFill/>
            <a:prstDash val="solid"/>
          </a:ln>
        </p:spPr>
        <p:txBody>
          <a:bodyPr anchor="t"/>
          <a:lstStyle/>
          <a:p>
            <a:pPr algn="l">
              <a:buNone/>
              <a:defRPr sz="975" b="1" i="0">
                <a:solidFill>
                  <a:srgbClr val="176A9E"/>
                </a:solidFill>
              </a:defRPr>
            </a:pPr>
            <a:r>
              <a:rPr sz="975" b="1" i="0">
                <a:solidFill>
                  <a:srgbClr val="176A9E"/>
                </a:solidFill>
              </a:rPr>
              <a:t>02</a:t>
            </a:r>
          </a:p>
        </p:txBody>
      </p:sp>
      <p:sp>
        <p:nvSpPr>
          <p:cNvPr id="2" name="Rectangle 1">
            <a:extLst>
              <a:ext uri="{FF2B5EF4-FFF2-40B4-BE49-F238E27FC236}">
                <a16:creationId xmlns:a16="http://schemas.microsoft.com/office/drawing/2014/main" id="{58F29FE1-7E00-43E4-992C-5D4119D1D02D}"/>
              </a:ext>
            </a:extLst>
          </p:cNvPr>
          <p:cNvSpPr>
            <a:spLocks noGrp="1"/>
          </p:cNvSpPr>
          <p:nvPr/>
        </p:nvSpPr>
        <p:spPr>
          <a:xfrm>
            <a:off x="1162050" y="400050"/>
            <a:ext cx="4000500" cy="209550"/>
          </a:xfrm>
          <a:prstGeom prst="rect">
            <a:avLst/>
          </a:prstGeom>
          <a:noFill/>
          <a:ln w="0">
            <a:noFill/>
            <a:prstDash val="solid"/>
          </a:ln>
        </p:spPr>
        <p:txBody>
          <a:bodyPr anchor="t"/>
          <a:lstStyle/>
          <a:p>
            <a:pPr algn="l">
              <a:buNone/>
              <a:defRPr sz="975" b="1" i="0">
                <a:solidFill>
                  <a:srgbClr val="5E6572"/>
                </a:solidFill>
              </a:defRPr>
            </a:pPr>
            <a:r>
              <a:rPr sz="975" b="1" i="0">
                <a:solidFill>
                  <a:srgbClr val="5E6572"/>
                </a:solidFill>
              </a:rPr>
              <a:t>THE GAP</a:t>
            </a:r>
          </a:p>
        </p:txBody>
      </p:sp>
      <p:sp>
        <p:nvSpPr>
          <p:cNvPr id="3" name="Rectangle 2">
            <a:extLst>
              <a:ext uri="{FF2B5EF4-FFF2-40B4-BE49-F238E27FC236}">
                <a16:creationId xmlns:a16="http://schemas.microsoft.com/office/drawing/2014/main" id="{9514DFE2-4FEB-48A3-ABA6-84B15C959E6B}"/>
              </a:ext>
            </a:extLst>
          </p:cNvPr>
          <p:cNvSpPr>
            <a:spLocks noGrp="1"/>
          </p:cNvSpPr>
          <p:nvPr/>
        </p:nvSpPr>
        <p:spPr>
          <a:xfrm>
            <a:off x="609600" y="742950"/>
            <a:ext cx="10934700" cy="685800"/>
          </a:xfrm>
          <a:prstGeom prst="rect">
            <a:avLst/>
          </a:prstGeom>
          <a:noFill/>
          <a:ln w="0">
            <a:noFill/>
            <a:prstDash val="solid"/>
          </a:ln>
        </p:spPr>
        <p:txBody>
          <a:bodyPr anchor="t"/>
          <a:lstStyle/>
          <a:p>
            <a:pPr algn="l">
              <a:buNone/>
              <a:defRPr sz="3150" b="1" i="0">
                <a:solidFill>
                  <a:srgbClr val="111318"/>
                </a:solidFill>
              </a:defRPr>
            </a:pPr>
            <a:r>
              <a:rPr sz="3150" b="1" i="0">
                <a:solidFill>
                  <a:srgbClr val="111318"/>
                </a:solidFill>
              </a:rPr>
              <a:t>People describe outcomes. Cameras expose settings.</a:t>
            </a:r>
          </a:p>
        </p:txBody>
      </p:sp>
      <p:sp>
        <p:nvSpPr>
          <p:cNvPr id="4" name="Rectangle: Rounded Corners 3">
            <a:extLst>
              <a:ext uri="{FF2B5EF4-FFF2-40B4-BE49-F238E27FC236}">
                <a16:creationId xmlns:a16="http://schemas.microsoft.com/office/drawing/2014/main" id="{212DB4B8-09B4-4A05-8FE7-3B90B949E8BA}"/>
              </a:ext>
            </a:extLst>
          </p:cNvPr>
          <p:cNvSpPr>
            <a:spLocks noGrp="1"/>
          </p:cNvSpPr>
          <p:nvPr/>
        </p:nvSpPr>
        <p:spPr>
          <a:xfrm>
            <a:off x="609600" y="1714500"/>
            <a:ext cx="4457700" cy="4229100"/>
          </a:xfrm>
          <a:prstGeom prst="roundRect">
            <a:avLst>
              <a:gd name="adj" fmla="val 3604"/>
            </a:avLst>
          </a:prstGeom>
          <a:solidFill>
            <a:srgbClr val="111318"/>
          </a:solidFill>
          <a:ln w="0">
            <a:noFill/>
            <a:prstDash val="solid"/>
          </a:ln>
        </p:spPr>
        <p:txBody>
          <a:bodyPr/>
          <a:lstStyle/>
          <a:p>
            <a:endParaRPr lang="en-US"/>
          </a:p>
        </p:txBody>
      </p:sp>
      <p:sp>
        <p:nvSpPr>
          <p:cNvPr id="5" name="Rectangle 4">
            <a:extLst>
              <a:ext uri="{FF2B5EF4-FFF2-40B4-BE49-F238E27FC236}">
                <a16:creationId xmlns:a16="http://schemas.microsoft.com/office/drawing/2014/main" id="{9FE630D8-3707-42E0-B050-A4E832E2F30B}"/>
              </a:ext>
            </a:extLst>
          </p:cNvPr>
          <p:cNvSpPr>
            <a:spLocks noGrp="1"/>
          </p:cNvSpPr>
          <p:nvPr/>
        </p:nvSpPr>
        <p:spPr>
          <a:xfrm>
            <a:off x="952500" y="2038350"/>
            <a:ext cx="3619500" cy="285750"/>
          </a:xfrm>
          <a:prstGeom prst="rect">
            <a:avLst/>
          </a:prstGeom>
          <a:noFill/>
          <a:ln w="0">
            <a:noFill/>
            <a:prstDash val="solid"/>
          </a:ln>
        </p:spPr>
        <p:txBody>
          <a:bodyPr anchor="t"/>
          <a:lstStyle/>
          <a:p>
            <a:pPr algn="l">
              <a:buNone/>
              <a:defRPr sz="1350" b="1" i="0">
                <a:solidFill>
                  <a:srgbClr val="66BDF1"/>
                </a:solidFill>
              </a:defRPr>
            </a:pPr>
            <a:r>
              <a:rPr sz="1350" b="1" i="0">
                <a:solidFill>
                  <a:srgbClr val="66BDF1"/>
                </a:solidFill>
              </a:rPr>
              <a:t>What people say</a:t>
            </a:r>
          </a:p>
        </p:txBody>
      </p:sp>
      <p:sp>
        <p:nvSpPr>
          <p:cNvPr id="6" name="Oval 5">
            <a:extLst>
              <a:ext uri="{FF2B5EF4-FFF2-40B4-BE49-F238E27FC236}">
                <a16:creationId xmlns:a16="http://schemas.microsoft.com/office/drawing/2014/main" id="{2175A2D0-849C-4460-8449-F54361024592}"/>
              </a:ext>
            </a:extLst>
          </p:cNvPr>
          <p:cNvSpPr>
            <a:spLocks noGrp="1"/>
          </p:cNvSpPr>
          <p:nvPr/>
        </p:nvSpPr>
        <p:spPr>
          <a:xfrm>
            <a:off x="952500" y="2724150"/>
            <a:ext cx="114300" cy="114300"/>
          </a:xfrm>
          <a:prstGeom prst="ellipse">
            <a:avLst/>
          </a:prstGeom>
          <a:solidFill>
            <a:srgbClr val="E6B15E"/>
          </a:solidFill>
          <a:ln w="0">
            <a:noFill/>
            <a:prstDash val="solid"/>
          </a:ln>
        </p:spPr>
        <p:txBody>
          <a:bodyPr/>
          <a:lstStyle/>
          <a:p>
            <a:endParaRPr lang="en-US"/>
          </a:p>
        </p:txBody>
      </p:sp>
      <p:sp>
        <p:nvSpPr>
          <p:cNvPr id="7" name="Rectangle 6">
            <a:extLst>
              <a:ext uri="{FF2B5EF4-FFF2-40B4-BE49-F238E27FC236}">
                <a16:creationId xmlns:a16="http://schemas.microsoft.com/office/drawing/2014/main" id="{F2B46B86-040B-4D53-9242-CF683681C1EC}"/>
              </a:ext>
            </a:extLst>
          </p:cNvPr>
          <p:cNvSpPr>
            <a:spLocks noGrp="1"/>
          </p:cNvSpPr>
          <p:nvPr/>
        </p:nvSpPr>
        <p:spPr>
          <a:xfrm>
            <a:off x="1238250" y="2628900"/>
            <a:ext cx="3333750" cy="514350"/>
          </a:xfrm>
          <a:prstGeom prst="rect">
            <a:avLst/>
          </a:prstGeom>
          <a:noFill/>
          <a:ln w="0">
            <a:noFill/>
            <a:prstDash val="solid"/>
          </a:ln>
        </p:spPr>
        <p:txBody>
          <a:bodyPr anchor="ctr"/>
          <a:lstStyle/>
          <a:p>
            <a:pPr algn="l">
              <a:buNone/>
              <a:defRPr sz="2100" b="1" i="0">
                <a:solidFill>
                  <a:srgbClr val="FFFFFF"/>
                </a:solidFill>
              </a:defRPr>
            </a:pPr>
            <a:r>
              <a:rPr sz="2100" b="1" i="0">
                <a:solidFill>
                  <a:srgbClr val="FFFFFF"/>
                </a:solidFill>
              </a:rPr>
              <a:t>“It’s too dark.”</a:t>
            </a:r>
          </a:p>
        </p:txBody>
      </p:sp>
      <p:sp>
        <p:nvSpPr>
          <p:cNvPr id="8" name="Oval 7">
            <a:extLst>
              <a:ext uri="{FF2B5EF4-FFF2-40B4-BE49-F238E27FC236}">
                <a16:creationId xmlns:a16="http://schemas.microsoft.com/office/drawing/2014/main" id="{4789E9E1-267C-402F-AD0C-C4E2B505BA3A}"/>
              </a:ext>
            </a:extLst>
          </p:cNvPr>
          <p:cNvSpPr>
            <a:spLocks noGrp="1"/>
          </p:cNvSpPr>
          <p:nvPr/>
        </p:nvSpPr>
        <p:spPr>
          <a:xfrm>
            <a:off x="952500" y="3638550"/>
            <a:ext cx="114300" cy="114300"/>
          </a:xfrm>
          <a:prstGeom prst="ellipse">
            <a:avLst/>
          </a:prstGeom>
          <a:solidFill>
            <a:srgbClr val="E6B15E"/>
          </a:solidFill>
          <a:ln w="0">
            <a:noFill/>
            <a:prstDash val="solid"/>
          </a:ln>
        </p:spPr>
        <p:txBody>
          <a:bodyPr/>
          <a:lstStyle/>
          <a:p>
            <a:endParaRPr lang="en-US"/>
          </a:p>
        </p:txBody>
      </p:sp>
      <p:sp>
        <p:nvSpPr>
          <p:cNvPr id="9" name="Rectangle 8">
            <a:extLst>
              <a:ext uri="{FF2B5EF4-FFF2-40B4-BE49-F238E27FC236}">
                <a16:creationId xmlns:a16="http://schemas.microsoft.com/office/drawing/2014/main" id="{EE870CDD-E82F-42AC-A150-28B412A8AEF4}"/>
              </a:ext>
            </a:extLst>
          </p:cNvPr>
          <p:cNvSpPr>
            <a:spLocks noGrp="1"/>
          </p:cNvSpPr>
          <p:nvPr/>
        </p:nvSpPr>
        <p:spPr>
          <a:xfrm>
            <a:off x="1238250" y="3543300"/>
            <a:ext cx="3333750" cy="514350"/>
          </a:xfrm>
          <a:prstGeom prst="rect">
            <a:avLst/>
          </a:prstGeom>
          <a:noFill/>
          <a:ln w="0">
            <a:noFill/>
            <a:prstDash val="solid"/>
          </a:ln>
        </p:spPr>
        <p:txBody>
          <a:bodyPr anchor="ctr"/>
          <a:lstStyle/>
          <a:p>
            <a:pPr algn="l">
              <a:buNone/>
              <a:defRPr sz="2100" b="1" i="0">
                <a:solidFill>
                  <a:srgbClr val="FFFFFF"/>
                </a:solidFill>
              </a:defRPr>
            </a:pPr>
            <a:r>
              <a:rPr sz="2100" b="1" i="0">
                <a:solidFill>
                  <a:srgbClr val="FFFFFF"/>
                </a:solidFill>
              </a:rPr>
              <a:t>“Focus on that.”</a:t>
            </a:r>
          </a:p>
        </p:txBody>
      </p:sp>
      <p:sp>
        <p:nvSpPr>
          <p:cNvPr id="10" name="Oval 9">
            <a:extLst>
              <a:ext uri="{FF2B5EF4-FFF2-40B4-BE49-F238E27FC236}">
                <a16:creationId xmlns:a16="http://schemas.microsoft.com/office/drawing/2014/main" id="{9C943996-87AE-457A-8918-C999CB837446}"/>
              </a:ext>
            </a:extLst>
          </p:cNvPr>
          <p:cNvSpPr>
            <a:spLocks noGrp="1"/>
          </p:cNvSpPr>
          <p:nvPr/>
        </p:nvSpPr>
        <p:spPr>
          <a:xfrm>
            <a:off x="952500" y="4552950"/>
            <a:ext cx="114300" cy="114300"/>
          </a:xfrm>
          <a:prstGeom prst="ellipse">
            <a:avLst/>
          </a:prstGeom>
          <a:solidFill>
            <a:srgbClr val="E6B15E"/>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85D82700-7C65-4048-B368-AD7871760F50}"/>
              </a:ext>
            </a:extLst>
          </p:cNvPr>
          <p:cNvSpPr>
            <a:spLocks noGrp="1"/>
          </p:cNvSpPr>
          <p:nvPr/>
        </p:nvSpPr>
        <p:spPr>
          <a:xfrm>
            <a:off x="1238250" y="4457700"/>
            <a:ext cx="3333750" cy="514350"/>
          </a:xfrm>
          <a:prstGeom prst="rect">
            <a:avLst/>
          </a:prstGeom>
          <a:noFill/>
          <a:ln w="0">
            <a:noFill/>
            <a:prstDash val="solid"/>
          </a:ln>
        </p:spPr>
        <p:txBody>
          <a:bodyPr anchor="ctr"/>
          <a:lstStyle/>
          <a:p>
            <a:pPr algn="l">
              <a:buNone/>
              <a:defRPr sz="2100" b="1" i="0">
                <a:solidFill>
                  <a:srgbClr val="FFFFFF"/>
                </a:solidFill>
              </a:defRPr>
            </a:pPr>
            <a:r>
              <a:rPr sz="2100" b="1" i="0">
                <a:solidFill>
                  <a:srgbClr val="FFFFFF"/>
                </a:solidFill>
              </a:rPr>
              <a:t>“Take it in five seconds.”</a:t>
            </a:r>
          </a:p>
        </p:txBody>
      </p:sp>
      <p:sp>
        <p:nvSpPr>
          <p:cNvPr id="12" name="Rectangle 11">
            <a:extLst>
              <a:ext uri="{FF2B5EF4-FFF2-40B4-BE49-F238E27FC236}">
                <a16:creationId xmlns:a16="http://schemas.microsoft.com/office/drawing/2014/main" id="{6A66193A-FCCE-4976-A98B-C70A98FA62FA}"/>
              </a:ext>
            </a:extLst>
          </p:cNvPr>
          <p:cNvSpPr>
            <a:spLocks noGrp="1"/>
          </p:cNvSpPr>
          <p:nvPr/>
        </p:nvSpPr>
        <p:spPr>
          <a:xfrm>
            <a:off x="5657850" y="2038350"/>
            <a:ext cx="5657850" cy="1809750"/>
          </a:xfrm>
          <a:prstGeom prst="rect">
            <a:avLst/>
          </a:prstGeom>
          <a:noFill/>
          <a:ln w="0">
            <a:noFill/>
            <a:prstDash val="solid"/>
          </a:ln>
        </p:spPr>
        <p:txBody>
          <a:bodyPr anchor="t"/>
          <a:lstStyle/>
          <a:p>
            <a:pPr algn="l">
              <a:buNone/>
              <a:defRPr sz="2625" b="1" i="0">
                <a:solidFill>
                  <a:srgbClr val="111318"/>
                </a:solidFill>
              </a:defRPr>
            </a:pPr>
            <a:r>
              <a:rPr sz="2625" b="1" i="0">
                <a:solidFill>
                  <a:srgbClr val="111318"/>
                </a:solidFill>
              </a:rPr>
              <a:t>Less-confident users should not have to translate intent into exposure compensation, focus regions or timer menus.</a:t>
            </a:r>
          </a:p>
        </p:txBody>
      </p:sp>
      <p:sp>
        <p:nvSpPr>
          <p:cNvPr id="13" name="Rectangle: Rounded Corners 12">
            <a:extLst>
              <a:ext uri="{FF2B5EF4-FFF2-40B4-BE49-F238E27FC236}">
                <a16:creationId xmlns:a16="http://schemas.microsoft.com/office/drawing/2014/main" id="{BC9269BB-D4FF-4C3A-9BF7-78D1F0A5D150}"/>
              </a:ext>
            </a:extLst>
          </p:cNvPr>
          <p:cNvSpPr>
            <a:spLocks noGrp="1"/>
          </p:cNvSpPr>
          <p:nvPr/>
        </p:nvSpPr>
        <p:spPr>
          <a:xfrm>
            <a:off x="5657850" y="4248150"/>
            <a:ext cx="5657850" cy="1200150"/>
          </a:xfrm>
          <a:prstGeom prst="roundRect">
            <a:avLst>
              <a:gd name="adj" fmla="val 9524"/>
            </a:avLst>
          </a:prstGeom>
          <a:solidFill>
            <a:srgbClr val="EAF6FD"/>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006378B3-E9C7-4C09-B604-10C07811B0E0}"/>
              </a:ext>
            </a:extLst>
          </p:cNvPr>
          <p:cNvSpPr>
            <a:spLocks noGrp="1"/>
          </p:cNvSpPr>
          <p:nvPr/>
        </p:nvSpPr>
        <p:spPr>
          <a:xfrm>
            <a:off x="5962650" y="4552950"/>
            <a:ext cx="5048250" cy="628650"/>
          </a:xfrm>
          <a:prstGeom prst="rect">
            <a:avLst/>
          </a:prstGeom>
          <a:noFill/>
          <a:ln w="0">
            <a:noFill/>
            <a:prstDash val="solid"/>
          </a:ln>
        </p:spPr>
        <p:txBody>
          <a:bodyPr anchor="ctr"/>
          <a:lstStyle/>
          <a:p>
            <a:pPr algn="l">
              <a:buNone/>
              <a:defRPr sz="1875" b="1" i="0">
                <a:solidFill>
                  <a:srgbClr val="176A9E"/>
                </a:solidFill>
              </a:defRPr>
            </a:pPr>
            <a:r>
              <a:rPr sz="1875" b="1" i="0">
                <a:solidFill>
                  <a:srgbClr val="176A9E"/>
                </a:solidFill>
              </a:rPr>
              <a:t>A translator for supported controls—not an autonomous photographer.</a:t>
            </a:r>
          </a:p>
        </p:txBody>
      </p:sp>
      <p:sp>
        <p:nvSpPr>
          <p:cNvPr id="15" name="Rectangle 14">
            <a:extLst>
              <a:ext uri="{FF2B5EF4-FFF2-40B4-BE49-F238E27FC236}">
                <a16:creationId xmlns:a16="http://schemas.microsoft.com/office/drawing/2014/main" id="{EEFFF18D-E1BA-4FD7-913A-1A91F20A75AE}"/>
              </a:ext>
            </a:extLst>
          </p:cNvPr>
          <p:cNvSpPr>
            <a:spLocks noGrp="1"/>
          </p:cNvSpPr>
          <p:nvPr/>
        </p:nvSpPr>
        <p:spPr>
          <a:xfrm>
            <a:off x="609600" y="6496050"/>
            <a:ext cx="10972800" cy="9525"/>
          </a:xfrm>
          <a:prstGeom prst="rect">
            <a:avLst/>
          </a:prstGeom>
          <a:solidFill>
            <a:srgbClr val="DDE2E8"/>
          </a:solidFill>
          <a:ln w="0">
            <a:solidFill>
              <a:srgbClr val="DDE2E8"/>
            </a:solidFill>
            <a:prstDash val="solid"/>
          </a:ln>
        </p:spPr>
        <p:txBody>
          <a:bodyPr/>
          <a:lstStyle/>
          <a:p>
            <a:endParaRPr lang="en-US"/>
          </a:p>
        </p:txBody>
      </p:sp>
      <p:sp>
        <p:nvSpPr>
          <p:cNvPr id="16" name="Rectangle 15">
            <a:extLst>
              <a:ext uri="{FF2B5EF4-FFF2-40B4-BE49-F238E27FC236}">
                <a16:creationId xmlns:a16="http://schemas.microsoft.com/office/drawing/2014/main" id="{335859E6-8036-4BD0-9073-2C2F9033D2C3}"/>
              </a:ext>
            </a:extLst>
          </p:cNvPr>
          <p:cNvSpPr>
            <a:spLocks noGrp="1"/>
          </p:cNvSpPr>
          <p:nvPr/>
        </p:nvSpPr>
        <p:spPr>
          <a:xfrm>
            <a:off x="609600" y="6572250"/>
            <a:ext cx="4762500" cy="171450"/>
          </a:xfrm>
          <a:prstGeom prst="rect">
            <a:avLst/>
          </a:prstGeom>
          <a:noFill/>
          <a:ln w="0">
            <a:noFill/>
            <a:prstDash val="solid"/>
          </a:ln>
        </p:spPr>
        <p:txBody>
          <a:bodyPr anchor="t"/>
          <a:lstStyle/>
          <a:p>
            <a:pPr algn="l">
              <a:buNone/>
              <a:defRPr sz="750" b="1" i="0">
                <a:solidFill>
                  <a:srgbClr val="8A919E"/>
                </a:solidFill>
              </a:defRPr>
            </a:pPr>
            <a:r>
              <a:rPr sz="750" b="1" i="0">
                <a:solidFill>
                  <a:srgbClr val="8A919E"/>
                </a:solidFill>
              </a:rPr>
              <a:t>PHOTO HELPER · FIVE­CENT</a:t>
            </a:r>
          </a:p>
        </p:txBody>
      </p:sp>
    </p:spTree>
    <p:extLst>
      <p:ext uri="{BB962C8B-B14F-4D97-AF65-F5344CB8AC3E}">
        <p14:creationId xmlns:p14="http://schemas.microsoft.com/office/powerpoint/2010/main" val="33943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318"/>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25277E-3DC7-4C2D-A1FC-34AAEB410B05}"/>
              </a:ext>
            </a:extLst>
          </p:cNvPr>
          <p:cNvSpPr>
            <a:spLocks noGrp="1"/>
          </p:cNvSpPr>
          <p:nvPr/>
        </p:nvSpPr>
        <p:spPr>
          <a:xfrm>
            <a:off x="2286000" y="2724150"/>
            <a:ext cx="7620000" cy="1047750"/>
          </a:xfrm>
          <a:prstGeom prst="rect">
            <a:avLst/>
          </a:prstGeom>
          <a:noFill/>
          <a:ln w="0">
            <a:noFill/>
            <a:prstDash val="solid"/>
          </a:ln>
        </p:spPr>
        <p:txBody>
          <a:bodyPr anchor="ctr"/>
          <a:lstStyle/>
          <a:p>
            <a:pPr algn="ctr">
              <a:buNone/>
              <a:defRPr sz="4800" b="1" i="0">
                <a:solidFill>
                  <a:srgbClr val="FFFFFF"/>
                </a:solidFill>
              </a:defRPr>
            </a:pPr>
            <a:r>
              <a:rPr sz="4800" b="1" i="0">
                <a:solidFill>
                  <a:srgbClr val="FFFFFF"/>
                </a:solidFill>
              </a:rPr>
              <a:t>DEMO</a:t>
            </a:r>
          </a:p>
        </p:txBody>
      </p:sp>
    </p:spTree>
    <p:extLst>
      <p:ext uri="{BB962C8B-B14F-4D97-AF65-F5344CB8AC3E}">
        <p14:creationId xmlns:p14="http://schemas.microsoft.com/office/powerpoint/2010/main" val="137135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FA5914AD-CEEE-419B-AA10-2B101296615E}"/>
              </a:ext>
            </a:extLst>
          </p:cNvPr>
          <p:cNvSpPr>
            <a:spLocks noGrp="1"/>
          </p:cNvSpPr>
          <p:nvPr/>
        </p:nvSpPr>
        <p:spPr>
          <a:xfrm>
            <a:off x="609600" y="400050"/>
            <a:ext cx="495300" cy="209550"/>
          </a:xfrm>
          <a:prstGeom prst="rect">
            <a:avLst/>
          </a:prstGeom>
          <a:noFill/>
          <a:ln w="0">
            <a:noFill/>
            <a:prstDash val="solid"/>
          </a:ln>
        </p:spPr>
        <p:txBody>
          <a:bodyPr anchor="t"/>
          <a:lstStyle/>
          <a:p>
            <a:pPr algn="l">
              <a:buNone/>
              <a:defRPr sz="975" b="1" i="0">
                <a:solidFill>
                  <a:srgbClr val="176A9E"/>
                </a:solidFill>
              </a:defRPr>
            </a:pPr>
            <a:r>
              <a:rPr sz="975" b="1" i="0">
                <a:solidFill>
                  <a:srgbClr val="176A9E"/>
                </a:solidFill>
              </a:rPr>
              <a:t>04</a:t>
            </a:r>
          </a:p>
        </p:txBody>
      </p:sp>
      <p:sp>
        <p:nvSpPr>
          <p:cNvPr id="2" name="Rectangle 1">
            <a:extLst>
              <a:ext uri="{FF2B5EF4-FFF2-40B4-BE49-F238E27FC236}">
                <a16:creationId xmlns:a16="http://schemas.microsoft.com/office/drawing/2014/main" id="{1DB55E00-A063-445C-889C-A4B4A681E865}"/>
              </a:ext>
            </a:extLst>
          </p:cNvPr>
          <p:cNvSpPr>
            <a:spLocks noGrp="1"/>
          </p:cNvSpPr>
          <p:nvPr/>
        </p:nvSpPr>
        <p:spPr>
          <a:xfrm>
            <a:off x="1162050" y="400050"/>
            <a:ext cx="4000500" cy="209550"/>
          </a:xfrm>
          <a:prstGeom prst="rect">
            <a:avLst/>
          </a:prstGeom>
          <a:noFill/>
          <a:ln w="0">
            <a:noFill/>
            <a:prstDash val="solid"/>
          </a:ln>
        </p:spPr>
        <p:txBody>
          <a:bodyPr anchor="t"/>
          <a:lstStyle/>
          <a:p>
            <a:pPr algn="l">
              <a:buNone/>
              <a:defRPr sz="975" b="1" i="0">
                <a:solidFill>
                  <a:srgbClr val="5E6572"/>
                </a:solidFill>
              </a:defRPr>
            </a:pPr>
            <a:r>
              <a:rPr sz="975" b="1" i="0">
                <a:solidFill>
                  <a:srgbClr val="5E6572"/>
                </a:solidFill>
              </a:rPr>
              <a:t>AGENT DESIGN</a:t>
            </a:r>
          </a:p>
        </p:txBody>
      </p:sp>
      <p:sp>
        <p:nvSpPr>
          <p:cNvPr id="3" name="Rectangle 2">
            <a:extLst>
              <a:ext uri="{FF2B5EF4-FFF2-40B4-BE49-F238E27FC236}">
                <a16:creationId xmlns:a16="http://schemas.microsoft.com/office/drawing/2014/main" id="{C6D14344-1BB8-4D61-81D2-3195FA5C4C05}"/>
              </a:ext>
            </a:extLst>
          </p:cNvPr>
          <p:cNvSpPr>
            <a:spLocks noGrp="1"/>
          </p:cNvSpPr>
          <p:nvPr/>
        </p:nvSpPr>
        <p:spPr>
          <a:xfrm>
            <a:off x="609600" y="742950"/>
            <a:ext cx="10934700" cy="685800"/>
          </a:xfrm>
          <a:prstGeom prst="rect">
            <a:avLst/>
          </a:prstGeom>
          <a:noFill/>
          <a:ln w="0">
            <a:noFill/>
            <a:prstDash val="solid"/>
          </a:ln>
        </p:spPr>
        <p:txBody>
          <a:bodyPr anchor="t"/>
          <a:lstStyle/>
          <a:p>
            <a:pPr algn="l">
              <a:buNone/>
              <a:defRPr sz="3150" b="1" i="0">
                <a:solidFill>
                  <a:srgbClr val="111318"/>
                </a:solidFill>
              </a:defRPr>
            </a:pPr>
            <a:r>
              <a:rPr sz="3150" b="1" i="0" dirty="0">
                <a:solidFill>
                  <a:srgbClr val="111318"/>
                </a:solidFill>
              </a:rPr>
              <a:t>The model interprets. </a:t>
            </a:r>
            <a:r>
              <a:rPr lang="en-US" sz="3150" b="1" i="0" dirty="0">
                <a:solidFill>
                  <a:srgbClr val="111318"/>
                </a:solidFill>
              </a:rPr>
              <a:t>Your phone</a:t>
            </a:r>
            <a:r>
              <a:rPr sz="3150" b="1" i="0" dirty="0">
                <a:solidFill>
                  <a:srgbClr val="111318"/>
                </a:solidFill>
              </a:rPr>
              <a:t> retains authority.</a:t>
            </a:r>
          </a:p>
        </p:txBody>
      </p:sp>
      <p:sp>
        <p:nvSpPr>
          <p:cNvPr id="4" name="Arrow: Right 3">
            <a:extLst>
              <a:ext uri="{FF2B5EF4-FFF2-40B4-BE49-F238E27FC236}">
                <a16:creationId xmlns:a16="http://schemas.microsoft.com/office/drawing/2014/main" id="{B4404512-46D6-4BDC-B918-4F6D069748C4}"/>
              </a:ext>
            </a:extLst>
          </p:cNvPr>
          <p:cNvSpPr>
            <a:spLocks noGrp="1"/>
          </p:cNvSpPr>
          <p:nvPr/>
        </p:nvSpPr>
        <p:spPr>
          <a:xfrm>
            <a:off x="3028950" y="2781300"/>
            <a:ext cx="342900" cy="400050"/>
          </a:xfrm>
          <a:prstGeom prst="rightArrow">
            <a:avLst/>
          </a:prstGeom>
          <a:solidFill>
            <a:srgbClr val="66BDF1"/>
          </a:solidFill>
          <a:ln w="0">
            <a:solidFill>
              <a:srgbClr val="66BDF1"/>
            </a:solidFill>
            <a:prstDash val="solid"/>
          </a:ln>
        </p:spPr>
        <p:txBody>
          <a:bodyPr/>
          <a:lstStyle/>
          <a:p>
            <a:endParaRPr lang="en-US"/>
          </a:p>
        </p:txBody>
      </p:sp>
      <p:sp>
        <p:nvSpPr>
          <p:cNvPr id="5" name="Arrow: Right 4">
            <a:extLst>
              <a:ext uri="{FF2B5EF4-FFF2-40B4-BE49-F238E27FC236}">
                <a16:creationId xmlns:a16="http://schemas.microsoft.com/office/drawing/2014/main" id="{B9CCFC9D-24E5-4483-AC63-5F6A5714A0FA}"/>
              </a:ext>
            </a:extLst>
          </p:cNvPr>
          <p:cNvSpPr>
            <a:spLocks noGrp="1"/>
          </p:cNvSpPr>
          <p:nvPr/>
        </p:nvSpPr>
        <p:spPr>
          <a:xfrm>
            <a:off x="5867400" y="2781300"/>
            <a:ext cx="342900" cy="400050"/>
          </a:xfrm>
          <a:prstGeom prst="rightArrow">
            <a:avLst/>
          </a:prstGeom>
          <a:solidFill>
            <a:srgbClr val="66BDF1"/>
          </a:solidFill>
          <a:ln w="0">
            <a:solidFill>
              <a:srgbClr val="66BDF1"/>
            </a:solidFill>
            <a:prstDash val="solid"/>
          </a:ln>
        </p:spPr>
        <p:txBody>
          <a:bodyPr/>
          <a:lstStyle/>
          <a:p>
            <a:endParaRPr lang="en-US"/>
          </a:p>
        </p:txBody>
      </p:sp>
      <p:sp>
        <p:nvSpPr>
          <p:cNvPr id="6" name="Arrow: Right 5">
            <a:extLst>
              <a:ext uri="{FF2B5EF4-FFF2-40B4-BE49-F238E27FC236}">
                <a16:creationId xmlns:a16="http://schemas.microsoft.com/office/drawing/2014/main" id="{040FD386-C6B5-4D4D-B939-9875BE720CF3}"/>
              </a:ext>
            </a:extLst>
          </p:cNvPr>
          <p:cNvSpPr>
            <a:spLocks noGrp="1"/>
          </p:cNvSpPr>
          <p:nvPr/>
        </p:nvSpPr>
        <p:spPr>
          <a:xfrm>
            <a:off x="8705850" y="2781300"/>
            <a:ext cx="342900" cy="400050"/>
          </a:xfrm>
          <a:prstGeom prst="rightArrow">
            <a:avLst/>
          </a:prstGeom>
          <a:solidFill>
            <a:srgbClr val="66BDF1"/>
          </a:solidFill>
          <a:ln w="0">
            <a:solidFill>
              <a:srgbClr val="66BDF1"/>
            </a:solidFill>
            <a:prstDash val="solid"/>
          </a:ln>
        </p:spPr>
        <p:txBody>
          <a:bodyPr/>
          <a:lstStyle/>
          <a:p>
            <a:endParaRPr lang="en-US"/>
          </a:p>
        </p:txBody>
      </p:sp>
      <p:sp>
        <p:nvSpPr>
          <p:cNvPr id="7" name="Rectangle: Rounded Corners 6">
            <a:extLst>
              <a:ext uri="{FF2B5EF4-FFF2-40B4-BE49-F238E27FC236}">
                <a16:creationId xmlns:a16="http://schemas.microsoft.com/office/drawing/2014/main" id="{B7B9A439-DF85-4BA7-8517-FD6DA5A64C0E}"/>
              </a:ext>
            </a:extLst>
          </p:cNvPr>
          <p:cNvSpPr>
            <a:spLocks noGrp="1"/>
          </p:cNvSpPr>
          <p:nvPr/>
        </p:nvSpPr>
        <p:spPr>
          <a:xfrm>
            <a:off x="609600" y="1943100"/>
            <a:ext cx="2457450" cy="2400300"/>
          </a:xfrm>
          <a:prstGeom prst="roundRect">
            <a:avLst>
              <a:gd name="adj" fmla="val 4762"/>
            </a:avLst>
          </a:prstGeom>
          <a:solidFill>
            <a:srgbClr val="FFFFFF"/>
          </a:solidFill>
          <a:ln w="9525">
            <a:solidFill>
              <a:srgbClr val="DDE2E8"/>
            </a:solidFill>
            <a:prstDash val="solid"/>
          </a:ln>
        </p:spPr>
        <p:txBody>
          <a:bodyPr/>
          <a:lstStyle/>
          <a:p>
            <a:endParaRPr lang="en-US"/>
          </a:p>
        </p:txBody>
      </p:sp>
      <p:sp>
        <p:nvSpPr>
          <p:cNvPr id="8" name="Rectangle 7">
            <a:extLst>
              <a:ext uri="{FF2B5EF4-FFF2-40B4-BE49-F238E27FC236}">
                <a16:creationId xmlns:a16="http://schemas.microsoft.com/office/drawing/2014/main" id="{8CA1981B-77EA-4AC7-B0DF-CF906C3E5EE4}"/>
              </a:ext>
            </a:extLst>
          </p:cNvPr>
          <p:cNvSpPr>
            <a:spLocks noGrp="1"/>
          </p:cNvSpPr>
          <p:nvPr/>
        </p:nvSpPr>
        <p:spPr>
          <a:xfrm>
            <a:off x="838200" y="2209800"/>
            <a:ext cx="2000250" cy="266700"/>
          </a:xfrm>
          <a:prstGeom prst="rect">
            <a:avLst/>
          </a:prstGeom>
          <a:noFill/>
          <a:ln w="0">
            <a:noFill/>
            <a:prstDash val="solid"/>
          </a:ln>
        </p:spPr>
        <p:txBody>
          <a:bodyPr anchor="t"/>
          <a:lstStyle/>
          <a:p>
            <a:pPr algn="l">
              <a:buNone/>
              <a:defRPr sz="1125" b="1" i="0">
                <a:solidFill>
                  <a:srgbClr val="5E6572"/>
                </a:solidFill>
              </a:defRPr>
            </a:pPr>
            <a:r>
              <a:rPr sz="1125" b="1" i="0">
                <a:solidFill>
                  <a:srgbClr val="5E6572"/>
                </a:solidFill>
              </a:rPr>
              <a:t>1 · CONTEXT</a:t>
            </a:r>
          </a:p>
        </p:txBody>
      </p:sp>
      <p:sp>
        <p:nvSpPr>
          <p:cNvPr id="9" name="Rectangle 8">
            <a:extLst>
              <a:ext uri="{FF2B5EF4-FFF2-40B4-BE49-F238E27FC236}">
                <a16:creationId xmlns:a16="http://schemas.microsoft.com/office/drawing/2014/main" id="{3EB6E09D-4F89-4EC8-8E02-AD284AF04371}"/>
              </a:ext>
            </a:extLst>
          </p:cNvPr>
          <p:cNvSpPr>
            <a:spLocks noGrp="1"/>
          </p:cNvSpPr>
          <p:nvPr/>
        </p:nvSpPr>
        <p:spPr>
          <a:xfrm>
            <a:off x="838200" y="2647950"/>
            <a:ext cx="2000250" cy="1409700"/>
          </a:xfrm>
          <a:prstGeom prst="rect">
            <a:avLst/>
          </a:prstGeom>
          <a:noFill/>
          <a:ln w="0">
            <a:noFill/>
            <a:prstDash val="solid"/>
          </a:ln>
        </p:spPr>
        <p:txBody>
          <a:bodyPr anchor="t"/>
          <a:lstStyle/>
          <a:p>
            <a:pPr algn="l">
              <a:buNone/>
              <a:defRPr sz="1500" b="1" i="0">
                <a:solidFill>
                  <a:srgbClr val="111318"/>
                </a:solidFill>
                <a:latin typeface="Calibri"/>
                <a:ea typeface="Calibri"/>
                <a:cs typeface="Calibri"/>
              </a:defRPr>
            </a:pPr>
            <a:r>
              <a:rPr sz="1500" b="1" i="0">
                <a:solidFill>
                  <a:srgbClr val="111318"/>
                </a:solidFill>
                <a:latin typeface="Calibri"/>
                <a:ea typeface="Calibri"/>
                <a:cs typeface="Calibri"/>
              </a:rPr>
              <a:t>Voice request</a:t>
            </a:r>
          </a:p>
          <a:p>
            <a:pPr algn="l">
              <a:buNone/>
              <a:defRPr sz="1500" b="1" i="0">
                <a:solidFill>
                  <a:srgbClr val="111318"/>
                </a:solidFill>
                <a:latin typeface="Calibri"/>
                <a:ea typeface="Calibri"/>
                <a:cs typeface="Calibri"/>
              </a:defRPr>
            </a:pPr>
            <a:r>
              <a:rPr sz="1500" b="1" i="0">
                <a:solidFill>
                  <a:srgbClr val="111318"/>
                </a:solidFill>
                <a:latin typeface="Calibri"/>
                <a:ea typeface="Calibri"/>
                <a:cs typeface="Calibri"/>
              </a:rPr>
              <a:t>On-device transcript</a:t>
            </a:r>
          </a:p>
          <a:p>
            <a:pPr algn="l">
              <a:buNone/>
              <a:defRPr sz="1500" b="1" i="0">
                <a:solidFill>
                  <a:srgbClr val="111318"/>
                </a:solidFill>
                <a:latin typeface="Calibri"/>
                <a:ea typeface="Calibri"/>
                <a:cs typeface="Calibri"/>
              </a:defRPr>
            </a:pPr>
            <a:r>
              <a:rPr sz="1500" b="1" i="0">
                <a:solidFill>
                  <a:srgbClr val="111318"/>
                </a:solidFill>
                <a:latin typeface="Calibri"/>
                <a:ea typeface="Calibri"/>
                <a:cs typeface="Calibri"/>
              </a:rPr>
              <a:t>Clean + labelled frames</a:t>
            </a:r>
          </a:p>
          <a:p>
            <a:pPr algn="l">
              <a:buNone/>
              <a:defRPr sz="1500" b="1" i="0">
                <a:solidFill>
                  <a:srgbClr val="111318"/>
                </a:solidFill>
                <a:latin typeface="Calibri"/>
                <a:ea typeface="Calibri"/>
                <a:cs typeface="Calibri"/>
              </a:defRPr>
            </a:pPr>
            <a:r>
              <a:rPr sz="1500" b="1" i="0">
                <a:solidFill>
                  <a:srgbClr val="111318"/>
                </a:solidFill>
                <a:latin typeface="Calibri"/>
                <a:ea typeface="Calibri"/>
                <a:cs typeface="Calibri"/>
              </a:rPr>
              <a:t>Camera telemetry</a:t>
            </a:r>
          </a:p>
        </p:txBody>
      </p:sp>
      <p:sp>
        <p:nvSpPr>
          <p:cNvPr id="10" name="Rectangle: Rounded Corners 9">
            <a:extLst>
              <a:ext uri="{FF2B5EF4-FFF2-40B4-BE49-F238E27FC236}">
                <a16:creationId xmlns:a16="http://schemas.microsoft.com/office/drawing/2014/main" id="{A9DCCA1E-4820-4418-B912-9E1D8FAC98AF}"/>
              </a:ext>
            </a:extLst>
          </p:cNvPr>
          <p:cNvSpPr>
            <a:spLocks noGrp="1"/>
          </p:cNvSpPr>
          <p:nvPr/>
        </p:nvSpPr>
        <p:spPr>
          <a:xfrm>
            <a:off x="3448050" y="1943100"/>
            <a:ext cx="2457450" cy="2400300"/>
          </a:xfrm>
          <a:prstGeom prst="roundRect">
            <a:avLst>
              <a:gd name="adj" fmla="val 4762"/>
            </a:avLst>
          </a:prstGeom>
          <a:solidFill>
            <a:srgbClr val="EAF6FD"/>
          </a:solidFill>
          <a:ln w="9525">
            <a:solidFill>
              <a:srgbClr val="DDE2E8"/>
            </a:solidFill>
            <a:prstDash val="solid"/>
          </a:ln>
        </p:spPr>
        <p:txBody>
          <a:bodyPr/>
          <a:lstStyle/>
          <a:p>
            <a:endParaRPr lang="en-US"/>
          </a:p>
        </p:txBody>
      </p:sp>
      <p:sp>
        <p:nvSpPr>
          <p:cNvPr id="11" name="Rectangle 10">
            <a:extLst>
              <a:ext uri="{FF2B5EF4-FFF2-40B4-BE49-F238E27FC236}">
                <a16:creationId xmlns:a16="http://schemas.microsoft.com/office/drawing/2014/main" id="{5C09D486-DE3A-4107-99D7-D689436DE7F6}"/>
              </a:ext>
            </a:extLst>
          </p:cNvPr>
          <p:cNvSpPr>
            <a:spLocks noGrp="1"/>
          </p:cNvSpPr>
          <p:nvPr/>
        </p:nvSpPr>
        <p:spPr>
          <a:xfrm>
            <a:off x="3676650" y="2209800"/>
            <a:ext cx="2000250" cy="266700"/>
          </a:xfrm>
          <a:prstGeom prst="rect">
            <a:avLst/>
          </a:prstGeom>
          <a:noFill/>
          <a:ln w="0">
            <a:noFill/>
            <a:prstDash val="solid"/>
          </a:ln>
        </p:spPr>
        <p:txBody>
          <a:bodyPr anchor="t"/>
          <a:lstStyle/>
          <a:p>
            <a:pPr algn="l">
              <a:buNone/>
              <a:defRPr sz="1125" b="1" i="0">
                <a:solidFill>
                  <a:srgbClr val="176A9E"/>
                </a:solidFill>
              </a:defRPr>
            </a:pPr>
            <a:r>
              <a:rPr sz="1125" b="1" i="0">
                <a:solidFill>
                  <a:srgbClr val="176A9E"/>
                </a:solidFill>
              </a:rPr>
              <a:t>2 · QWEN PLAN</a:t>
            </a:r>
          </a:p>
        </p:txBody>
      </p:sp>
      <p:sp>
        <p:nvSpPr>
          <p:cNvPr id="12" name="Rectangle 11">
            <a:extLst>
              <a:ext uri="{FF2B5EF4-FFF2-40B4-BE49-F238E27FC236}">
                <a16:creationId xmlns:a16="http://schemas.microsoft.com/office/drawing/2014/main" id="{870FE290-9FFE-484C-B5E5-AAF067E6E5E6}"/>
              </a:ext>
            </a:extLst>
          </p:cNvPr>
          <p:cNvSpPr>
            <a:spLocks noGrp="1"/>
          </p:cNvSpPr>
          <p:nvPr/>
        </p:nvSpPr>
        <p:spPr>
          <a:xfrm>
            <a:off x="3676650" y="2647950"/>
            <a:ext cx="2000250" cy="1409700"/>
          </a:xfrm>
          <a:prstGeom prst="rect">
            <a:avLst/>
          </a:prstGeom>
          <a:noFill/>
          <a:ln w="0">
            <a:noFill/>
            <a:prstDash val="solid"/>
          </a:ln>
        </p:spPr>
        <p:txBody>
          <a:bodyPr anchor="t"/>
          <a:lstStyle/>
          <a:p>
            <a:pPr algn="l">
              <a:buNone/>
              <a:defRPr sz="1500" b="1" i="0">
                <a:solidFill>
                  <a:srgbClr val="111318"/>
                </a:solidFill>
              </a:defRPr>
            </a:pPr>
            <a:r>
              <a:rPr sz="1500" b="1" i="0">
                <a:solidFill>
                  <a:srgbClr val="111318"/>
                </a:solidFill>
              </a:rPr>
              <a:t>Qwen3.7 Flash</a:t>
            </a:r>
          </a:p>
          <a:p>
            <a:pPr algn="l">
              <a:buNone/>
              <a:defRPr sz="1500" b="1" i="0">
                <a:solidFill>
                  <a:srgbClr val="111318"/>
                </a:solidFill>
              </a:defRPr>
            </a:pPr>
            <a:r>
              <a:rPr sz="1500" b="1" i="0">
                <a:solidFill>
                  <a:srgbClr val="111318"/>
                </a:solidFill>
              </a:rPr>
              <a:t>Strict JSON</a:t>
            </a:r>
          </a:p>
          <a:p>
            <a:pPr algn="l">
              <a:buNone/>
              <a:defRPr sz="1500" b="1" i="0">
                <a:solidFill>
                  <a:srgbClr val="111318"/>
                </a:solidFill>
              </a:defRPr>
            </a:pPr>
            <a:r>
              <a:rPr sz="1500" b="1" i="0">
                <a:solidFill>
                  <a:srgbClr val="111318"/>
                </a:solidFill>
              </a:rPr>
              <a:t>≤ 8 ordered actions</a:t>
            </a:r>
          </a:p>
          <a:p>
            <a:pPr algn="l">
              <a:buNone/>
              <a:defRPr sz="1500" b="1" i="0">
                <a:solidFill>
                  <a:srgbClr val="111318"/>
                </a:solidFill>
              </a:defRPr>
            </a:pPr>
            <a:r>
              <a:rPr sz="1500" b="1" i="0">
                <a:solidFill>
                  <a:srgbClr val="111318"/>
                </a:solidFill>
              </a:rPr>
              <a:t>No free-form controls</a:t>
            </a:r>
          </a:p>
        </p:txBody>
      </p:sp>
      <p:sp>
        <p:nvSpPr>
          <p:cNvPr id="13" name="Rectangle: Rounded Corners 12">
            <a:extLst>
              <a:ext uri="{FF2B5EF4-FFF2-40B4-BE49-F238E27FC236}">
                <a16:creationId xmlns:a16="http://schemas.microsoft.com/office/drawing/2014/main" id="{8305F0DF-49C1-4351-937D-D088B4CC8716}"/>
              </a:ext>
            </a:extLst>
          </p:cNvPr>
          <p:cNvSpPr>
            <a:spLocks noGrp="1"/>
          </p:cNvSpPr>
          <p:nvPr/>
        </p:nvSpPr>
        <p:spPr>
          <a:xfrm>
            <a:off x="6286500" y="1943100"/>
            <a:ext cx="2457450" cy="2400300"/>
          </a:xfrm>
          <a:prstGeom prst="roundRect">
            <a:avLst>
              <a:gd name="adj" fmla="val 4762"/>
            </a:avLst>
          </a:prstGeom>
          <a:solidFill>
            <a:srgbClr val="FFFFFF"/>
          </a:solidFill>
          <a:ln w="9525">
            <a:solidFill>
              <a:srgbClr val="DDE2E8"/>
            </a:solidFill>
            <a:prstDash val="solid"/>
          </a:ln>
        </p:spPr>
        <p:txBody>
          <a:bodyPr/>
          <a:lstStyle/>
          <a:p>
            <a:endParaRPr lang="en-US"/>
          </a:p>
        </p:txBody>
      </p:sp>
      <p:sp>
        <p:nvSpPr>
          <p:cNvPr id="14" name="Rectangle 13">
            <a:extLst>
              <a:ext uri="{FF2B5EF4-FFF2-40B4-BE49-F238E27FC236}">
                <a16:creationId xmlns:a16="http://schemas.microsoft.com/office/drawing/2014/main" id="{4DD5FAB0-D3A3-41D9-95B4-DD9959694FDB}"/>
              </a:ext>
            </a:extLst>
          </p:cNvPr>
          <p:cNvSpPr>
            <a:spLocks noGrp="1"/>
          </p:cNvSpPr>
          <p:nvPr/>
        </p:nvSpPr>
        <p:spPr>
          <a:xfrm>
            <a:off x="6515100" y="2209800"/>
            <a:ext cx="2000250" cy="266700"/>
          </a:xfrm>
          <a:prstGeom prst="rect">
            <a:avLst/>
          </a:prstGeom>
          <a:noFill/>
          <a:ln w="0">
            <a:noFill/>
            <a:prstDash val="solid"/>
          </a:ln>
        </p:spPr>
        <p:txBody>
          <a:bodyPr anchor="t"/>
          <a:lstStyle/>
          <a:p>
            <a:pPr algn="l">
              <a:buNone/>
              <a:defRPr sz="1125" b="1" i="0">
                <a:solidFill>
                  <a:srgbClr val="5E6572"/>
                </a:solidFill>
              </a:defRPr>
            </a:pPr>
            <a:r>
              <a:rPr sz="1125" b="1" i="0">
                <a:solidFill>
                  <a:srgbClr val="5E6572"/>
                </a:solidFill>
              </a:rPr>
              <a:t>3 · VALIDATE</a:t>
            </a:r>
          </a:p>
        </p:txBody>
      </p:sp>
      <p:sp>
        <p:nvSpPr>
          <p:cNvPr id="15" name="Rectangle 14">
            <a:extLst>
              <a:ext uri="{FF2B5EF4-FFF2-40B4-BE49-F238E27FC236}">
                <a16:creationId xmlns:a16="http://schemas.microsoft.com/office/drawing/2014/main" id="{DE3B9179-1AB8-4905-8A80-3DF876A177DC}"/>
              </a:ext>
            </a:extLst>
          </p:cNvPr>
          <p:cNvSpPr>
            <a:spLocks noGrp="1"/>
          </p:cNvSpPr>
          <p:nvPr/>
        </p:nvSpPr>
        <p:spPr>
          <a:xfrm>
            <a:off x="6515100" y="2647950"/>
            <a:ext cx="2000250" cy="1409700"/>
          </a:xfrm>
          <a:prstGeom prst="rect">
            <a:avLst/>
          </a:prstGeom>
          <a:noFill/>
          <a:ln w="0">
            <a:noFill/>
            <a:prstDash val="solid"/>
          </a:ln>
        </p:spPr>
        <p:txBody>
          <a:bodyPr anchor="t"/>
          <a:lstStyle/>
          <a:p>
            <a:pPr algn="l">
              <a:buNone/>
              <a:defRPr sz="1500" b="1" i="0">
                <a:solidFill>
                  <a:srgbClr val="111318"/>
                </a:solidFill>
                <a:latin typeface="Calibri"/>
                <a:ea typeface="Calibri"/>
                <a:cs typeface="Calibri"/>
              </a:defRPr>
            </a:pPr>
            <a:r>
              <a:rPr sz="1500" b="1" i="0">
                <a:solidFill>
                  <a:srgbClr val="111318"/>
                </a:solidFill>
                <a:latin typeface="Calibri"/>
                <a:ea typeface="Calibri"/>
                <a:cs typeface="Calibri"/>
              </a:rPr>
              <a:t>Schema + allowlist</a:t>
            </a:r>
          </a:p>
          <a:p>
            <a:pPr algn="l">
              <a:buNone/>
              <a:defRPr sz="1500" b="1" i="0">
                <a:solidFill>
                  <a:srgbClr val="111318"/>
                </a:solidFill>
                <a:latin typeface="Calibri"/>
                <a:ea typeface="Calibri"/>
                <a:cs typeface="Calibri"/>
              </a:defRPr>
            </a:pPr>
            <a:r>
              <a:rPr sz="1500" b="1" i="0">
                <a:solidFill>
                  <a:srgbClr val="111318"/>
                </a:solidFill>
                <a:latin typeface="Calibri"/>
                <a:ea typeface="Calibri"/>
                <a:cs typeface="Calibri"/>
              </a:rPr>
              <a:t>Capabilities</a:t>
            </a:r>
          </a:p>
          <a:p>
            <a:pPr algn="l">
              <a:buNone/>
              <a:defRPr sz="1500" b="1" i="0">
                <a:solidFill>
                  <a:srgbClr val="111318"/>
                </a:solidFill>
                <a:latin typeface="Calibri"/>
                <a:ea typeface="Calibri"/>
                <a:cs typeface="Calibri"/>
              </a:defRPr>
            </a:pPr>
            <a:r>
              <a:rPr sz="1500" b="1" i="0">
                <a:solidFill>
                  <a:srgbClr val="111318"/>
                </a:solidFill>
                <a:latin typeface="Calibri"/>
                <a:ea typeface="Calibri"/>
                <a:cs typeface="Calibri"/>
              </a:rPr>
              <a:t>Lens / frame / session</a:t>
            </a:r>
          </a:p>
          <a:p>
            <a:pPr algn="l">
              <a:buNone/>
              <a:defRPr sz="1500" b="1" i="0">
                <a:solidFill>
                  <a:srgbClr val="111318"/>
                </a:solidFill>
                <a:latin typeface="Calibri"/>
                <a:ea typeface="Calibri"/>
                <a:cs typeface="Calibri"/>
              </a:defRPr>
            </a:pPr>
            <a:r>
              <a:rPr sz="1500" b="1" i="0">
                <a:solidFill>
                  <a:srgbClr val="111318"/>
                </a:solidFill>
                <a:latin typeface="Calibri"/>
                <a:ea typeface="Calibri"/>
                <a:cs typeface="Calibri"/>
              </a:rPr>
              <a:t>Reject or approve</a:t>
            </a:r>
          </a:p>
        </p:txBody>
      </p:sp>
      <p:sp>
        <p:nvSpPr>
          <p:cNvPr id="16" name="Rectangle: Rounded Corners 15">
            <a:extLst>
              <a:ext uri="{FF2B5EF4-FFF2-40B4-BE49-F238E27FC236}">
                <a16:creationId xmlns:a16="http://schemas.microsoft.com/office/drawing/2014/main" id="{69E51DBD-0AB3-4DAB-BB85-6BCD02F72B9B}"/>
              </a:ext>
            </a:extLst>
          </p:cNvPr>
          <p:cNvSpPr>
            <a:spLocks noGrp="1"/>
          </p:cNvSpPr>
          <p:nvPr/>
        </p:nvSpPr>
        <p:spPr>
          <a:xfrm>
            <a:off x="9124950" y="1943100"/>
            <a:ext cx="2457450" cy="2400300"/>
          </a:xfrm>
          <a:prstGeom prst="roundRect">
            <a:avLst>
              <a:gd name="adj" fmla="val 4762"/>
            </a:avLst>
          </a:prstGeom>
          <a:solidFill>
            <a:srgbClr val="FFF4E0"/>
          </a:solidFill>
          <a:ln w="9525">
            <a:solidFill>
              <a:srgbClr val="DDE2E8"/>
            </a:solidFill>
            <a:prstDash val="solid"/>
          </a:ln>
        </p:spPr>
        <p:txBody>
          <a:bodyPr/>
          <a:lstStyle/>
          <a:p>
            <a:endParaRPr lang="en-US"/>
          </a:p>
        </p:txBody>
      </p:sp>
      <p:sp>
        <p:nvSpPr>
          <p:cNvPr id="17" name="Rectangle 16">
            <a:extLst>
              <a:ext uri="{FF2B5EF4-FFF2-40B4-BE49-F238E27FC236}">
                <a16:creationId xmlns:a16="http://schemas.microsoft.com/office/drawing/2014/main" id="{39615803-AA2D-4430-AC12-21E205C1A801}"/>
              </a:ext>
            </a:extLst>
          </p:cNvPr>
          <p:cNvSpPr>
            <a:spLocks noGrp="1"/>
          </p:cNvSpPr>
          <p:nvPr/>
        </p:nvSpPr>
        <p:spPr>
          <a:xfrm>
            <a:off x="9353550" y="2209800"/>
            <a:ext cx="2000250" cy="266700"/>
          </a:xfrm>
          <a:prstGeom prst="rect">
            <a:avLst/>
          </a:prstGeom>
          <a:noFill/>
          <a:ln w="0">
            <a:noFill/>
            <a:prstDash val="solid"/>
          </a:ln>
        </p:spPr>
        <p:txBody>
          <a:bodyPr anchor="t"/>
          <a:lstStyle/>
          <a:p>
            <a:pPr algn="l">
              <a:buNone/>
              <a:defRPr sz="1125" b="1" i="0">
                <a:solidFill>
                  <a:srgbClr val="5E6572"/>
                </a:solidFill>
              </a:defRPr>
            </a:pPr>
            <a:r>
              <a:rPr sz="1125" b="1" i="0">
                <a:solidFill>
                  <a:srgbClr val="5E6572"/>
                </a:solidFill>
              </a:rPr>
              <a:t>4 · EXECUTE</a:t>
            </a:r>
          </a:p>
        </p:txBody>
      </p:sp>
      <p:sp>
        <p:nvSpPr>
          <p:cNvPr id="18" name="Rectangle 17">
            <a:extLst>
              <a:ext uri="{FF2B5EF4-FFF2-40B4-BE49-F238E27FC236}">
                <a16:creationId xmlns:a16="http://schemas.microsoft.com/office/drawing/2014/main" id="{759091F7-CEAA-4AB4-BBCB-4AEDD5182921}"/>
              </a:ext>
            </a:extLst>
          </p:cNvPr>
          <p:cNvSpPr>
            <a:spLocks noGrp="1"/>
          </p:cNvSpPr>
          <p:nvPr/>
        </p:nvSpPr>
        <p:spPr>
          <a:xfrm>
            <a:off x="9353550" y="2647950"/>
            <a:ext cx="2000250" cy="1409700"/>
          </a:xfrm>
          <a:prstGeom prst="rect">
            <a:avLst/>
          </a:prstGeom>
          <a:noFill/>
          <a:ln w="0">
            <a:noFill/>
            <a:prstDash val="solid"/>
          </a:ln>
        </p:spPr>
        <p:txBody>
          <a:bodyPr anchor="t"/>
          <a:lstStyle/>
          <a:p>
            <a:pPr algn="l">
              <a:buNone/>
              <a:defRPr sz="1500" b="1" i="0">
                <a:solidFill>
                  <a:srgbClr val="111318"/>
                </a:solidFill>
              </a:defRPr>
            </a:pPr>
            <a:r>
              <a:rPr sz="1500" b="1" i="0">
                <a:solidFill>
                  <a:srgbClr val="111318"/>
                </a:solidFill>
              </a:rPr>
              <a:t>CameraX / Camera2</a:t>
            </a:r>
          </a:p>
          <a:p>
            <a:pPr algn="l">
              <a:buNone/>
              <a:defRPr sz="1500" b="1" i="0">
                <a:solidFill>
                  <a:srgbClr val="111318"/>
                </a:solidFill>
              </a:defRPr>
            </a:pPr>
            <a:r>
              <a:rPr sz="1500" b="1" i="0">
                <a:solidFill>
                  <a:srgbClr val="111318"/>
                </a:solidFill>
              </a:rPr>
              <a:t>Focus + settings</a:t>
            </a:r>
          </a:p>
          <a:p>
            <a:pPr algn="l">
              <a:buNone/>
              <a:defRPr sz="1500" b="1" i="0">
                <a:solidFill>
                  <a:srgbClr val="111318"/>
                </a:solidFill>
              </a:defRPr>
            </a:pPr>
            <a:r>
              <a:rPr sz="1500" b="1" i="0">
                <a:solidFill>
                  <a:srgbClr val="111318"/>
                </a:solidFill>
              </a:rPr>
              <a:t>Capture</a:t>
            </a:r>
          </a:p>
          <a:p>
            <a:pPr algn="l">
              <a:buNone/>
              <a:defRPr sz="1500" b="1" i="0">
                <a:solidFill>
                  <a:srgbClr val="111318"/>
                </a:solidFill>
              </a:defRPr>
            </a:pPr>
            <a:r>
              <a:rPr sz="1500" b="1" i="0">
                <a:solidFill>
                  <a:srgbClr val="111318"/>
                </a:solidFill>
              </a:rPr>
              <a:t>Rollback / Reset</a:t>
            </a:r>
          </a:p>
        </p:txBody>
      </p:sp>
      <p:sp>
        <p:nvSpPr>
          <p:cNvPr id="19" name="Rectangle 18">
            <a:extLst>
              <a:ext uri="{FF2B5EF4-FFF2-40B4-BE49-F238E27FC236}">
                <a16:creationId xmlns:a16="http://schemas.microsoft.com/office/drawing/2014/main" id="{B09446F8-107E-4225-B207-F0D98ABCDFD4}"/>
              </a:ext>
            </a:extLst>
          </p:cNvPr>
          <p:cNvSpPr>
            <a:spLocks noGrp="1"/>
          </p:cNvSpPr>
          <p:nvPr/>
        </p:nvSpPr>
        <p:spPr>
          <a:xfrm>
            <a:off x="609600" y="4724400"/>
            <a:ext cx="4095750" cy="209550"/>
          </a:xfrm>
          <a:prstGeom prst="rect">
            <a:avLst/>
          </a:prstGeom>
          <a:noFill/>
          <a:ln w="0">
            <a:noFill/>
            <a:prstDash val="solid"/>
          </a:ln>
        </p:spPr>
        <p:txBody>
          <a:bodyPr anchor="t"/>
          <a:lstStyle/>
          <a:p>
            <a:pPr algn="l">
              <a:buNone/>
              <a:defRPr sz="975" b="1" i="0">
                <a:solidFill>
                  <a:srgbClr val="5E6572"/>
                </a:solidFill>
              </a:defRPr>
            </a:pPr>
            <a:r>
              <a:rPr sz="975" b="1" i="0">
                <a:solidFill>
                  <a:srgbClr val="5E6572"/>
                </a:solidFill>
              </a:rPr>
              <a:t>THE ONLY ACTIONS THE MODEL MAY PROPOSE</a:t>
            </a:r>
          </a:p>
        </p:txBody>
      </p:sp>
      <p:sp>
        <p:nvSpPr>
          <p:cNvPr id="20" name="Rectangle: Rounded Corners 19">
            <a:extLst>
              <a:ext uri="{FF2B5EF4-FFF2-40B4-BE49-F238E27FC236}">
                <a16:creationId xmlns:a16="http://schemas.microsoft.com/office/drawing/2014/main" id="{66A30BA2-FAAC-4917-BD1D-479FBCBEB51B}"/>
              </a:ext>
            </a:extLst>
          </p:cNvPr>
          <p:cNvSpPr>
            <a:spLocks noGrp="1"/>
          </p:cNvSpPr>
          <p:nvPr/>
        </p:nvSpPr>
        <p:spPr>
          <a:xfrm>
            <a:off x="609600" y="5067300"/>
            <a:ext cx="1638300" cy="495300"/>
          </a:xfrm>
          <a:prstGeom prst="roundRect">
            <a:avLst>
              <a:gd name="adj" fmla="val 50000"/>
            </a:avLst>
          </a:prstGeom>
          <a:solidFill>
            <a:srgbClr val="FFFFFF"/>
          </a:solidFill>
          <a:ln w="9525">
            <a:solidFill>
              <a:srgbClr val="DDE2E8"/>
            </a:solidFill>
            <a:prstDash val="solid"/>
          </a:ln>
        </p:spPr>
        <p:txBody>
          <a:bodyPr/>
          <a:lstStyle/>
          <a:p>
            <a:endParaRPr lang="en-US"/>
          </a:p>
        </p:txBody>
      </p:sp>
      <p:sp>
        <p:nvSpPr>
          <p:cNvPr id="21" name="Rectangle 20">
            <a:extLst>
              <a:ext uri="{FF2B5EF4-FFF2-40B4-BE49-F238E27FC236}">
                <a16:creationId xmlns:a16="http://schemas.microsoft.com/office/drawing/2014/main" id="{0A981C27-5B6E-4397-A0B3-2654AABE9707}"/>
              </a:ext>
            </a:extLst>
          </p:cNvPr>
          <p:cNvSpPr>
            <a:spLocks noGrp="1"/>
          </p:cNvSpPr>
          <p:nvPr/>
        </p:nvSpPr>
        <p:spPr>
          <a:xfrm>
            <a:off x="685800" y="5219700"/>
            <a:ext cx="1485900" cy="190500"/>
          </a:xfrm>
          <a:prstGeom prst="rect">
            <a:avLst/>
          </a:prstGeom>
          <a:noFill/>
          <a:ln w="0">
            <a:noFill/>
            <a:prstDash val="solid"/>
          </a:ln>
        </p:spPr>
        <p:txBody>
          <a:bodyPr anchor="t"/>
          <a:lstStyle/>
          <a:p>
            <a:pPr algn="ctr">
              <a:buNone/>
              <a:defRPr sz="975" b="1" i="0">
                <a:solidFill>
                  <a:srgbClr val="111318"/>
                </a:solidFill>
              </a:defRPr>
            </a:pPr>
            <a:r>
              <a:rPr sz="975" b="1" i="0">
                <a:solidFill>
                  <a:srgbClr val="111318"/>
                </a:solidFill>
              </a:rPr>
              <a:t>ADJUST</a:t>
            </a:r>
          </a:p>
        </p:txBody>
      </p:sp>
      <p:sp>
        <p:nvSpPr>
          <p:cNvPr id="22" name="Rectangle: Rounded Corners 21">
            <a:extLst>
              <a:ext uri="{FF2B5EF4-FFF2-40B4-BE49-F238E27FC236}">
                <a16:creationId xmlns:a16="http://schemas.microsoft.com/office/drawing/2014/main" id="{9EB5DBFF-F07A-49D4-8F6F-54BB007DF223}"/>
              </a:ext>
            </a:extLst>
          </p:cNvPr>
          <p:cNvSpPr>
            <a:spLocks noGrp="1"/>
          </p:cNvSpPr>
          <p:nvPr/>
        </p:nvSpPr>
        <p:spPr>
          <a:xfrm>
            <a:off x="2419350" y="5067300"/>
            <a:ext cx="1638300" cy="495300"/>
          </a:xfrm>
          <a:prstGeom prst="roundRect">
            <a:avLst>
              <a:gd name="adj" fmla="val 50000"/>
            </a:avLst>
          </a:prstGeom>
          <a:solidFill>
            <a:srgbClr val="FFFFFF"/>
          </a:solidFill>
          <a:ln w="9525">
            <a:solidFill>
              <a:srgbClr val="DDE2E8"/>
            </a:solidFill>
            <a:prstDash val="solid"/>
          </a:ln>
        </p:spPr>
        <p:txBody>
          <a:bodyPr/>
          <a:lstStyle/>
          <a:p>
            <a:endParaRPr lang="en-US"/>
          </a:p>
        </p:txBody>
      </p:sp>
      <p:sp>
        <p:nvSpPr>
          <p:cNvPr id="23" name="Rectangle 22">
            <a:extLst>
              <a:ext uri="{FF2B5EF4-FFF2-40B4-BE49-F238E27FC236}">
                <a16:creationId xmlns:a16="http://schemas.microsoft.com/office/drawing/2014/main" id="{D3D980F1-46D9-4857-B500-B035E18ED66B}"/>
              </a:ext>
            </a:extLst>
          </p:cNvPr>
          <p:cNvSpPr>
            <a:spLocks noGrp="1"/>
          </p:cNvSpPr>
          <p:nvPr/>
        </p:nvSpPr>
        <p:spPr>
          <a:xfrm>
            <a:off x="2495550" y="5219700"/>
            <a:ext cx="1485900" cy="190500"/>
          </a:xfrm>
          <a:prstGeom prst="rect">
            <a:avLst/>
          </a:prstGeom>
          <a:noFill/>
          <a:ln w="0">
            <a:noFill/>
            <a:prstDash val="solid"/>
          </a:ln>
        </p:spPr>
        <p:txBody>
          <a:bodyPr anchor="t"/>
          <a:lstStyle/>
          <a:p>
            <a:pPr algn="ctr">
              <a:buNone/>
              <a:defRPr sz="975" b="1" i="0">
                <a:solidFill>
                  <a:srgbClr val="111318"/>
                </a:solidFill>
              </a:defRPr>
            </a:pPr>
            <a:r>
              <a:rPr sz="975" b="1" i="0">
                <a:solidFill>
                  <a:srgbClr val="111318"/>
                </a:solidFill>
              </a:rPr>
              <a:t>SET CAMERA</a:t>
            </a:r>
          </a:p>
        </p:txBody>
      </p:sp>
      <p:sp>
        <p:nvSpPr>
          <p:cNvPr id="24" name="Rectangle: Rounded Corners 23">
            <a:extLst>
              <a:ext uri="{FF2B5EF4-FFF2-40B4-BE49-F238E27FC236}">
                <a16:creationId xmlns:a16="http://schemas.microsoft.com/office/drawing/2014/main" id="{EEE84D2E-69F7-4B7B-B342-4916466378E4}"/>
              </a:ext>
            </a:extLst>
          </p:cNvPr>
          <p:cNvSpPr>
            <a:spLocks noGrp="1"/>
          </p:cNvSpPr>
          <p:nvPr/>
        </p:nvSpPr>
        <p:spPr>
          <a:xfrm>
            <a:off x="4229100" y="5067300"/>
            <a:ext cx="1638300" cy="495300"/>
          </a:xfrm>
          <a:prstGeom prst="roundRect">
            <a:avLst>
              <a:gd name="adj" fmla="val 50000"/>
            </a:avLst>
          </a:prstGeom>
          <a:solidFill>
            <a:srgbClr val="FFFFFF"/>
          </a:solidFill>
          <a:ln w="9525">
            <a:solidFill>
              <a:srgbClr val="DDE2E8"/>
            </a:solidFill>
            <a:prstDash val="solid"/>
          </a:ln>
        </p:spPr>
        <p:txBody>
          <a:bodyPr/>
          <a:lstStyle/>
          <a:p>
            <a:endParaRPr lang="en-US"/>
          </a:p>
        </p:txBody>
      </p:sp>
      <p:sp>
        <p:nvSpPr>
          <p:cNvPr id="25" name="Rectangle 24">
            <a:extLst>
              <a:ext uri="{FF2B5EF4-FFF2-40B4-BE49-F238E27FC236}">
                <a16:creationId xmlns:a16="http://schemas.microsoft.com/office/drawing/2014/main" id="{57E485CF-9A3A-4E35-93CB-6CF18177F692}"/>
              </a:ext>
            </a:extLst>
          </p:cNvPr>
          <p:cNvSpPr>
            <a:spLocks noGrp="1"/>
          </p:cNvSpPr>
          <p:nvPr/>
        </p:nvSpPr>
        <p:spPr>
          <a:xfrm>
            <a:off x="4305300" y="5219700"/>
            <a:ext cx="1485900" cy="190500"/>
          </a:xfrm>
          <a:prstGeom prst="rect">
            <a:avLst/>
          </a:prstGeom>
          <a:noFill/>
          <a:ln w="0">
            <a:noFill/>
            <a:prstDash val="solid"/>
          </a:ln>
        </p:spPr>
        <p:txBody>
          <a:bodyPr anchor="t"/>
          <a:lstStyle/>
          <a:p>
            <a:pPr algn="ctr">
              <a:buNone/>
              <a:defRPr sz="975" b="1" i="0">
                <a:solidFill>
                  <a:srgbClr val="111318"/>
                </a:solidFill>
              </a:defRPr>
            </a:pPr>
            <a:r>
              <a:rPr sz="975" b="1" i="0">
                <a:solidFill>
                  <a:srgbClr val="111318"/>
                </a:solidFill>
              </a:rPr>
              <a:t>SET FLASH</a:t>
            </a:r>
          </a:p>
        </p:txBody>
      </p:sp>
      <p:sp>
        <p:nvSpPr>
          <p:cNvPr id="26" name="Rectangle: Rounded Corners 25">
            <a:extLst>
              <a:ext uri="{FF2B5EF4-FFF2-40B4-BE49-F238E27FC236}">
                <a16:creationId xmlns:a16="http://schemas.microsoft.com/office/drawing/2014/main" id="{1704A7E6-7904-4A79-BD96-CA5410B2A2FB}"/>
              </a:ext>
            </a:extLst>
          </p:cNvPr>
          <p:cNvSpPr>
            <a:spLocks noGrp="1"/>
          </p:cNvSpPr>
          <p:nvPr/>
        </p:nvSpPr>
        <p:spPr>
          <a:xfrm>
            <a:off x="6038850" y="5067300"/>
            <a:ext cx="1638300" cy="495300"/>
          </a:xfrm>
          <a:prstGeom prst="roundRect">
            <a:avLst>
              <a:gd name="adj" fmla="val 50000"/>
            </a:avLst>
          </a:prstGeom>
          <a:solidFill>
            <a:srgbClr val="FFFFFF"/>
          </a:solidFill>
          <a:ln w="9525">
            <a:solidFill>
              <a:srgbClr val="DDE2E8"/>
            </a:solidFill>
            <a:prstDash val="solid"/>
          </a:ln>
        </p:spPr>
        <p:txBody>
          <a:bodyPr/>
          <a:lstStyle/>
          <a:p>
            <a:endParaRPr lang="en-US"/>
          </a:p>
        </p:txBody>
      </p:sp>
      <p:sp>
        <p:nvSpPr>
          <p:cNvPr id="27" name="Rectangle 26">
            <a:extLst>
              <a:ext uri="{FF2B5EF4-FFF2-40B4-BE49-F238E27FC236}">
                <a16:creationId xmlns:a16="http://schemas.microsoft.com/office/drawing/2014/main" id="{2E995E1A-E856-4631-B23E-67A7822745B6}"/>
              </a:ext>
            </a:extLst>
          </p:cNvPr>
          <p:cNvSpPr>
            <a:spLocks noGrp="1"/>
          </p:cNvSpPr>
          <p:nvPr/>
        </p:nvSpPr>
        <p:spPr>
          <a:xfrm>
            <a:off x="6115050" y="5219700"/>
            <a:ext cx="1485900" cy="190500"/>
          </a:xfrm>
          <a:prstGeom prst="rect">
            <a:avLst/>
          </a:prstGeom>
          <a:noFill/>
          <a:ln w="0">
            <a:noFill/>
            <a:prstDash val="solid"/>
          </a:ln>
        </p:spPr>
        <p:txBody>
          <a:bodyPr anchor="t"/>
          <a:lstStyle/>
          <a:p>
            <a:pPr algn="ctr">
              <a:buNone/>
              <a:defRPr sz="975" b="1" i="0">
                <a:solidFill>
                  <a:srgbClr val="111318"/>
                </a:solidFill>
              </a:defRPr>
            </a:pPr>
            <a:r>
              <a:rPr sz="975" b="1" i="0">
                <a:solidFill>
                  <a:srgbClr val="111318"/>
                </a:solidFill>
              </a:rPr>
              <a:t>FOCUS CELL</a:t>
            </a:r>
          </a:p>
        </p:txBody>
      </p:sp>
      <p:sp>
        <p:nvSpPr>
          <p:cNvPr id="28" name="Rectangle: Rounded Corners 27">
            <a:extLst>
              <a:ext uri="{FF2B5EF4-FFF2-40B4-BE49-F238E27FC236}">
                <a16:creationId xmlns:a16="http://schemas.microsoft.com/office/drawing/2014/main" id="{3E557698-E3D2-4740-8922-9F5B9520C14F}"/>
              </a:ext>
            </a:extLst>
          </p:cNvPr>
          <p:cNvSpPr>
            <a:spLocks noGrp="1"/>
          </p:cNvSpPr>
          <p:nvPr/>
        </p:nvSpPr>
        <p:spPr>
          <a:xfrm>
            <a:off x="7848600" y="5067300"/>
            <a:ext cx="1638300" cy="495300"/>
          </a:xfrm>
          <a:prstGeom prst="roundRect">
            <a:avLst>
              <a:gd name="adj" fmla="val 50000"/>
            </a:avLst>
          </a:prstGeom>
          <a:solidFill>
            <a:srgbClr val="FFFFFF"/>
          </a:solidFill>
          <a:ln w="9525">
            <a:solidFill>
              <a:srgbClr val="DDE2E8"/>
            </a:solidFill>
            <a:prstDash val="solid"/>
          </a:ln>
        </p:spPr>
        <p:txBody>
          <a:bodyPr/>
          <a:lstStyle/>
          <a:p>
            <a:endParaRPr lang="en-US"/>
          </a:p>
        </p:txBody>
      </p:sp>
      <p:sp>
        <p:nvSpPr>
          <p:cNvPr id="29" name="Rectangle 28">
            <a:extLst>
              <a:ext uri="{FF2B5EF4-FFF2-40B4-BE49-F238E27FC236}">
                <a16:creationId xmlns:a16="http://schemas.microsoft.com/office/drawing/2014/main" id="{6F43A478-4DAE-4290-9FF3-3A8AFB65036B}"/>
              </a:ext>
            </a:extLst>
          </p:cNvPr>
          <p:cNvSpPr>
            <a:spLocks noGrp="1"/>
          </p:cNvSpPr>
          <p:nvPr/>
        </p:nvSpPr>
        <p:spPr>
          <a:xfrm>
            <a:off x="7924800" y="5219700"/>
            <a:ext cx="1485900" cy="190500"/>
          </a:xfrm>
          <a:prstGeom prst="rect">
            <a:avLst/>
          </a:prstGeom>
          <a:noFill/>
          <a:ln w="0">
            <a:noFill/>
            <a:prstDash val="solid"/>
          </a:ln>
        </p:spPr>
        <p:txBody>
          <a:bodyPr anchor="t"/>
          <a:lstStyle/>
          <a:p>
            <a:pPr algn="ctr">
              <a:buNone/>
              <a:defRPr sz="975" b="1" i="0">
                <a:solidFill>
                  <a:srgbClr val="111318"/>
                </a:solidFill>
              </a:defRPr>
            </a:pPr>
            <a:r>
              <a:rPr sz="975" b="1" i="0">
                <a:solidFill>
                  <a:srgbClr val="111318"/>
                </a:solidFill>
              </a:rPr>
              <a:t>RESET</a:t>
            </a:r>
          </a:p>
        </p:txBody>
      </p:sp>
      <p:sp>
        <p:nvSpPr>
          <p:cNvPr id="30" name="Rectangle: Rounded Corners 29">
            <a:extLst>
              <a:ext uri="{FF2B5EF4-FFF2-40B4-BE49-F238E27FC236}">
                <a16:creationId xmlns:a16="http://schemas.microsoft.com/office/drawing/2014/main" id="{F3C529BF-9001-454F-9C52-240D47B84F7F}"/>
              </a:ext>
            </a:extLst>
          </p:cNvPr>
          <p:cNvSpPr>
            <a:spLocks noGrp="1"/>
          </p:cNvSpPr>
          <p:nvPr/>
        </p:nvSpPr>
        <p:spPr>
          <a:xfrm>
            <a:off x="9658350" y="5086350"/>
            <a:ext cx="1638300" cy="495300"/>
          </a:xfrm>
          <a:prstGeom prst="roundRect">
            <a:avLst>
              <a:gd name="adj" fmla="val 50000"/>
            </a:avLst>
          </a:prstGeom>
          <a:solidFill>
            <a:srgbClr val="111318"/>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F53ACAED-AE8E-4854-9024-F53C9167F61F}"/>
              </a:ext>
            </a:extLst>
          </p:cNvPr>
          <p:cNvSpPr>
            <a:spLocks noGrp="1"/>
          </p:cNvSpPr>
          <p:nvPr/>
        </p:nvSpPr>
        <p:spPr>
          <a:xfrm>
            <a:off x="9734550" y="5219700"/>
            <a:ext cx="1485900" cy="190500"/>
          </a:xfrm>
          <a:prstGeom prst="rect">
            <a:avLst/>
          </a:prstGeom>
          <a:noFill/>
          <a:ln w="0">
            <a:noFill/>
            <a:prstDash val="solid"/>
          </a:ln>
        </p:spPr>
        <p:txBody>
          <a:bodyPr anchor="t"/>
          <a:lstStyle/>
          <a:p>
            <a:pPr algn="ctr">
              <a:buNone/>
              <a:defRPr sz="975" b="1" i="0">
                <a:solidFill>
                  <a:srgbClr val="FFFFFF"/>
                </a:solidFill>
              </a:defRPr>
            </a:pPr>
            <a:r>
              <a:rPr sz="975" b="1" i="0" dirty="0">
                <a:solidFill>
                  <a:srgbClr val="FFFFFF"/>
                </a:solidFill>
              </a:rPr>
              <a:t>CAPTURE</a:t>
            </a:r>
          </a:p>
        </p:txBody>
      </p:sp>
      <p:sp>
        <p:nvSpPr>
          <p:cNvPr id="32" name="Rectangle: Rounded Corners 31">
            <a:extLst>
              <a:ext uri="{FF2B5EF4-FFF2-40B4-BE49-F238E27FC236}">
                <a16:creationId xmlns:a16="http://schemas.microsoft.com/office/drawing/2014/main" id="{3F60CB35-48E4-465D-B894-FB3A8BFFEE64}"/>
              </a:ext>
            </a:extLst>
          </p:cNvPr>
          <p:cNvSpPr>
            <a:spLocks noGrp="1"/>
          </p:cNvSpPr>
          <p:nvPr/>
        </p:nvSpPr>
        <p:spPr>
          <a:xfrm>
            <a:off x="609600" y="5810250"/>
            <a:ext cx="10972800" cy="457200"/>
          </a:xfrm>
          <a:prstGeom prst="roundRect">
            <a:avLst>
              <a:gd name="adj" fmla="val 16667"/>
            </a:avLst>
          </a:prstGeom>
          <a:solidFill>
            <a:srgbClr val="111318"/>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80236B20-3EA2-46D3-BB6F-D0BFED863AC4}"/>
              </a:ext>
            </a:extLst>
          </p:cNvPr>
          <p:cNvSpPr>
            <a:spLocks noGrp="1"/>
          </p:cNvSpPr>
          <p:nvPr/>
        </p:nvSpPr>
        <p:spPr>
          <a:xfrm>
            <a:off x="800100" y="5943600"/>
            <a:ext cx="10591800" cy="209550"/>
          </a:xfrm>
          <a:prstGeom prst="rect">
            <a:avLst/>
          </a:prstGeom>
          <a:noFill/>
          <a:ln w="0">
            <a:noFill/>
            <a:prstDash val="solid"/>
          </a:ln>
        </p:spPr>
        <p:txBody>
          <a:bodyPr anchor="t"/>
          <a:lstStyle/>
          <a:p>
            <a:pPr algn="ctr">
              <a:buNone/>
              <a:defRPr sz="1125" b="1" i="0">
                <a:solidFill>
                  <a:srgbClr val="FFFFFF"/>
                </a:solidFill>
              </a:defRPr>
            </a:pPr>
            <a:r>
              <a:rPr sz="1125" b="1" i="0">
                <a:solidFill>
                  <a:srgbClr val="FFFFFF"/>
                </a:solidFill>
              </a:rPr>
              <a:t>Privacy boundary: microphone audio stays on-device; Qwen receives transcribed text and request still frames, never a preview stream.</a:t>
            </a:r>
          </a:p>
        </p:txBody>
      </p:sp>
      <p:sp>
        <p:nvSpPr>
          <p:cNvPr id="34" name="Rectangle 33">
            <a:extLst>
              <a:ext uri="{FF2B5EF4-FFF2-40B4-BE49-F238E27FC236}">
                <a16:creationId xmlns:a16="http://schemas.microsoft.com/office/drawing/2014/main" id="{EFF9103E-9352-4101-AB26-0A81C2A0BB14}"/>
              </a:ext>
            </a:extLst>
          </p:cNvPr>
          <p:cNvSpPr>
            <a:spLocks noGrp="1"/>
          </p:cNvSpPr>
          <p:nvPr/>
        </p:nvSpPr>
        <p:spPr>
          <a:xfrm>
            <a:off x="609600" y="6496050"/>
            <a:ext cx="10972800" cy="9525"/>
          </a:xfrm>
          <a:prstGeom prst="rect">
            <a:avLst/>
          </a:prstGeom>
          <a:solidFill>
            <a:srgbClr val="DDE2E8"/>
          </a:solidFill>
          <a:ln w="0">
            <a:solidFill>
              <a:srgbClr val="DDE2E8"/>
            </a:solidFill>
            <a:prstDash val="solid"/>
          </a:ln>
        </p:spPr>
        <p:txBody>
          <a:bodyPr/>
          <a:lstStyle/>
          <a:p>
            <a:endParaRPr lang="en-US"/>
          </a:p>
        </p:txBody>
      </p:sp>
      <p:sp>
        <p:nvSpPr>
          <p:cNvPr id="35" name="Rectangle 34">
            <a:extLst>
              <a:ext uri="{FF2B5EF4-FFF2-40B4-BE49-F238E27FC236}">
                <a16:creationId xmlns:a16="http://schemas.microsoft.com/office/drawing/2014/main" id="{CDF6DA88-B910-430D-9231-DF8D443367B4}"/>
              </a:ext>
            </a:extLst>
          </p:cNvPr>
          <p:cNvSpPr>
            <a:spLocks noGrp="1"/>
          </p:cNvSpPr>
          <p:nvPr/>
        </p:nvSpPr>
        <p:spPr>
          <a:xfrm>
            <a:off x="609600" y="6572250"/>
            <a:ext cx="4762500" cy="171450"/>
          </a:xfrm>
          <a:prstGeom prst="rect">
            <a:avLst/>
          </a:prstGeom>
          <a:noFill/>
          <a:ln w="0">
            <a:noFill/>
            <a:prstDash val="solid"/>
          </a:ln>
        </p:spPr>
        <p:txBody>
          <a:bodyPr anchor="t"/>
          <a:lstStyle/>
          <a:p>
            <a:pPr algn="l">
              <a:buNone/>
              <a:defRPr sz="750" b="1" i="0">
                <a:solidFill>
                  <a:srgbClr val="8A919E"/>
                </a:solidFill>
              </a:defRPr>
            </a:pPr>
            <a:r>
              <a:rPr sz="750" b="1" i="0">
                <a:solidFill>
                  <a:srgbClr val="8A919E"/>
                </a:solidFill>
              </a:rPr>
              <a:t>PHOTO HELPER · FIVE­CENT</a:t>
            </a:r>
          </a:p>
        </p:txBody>
      </p:sp>
    </p:spTree>
    <p:extLst>
      <p:ext uri="{BB962C8B-B14F-4D97-AF65-F5344CB8AC3E}">
        <p14:creationId xmlns:p14="http://schemas.microsoft.com/office/powerpoint/2010/main" val="540231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24F6B5B-F3B6-4E9A-BA95-1B2CD3925B27}"/>
              </a:ext>
            </a:extLst>
          </p:cNvPr>
          <p:cNvSpPr>
            <a:spLocks noGrp="1"/>
          </p:cNvSpPr>
          <p:nvPr/>
        </p:nvSpPr>
        <p:spPr>
          <a:xfrm>
            <a:off x="609600" y="400050"/>
            <a:ext cx="495300" cy="209550"/>
          </a:xfrm>
          <a:prstGeom prst="rect">
            <a:avLst/>
          </a:prstGeom>
          <a:noFill/>
          <a:ln w="0">
            <a:noFill/>
            <a:prstDash val="solid"/>
          </a:ln>
        </p:spPr>
        <p:txBody>
          <a:bodyPr anchor="t"/>
          <a:lstStyle/>
          <a:p>
            <a:pPr algn="l">
              <a:buNone/>
              <a:defRPr sz="975" b="1" i="0">
                <a:solidFill>
                  <a:srgbClr val="176A9E"/>
                </a:solidFill>
              </a:defRPr>
            </a:pPr>
            <a:r>
              <a:rPr sz="975" b="1" i="0">
                <a:solidFill>
                  <a:srgbClr val="176A9E"/>
                </a:solidFill>
              </a:rPr>
              <a:t>05</a:t>
            </a:r>
          </a:p>
        </p:txBody>
      </p:sp>
      <p:sp>
        <p:nvSpPr>
          <p:cNvPr id="2" name="Rectangle 1">
            <a:extLst>
              <a:ext uri="{FF2B5EF4-FFF2-40B4-BE49-F238E27FC236}">
                <a16:creationId xmlns:a16="http://schemas.microsoft.com/office/drawing/2014/main" id="{EA72D5A9-9762-456D-860E-B5F6B51B8645}"/>
              </a:ext>
            </a:extLst>
          </p:cNvPr>
          <p:cNvSpPr>
            <a:spLocks noGrp="1"/>
          </p:cNvSpPr>
          <p:nvPr/>
        </p:nvSpPr>
        <p:spPr>
          <a:xfrm>
            <a:off x="1162050" y="400050"/>
            <a:ext cx="4000500" cy="209550"/>
          </a:xfrm>
          <a:prstGeom prst="rect">
            <a:avLst/>
          </a:prstGeom>
          <a:noFill/>
          <a:ln w="0">
            <a:noFill/>
            <a:prstDash val="solid"/>
          </a:ln>
        </p:spPr>
        <p:txBody>
          <a:bodyPr anchor="t"/>
          <a:lstStyle/>
          <a:p>
            <a:pPr algn="l">
              <a:buNone/>
              <a:defRPr sz="975" b="1" i="0">
                <a:solidFill>
                  <a:srgbClr val="5E6572"/>
                </a:solidFill>
              </a:defRPr>
            </a:pPr>
            <a:r>
              <a:rPr sz="975" b="1" i="0">
                <a:solidFill>
                  <a:srgbClr val="5E6572"/>
                </a:solidFill>
              </a:rPr>
              <a:t>BUILD · VERIFY · PRIVACY</a:t>
            </a:r>
          </a:p>
        </p:txBody>
      </p:sp>
      <p:sp>
        <p:nvSpPr>
          <p:cNvPr id="3" name="Rectangle 2">
            <a:extLst>
              <a:ext uri="{FF2B5EF4-FFF2-40B4-BE49-F238E27FC236}">
                <a16:creationId xmlns:a16="http://schemas.microsoft.com/office/drawing/2014/main" id="{4FBF0E2C-C9C8-46F7-A2A6-451CCFAF04AB}"/>
              </a:ext>
            </a:extLst>
          </p:cNvPr>
          <p:cNvSpPr>
            <a:spLocks noGrp="1"/>
          </p:cNvSpPr>
          <p:nvPr/>
        </p:nvSpPr>
        <p:spPr>
          <a:xfrm>
            <a:off x="609600" y="742950"/>
            <a:ext cx="10934700" cy="685800"/>
          </a:xfrm>
          <a:prstGeom prst="rect">
            <a:avLst/>
          </a:prstGeom>
          <a:noFill/>
          <a:ln w="0">
            <a:noFill/>
            <a:prstDash val="solid"/>
          </a:ln>
        </p:spPr>
        <p:txBody>
          <a:bodyPr anchor="t"/>
          <a:lstStyle/>
          <a:p>
            <a:pPr algn="l">
              <a:buNone/>
              <a:defRPr sz="3150" b="1" i="0">
                <a:solidFill>
                  <a:srgbClr val="111318"/>
                </a:solidFill>
              </a:defRPr>
            </a:pPr>
            <a:r>
              <a:rPr sz="3150" b="1" i="0">
                <a:solidFill>
                  <a:srgbClr val="111318"/>
                </a:solidFill>
              </a:rPr>
              <a:t>Agents divided the work. Android kept authority.</a:t>
            </a:r>
          </a:p>
        </p:txBody>
      </p:sp>
      <p:sp>
        <p:nvSpPr>
          <p:cNvPr id="4" name="Rectangle 3">
            <a:extLst>
              <a:ext uri="{FF2B5EF4-FFF2-40B4-BE49-F238E27FC236}">
                <a16:creationId xmlns:a16="http://schemas.microsoft.com/office/drawing/2014/main" id="{E32D4DC1-C69D-4C67-A0D3-6EA33C13DB8F}"/>
              </a:ext>
            </a:extLst>
          </p:cNvPr>
          <p:cNvSpPr>
            <a:spLocks noGrp="1"/>
          </p:cNvSpPr>
          <p:nvPr/>
        </p:nvSpPr>
        <p:spPr>
          <a:xfrm>
            <a:off x="1428750" y="2876550"/>
            <a:ext cx="9334500" cy="57150"/>
          </a:xfrm>
          <a:prstGeom prst="rect">
            <a:avLst/>
          </a:prstGeom>
          <a:solidFill>
            <a:srgbClr val="DDE2E8"/>
          </a:solidFill>
          <a:ln w="0">
            <a:solidFill>
              <a:srgbClr val="DDE2E8"/>
            </a:solidFill>
            <a:prstDash val="solid"/>
          </a:ln>
        </p:spPr>
        <p:txBody>
          <a:bodyPr/>
          <a:lstStyle/>
          <a:p>
            <a:endParaRPr lang="en-US"/>
          </a:p>
        </p:txBody>
      </p:sp>
      <p:sp>
        <p:nvSpPr>
          <p:cNvPr id="5" name="Oval 4">
            <a:extLst>
              <a:ext uri="{FF2B5EF4-FFF2-40B4-BE49-F238E27FC236}">
                <a16:creationId xmlns:a16="http://schemas.microsoft.com/office/drawing/2014/main" id="{1AC0F32A-6C47-45A0-96FD-27E9AB01B795}"/>
              </a:ext>
            </a:extLst>
          </p:cNvPr>
          <p:cNvSpPr>
            <a:spLocks noGrp="1"/>
          </p:cNvSpPr>
          <p:nvPr/>
        </p:nvSpPr>
        <p:spPr>
          <a:xfrm>
            <a:off x="1733550" y="2657475"/>
            <a:ext cx="495300" cy="495300"/>
          </a:xfrm>
          <a:prstGeom prst="ellipse">
            <a:avLst/>
          </a:prstGeom>
          <a:solidFill>
            <a:srgbClr val="66BDF1"/>
          </a:solidFill>
          <a:ln w="0">
            <a:noFill/>
            <a:prstDash val="solid"/>
          </a:ln>
        </p:spPr>
        <p:txBody>
          <a:bodyPr/>
          <a:lstStyle/>
          <a:p>
            <a:endParaRPr lang="en-US"/>
          </a:p>
        </p:txBody>
      </p:sp>
      <p:sp>
        <p:nvSpPr>
          <p:cNvPr id="6" name="Rectangle 5">
            <a:extLst>
              <a:ext uri="{FF2B5EF4-FFF2-40B4-BE49-F238E27FC236}">
                <a16:creationId xmlns:a16="http://schemas.microsoft.com/office/drawing/2014/main" id="{95F15824-093B-4CF3-B073-9983D4C2F0EB}"/>
              </a:ext>
            </a:extLst>
          </p:cNvPr>
          <p:cNvSpPr>
            <a:spLocks noGrp="1"/>
          </p:cNvSpPr>
          <p:nvPr/>
        </p:nvSpPr>
        <p:spPr>
          <a:xfrm>
            <a:off x="1733550" y="2781300"/>
            <a:ext cx="495300" cy="228600"/>
          </a:xfrm>
          <a:prstGeom prst="rect">
            <a:avLst/>
          </a:prstGeom>
          <a:noFill/>
          <a:ln w="0">
            <a:noFill/>
            <a:prstDash val="solid"/>
          </a:ln>
        </p:spPr>
        <p:txBody>
          <a:bodyPr anchor="t"/>
          <a:lstStyle/>
          <a:p>
            <a:pPr algn="ctr">
              <a:buNone/>
              <a:defRPr sz="1275" b="1" i="0">
                <a:solidFill>
                  <a:srgbClr val="111318"/>
                </a:solidFill>
              </a:defRPr>
            </a:pPr>
            <a:r>
              <a:rPr sz="1275" b="1" i="0">
                <a:solidFill>
                  <a:srgbClr val="111318"/>
                </a:solidFill>
              </a:rPr>
              <a:t>1</a:t>
            </a:r>
          </a:p>
        </p:txBody>
      </p:sp>
      <p:sp>
        <p:nvSpPr>
          <p:cNvPr id="7" name="Rectangle: Rounded Corners 6">
            <a:extLst>
              <a:ext uri="{FF2B5EF4-FFF2-40B4-BE49-F238E27FC236}">
                <a16:creationId xmlns:a16="http://schemas.microsoft.com/office/drawing/2014/main" id="{D719CFFC-88DA-4025-B90F-327D00A463BA}"/>
              </a:ext>
            </a:extLst>
          </p:cNvPr>
          <p:cNvSpPr>
            <a:spLocks noGrp="1"/>
          </p:cNvSpPr>
          <p:nvPr/>
        </p:nvSpPr>
        <p:spPr>
          <a:xfrm>
            <a:off x="1047750" y="3314700"/>
            <a:ext cx="2400300" cy="1828800"/>
          </a:xfrm>
          <a:prstGeom prst="roundRect">
            <a:avLst>
              <a:gd name="adj" fmla="val 6250"/>
            </a:avLst>
          </a:prstGeom>
          <a:solidFill>
            <a:srgbClr val="FFFFFF"/>
          </a:solidFill>
          <a:ln w="9525">
            <a:solidFill>
              <a:srgbClr val="DDE2E8"/>
            </a:solidFill>
            <a:prstDash val="solid"/>
          </a:ln>
        </p:spPr>
        <p:txBody>
          <a:bodyPr/>
          <a:lstStyle/>
          <a:p>
            <a:endParaRPr lang="en-US"/>
          </a:p>
        </p:txBody>
      </p:sp>
      <p:sp>
        <p:nvSpPr>
          <p:cNvPr id="8" name="Rectangle 7">
            <a:extLst>
              <a:ext uri="{FF2B5EF4-FFF2-40B4-BE49-F238E27FC236}">
                <a16:creationId xmlns:a16="http://schemas.microsoft.com/office/drawing/2014/main" id="{51032CF2-0B35-468E-9BEB-511FC5112C2E}"/>
              </a:ext>
            </a:extLst>
          </p:cNvPr>
          <p:cNvSpPr>
            <a:spLocks noGrp="1"/>
          </p:cNvSpPr>
          <p:nvPr/>
        </p:nvSpPr>
        <p:spPr>
          <a:xfrm>
            <a:off x="1257300" y="3562350"/>
            <a:ext cx="1981200" cy="266700"/>
          </a:xfrm>
          <a:prstGeom prst="rect">
            <a:avLst/>
          </a:prstGeom>
          <a:noFill/>
          <a:ln w="0">
            <a:noFill/>
            <a:prstDash val="solid"/>
          </a:ln>
        </p:spPr>
        <p:txBody>
          <a:bodyPr anchor="t"/>
          <a:lstStyle/>
          <a:p>
            <a:pPr algn="l">
              <a:buNone/>
              <a:defRPr sz="1200" b="1" i="0">
                <a:solidFill>
                  <a:srgbClr val="66BDF1"/>
                </a:solidFill>
              </a:defRPr>
            </a:pPr>
            <a:r>
              <a:rPr sz="1200" b="1" i="0">
                <a:solidFill>
                  <a:srgbClr val="66BDF1"/>
                </a:solidFill>
              </a:rPr>
              <a:t>CODEX</a:t>
            </a:r>
          </a:p>
        </p:txBody>
      </p:sp>
      <p:sp>
        <p:nvSpPr>
          <p:cNvPr id="9" name="Rectangle 8">
            <a:extLst>
              <a:ext uri="{FF2B5EF4-FFF2-40B4-BE49-F238E27FC236}">
                <a16:creationId xmlns:a16="http://schemas.microsoft.com/office/drawing/2014/main" id="{86FE544C-153B-4264-B2E2-82AF0E13E7E9}"/>
              </a:ext>
            </a:extLst>
          </p:cNvPr>
          <p:cNvSpPr>
            <a:spLocks noGrp="1"/>
          </p:cNvSpPr>
          <p:nvPr/>
        </p:nvSpPr>
        <p:spPr>
          <a:xfrm>
            <a:off x="1257300" y="3981450"/>
            <a:ext cx="1981200" cy="914400"/>
          </a:xfrm>
          <a:prstGeom prst="rect">
            <a:avLst/>
          </a:prstGeom>
          <a:noFill/>
          <a:ln w="0">
            <a:noFill/>
            <a:prstDash val="solid"/>
          </a:ln>
        </p:spPr>
        <p:txBody>
          <a:bodyPr anchor="t"/>
          <a:lstStyle/>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Rapid prototype</a:t>
            </a:r>
          </a:p>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Design documents</a:t>
            </a:r>
          </a:p>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Focused fixes + tests</a:t>
            </a:r>
          </a:p>
        </p:txBody>
      </p:sp>
      <p:sp>
        <p:nvSpPr>
          <p:cNvPr id="10" name="Oval 9">
            <a:extLst>
              <a:ext uri="{FF2B5EF4-FFF2-40B4-BE49-F238E27FC236}">
                <a16:creationId xmlns:a16="http://schemas.microsoft.com/office/drawing/2014/main" id="{947FCE44-C9CA-49E1-A687-04E5B8A8AB72}"/>
              </a:ext>
            </a:extLst>
          </p:cNvPr>
          <p:cNvSpPr>
            <a:spLocks noGrp="1"/>
          </p:cNvSpPr>
          <p:nvPr/>
        </p:nvSpPr>
        <p:spPr>
          <a:xfrm>
            <a:off x="4419600" y="2657475"/>
            <a:ext cx="495300" cy="495300"/>
          </a:xfrm>
          <a:prstGeom prst="ellipse">
            <a:avLst/>
          </a:prstGeom>
          <a:solidFill>
            <a:srgbClr val="E6B15E"/>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D7AD8F3F-6F2C-4A70-B595-44483B59A2AD}"/>
              </a:ext>
            </a:extLst>
          </p:cNvPr>
          <p:cNvSpPr>
            <a:spLocks noGrp="1"/>
          </p:cNvSpPr>
          <p:nvPr/>
        </p:nvSpPr>
        <p:spPr>
          <a:xfrm>
            <a:off x="4419600" y="2781300"/>
            <a:ext cx="495300" cy="228600"/>
          </a:xfrm>
          <a:prstGeom prst="rect">
            <a:avLst/>
          </a:prstGeom>
          <a:noFill/>
          <a:ln w="0">
            <a:noFill/>
            <a:prstDash val="solid"/>
          </a:ln>
        </p:spPr>
        <p:txBody>
          <a:bodyPr anchor="t"/>
          <a:lstStyle/>
          <a:p>
            <a:pPr algn="ctr">
              <a:buNone/>
              <a:defRPr sz="1275" b="1" i="0">
                <a:solidFill>
                  <a:srgbClr val="111318"/>
                </a:solidFill>
              </a:defRPr>
            </a:pPr>
            <a:r>
              <a:rPr sz="1275" b="1" i="0">
                <a:solidFill>
                  <a:srgbClr val="111318"/>
                </a:solidFill>
              </a:rPr>
              <a:t>2</a:t>
            </a:r>
          </a:p>
        </p:txBody>
      </p:sp>
      <p:sp>
        <p:nvSpPr>
          <p:cNvPr id="12" name="Rectangle: Rounded Corners 11">
            <a:extLst>
              <a:ext uri="{FF2B5EF4-FFF2-40B4-BE49-F238E27FC236}">
                <a16:creationId xmlns:a16="http://schemas.microsoft.com/office/drawing/2014/main" id="{6D98AB76-E844-4D68-9126-82A799899F7D}"/>
              </a:ext>
            </a:extLst>
          </p:cNvPr>
          <p:cNvSpPr>
            <a:spLocks noGrp="1"/>
          </p:cNvSpPr>
          <p:nvPr/>
        </p:nvSpPr>
        <p:spPr>
          <a:xfrm>
            <a:off x="3733800" y="3314700"/>
            <a:ext cx="2400300" cy="1828800"/>
          </a:xfrm>
          <a:prstGeom prst="roundRect">
            <a:avLst>
              <a:gd name="adj" fmla="val 6250"/>
            </a:avLst>
          </a:prstGeom>
          <a:solidFill>
            <a:srgbClr val="FFFFFF"/>
          </a:solidFill>
          <a:ln w="9525">
            <a:solidFill>
              <a:srgbClr val="DDE2E8"/>
            </a:solidFill>
            <a:prstDash val="solid"/>
          </a:ln>
        </p:spPr>
        <p:txBody>
          <a:bodyPr/>
          <a:lstStyle/>
          <a:p>
            <a:endParaRPr lang="en-US"/>
          </a:p>
        </p:txBody>
      </p:sp>
      <p:sp>
        <p:nvSpPr>
          <p:cNvPr id="13" name="Rectangle 12">
            <a:extLst>
              <a:ext uri="{FF2B5EF4-FFF2-40B4-BE49-F238E27FC236}">
                <a16:creationId xmlns:a16="http://schemas.microsoft.com/office/drawing/2014/main" id="{57E17B53-7246-4FC2-9D44-DAB8002B1463}"/>
              </a:ext>
            </a:extLst>
          </p:cNvPr>
          <p:cNvSpPr>
            <a:spLocks noGrp="1"/>
          </p:cNvSpPr>
          <p:nvPr/>
        </p:nvSpPr>
        <p:spPr>
          <a:xfrm>
            <a:off x="3943350" y="3562350"/>
            <a:ext cx="1981200" cy="266700"/>
          </a:xfrm>
          <a:prstGeom prst="rect">
            <a:avLst/>
          </a:prstGeom>
          <a:noFill/>
          <a:ln w="0">
            <a:noFill/>
            <a:prstDash val="solid"/>
          </a:ln>
        </p:spPr>
        <p:txBody>
          <a:bodyPr anchor="t"/>
          <a:lstStyle/>
          <a:p>
            <a:pPr algn="l">
              <a:buNone/>
              <a:defRPr sz="1200" b="1" i="0">
                <a:solidFill>
                  <a:srgbClr val="E6B15E"/>
                </a:solidFill>
              </a:defRPr>
            </a:pPr>
            <a:r>
              <a:rPr sz="1200" b="1" i="0">
                <a:solidFill>
                  <a:srgbClr val="E6B15E"/>
                </a:solidFill>
              </a:rPr>
              <a:t>WORKBUDDY · HY3</a:t>
            </a:r>
          </a:p>
        </p:txBody>
      </p:sp>
      <p:sp>
        <p:nvSpPr>
          <p:cNvPr id="14" name="Rectangle 13">
            <a:extLst>
              <a:ext uri="{FF2B5EF4-FFF2-40B4-BE49-F238E27FC236}">
                <a16:creationId xmlns:a16="http://schemas.microsoft.com/office/drawing/2014/main" id="{65259379-3769-48B6-B5E4-38A035F6FE7D}"/>
              </a:ext>
            </a:extLst>
          </p:cNvPr>
          <p:cNvSpPr>
            <a:spLocks noGrp="1"/>
          </p:cNvSpPr>
          <p:nvPr/>
        </p:nvSpPr>
        <p:spPr>
          <a:xfrm>
            <a:off x="3943350" y="3981450"/>
            <a:ext cx="1981200" cy="914400"/>
          </a:xfrm>
          <a:prstGeom prst="rect">
            <a:avLst/>
          </a:prstGeom>
          <a:noFill/>
          <a:ln w="0">
            <a:noFill/>
            <a:prstDash val="solid"/>
          </a:ln>
        </p:spPr>
        <p:txBody>
          <a:bodyPr anchor="t"/>
          <a:lstStyle/>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Repo-wide audit</a:t>
            </a:r>
          </a:p>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Implementation pass</a:t>
            </a:r>
          </a:p>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Physical-device checks</a:t>
            </a:r>
          </a:p>
        </p:txBody>
      </p:sp>
      <p:sp>
        <p:nvSpPr>
          <p:cNvPr id="15" name="Oval 14">
            <a:extLst>
              <a:ext uri="{FF2B5EF4-FFF2-40B4-BE49-F238E27FC236}">
                <a16:creationId xmlns:a16="http://schemas.microsoft.com/office/drawing/2014/main" id="{720A851A-774D-4456-89E7-2C34271709B9}"/>
              </a:ext>
            </a:extLst>
          </p:cNvPr>
          <p:cNvSpPr>
            <a:spLocks noGrp="1"/>
          </p:cNvSpPr>
          <p:nvPr/>
        </p:nvSpPr>
        <p:spPr>
          <a:xfrm>
            <a:off x="7105650" y="2657475"/>
            <a:ext cx="495300" cy="495300"/>
          </a:xfrm>
          <a:prstGeom prst="ellipse">
            <a:avLst/>
          </a:prstGeom>
          <a:solidFill>
            <a:srgbClr val="3BAA7A"/>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0C0F70F3-1683-47F6-84B3-A72132688A2E}"/>
              </a:ext>
            </a:extLst>
          </p:cNvPr>
          <p:cNvSpPr>
            <a:spLocks noGrp="1"/>
          </p:cNvSpPr>
          <p:nvPr/>
        </p:nvSpPr>
        <p:spPr>
          <a:xfrm>
            <a:off x="7105650" y="2781300"/>
            <a:ext cx="495300" cy="228600"/>
          </a:xfrm>
          <a:prstGeom prst="rect">
            <a:avLst/>
          </a:prstGeom>
          <a:noFill/>
          <a:ln w="0">
            <a:noFill/>
            <a:prstDash val="solid"/>
          </a:ln>
        </p:spPr>
        <p:txBody>
          <a:bodyPr anchor="t"/>
          <a:lstStyle/>
          <a:p>
            <a:pPr algn="ctr">
              <a:buNone/>
              <a:defRPr sz="1275" b="1" i="0">
                <a:solidFill>
                  <a:srgbClr val="111318"/>
                </a:solidFill>
              </a:defRPr>
            </a:pPr>
            <a:r>
              <a:rPr sz="1275" b="1" i="0">
                <a:solidFill>
                  <a:srgbClr val="111318"/>
                </a:solidFill>
              </a:rPr>
              <a:t>3</a:t>
            </a:r>
          </a:p>
        </p:txBody>
      </p:sp>
      <p:sp>
        <p:nvSpPr>
          <p:cNvPr id="17" name="Rectangle: Rounded Corners 16">
            <a:extLst>
              <a:ext uri="{FF2B5EF4-FFF2-40B4-BE49-F238E27FC236}">
                <a16:creationId xmlns:a16="http://schemas.microsoft.com/office/drawing/2014/main" id="{66D054A9-E503-463C-A046-3BAF4EBE9CBB}"/>
              </a:ext>
            </a:extLst>
          </p:cNvPr>
          <p:cNvSpPr>
            <a:spLocks noGrp="1"/>
          </p:cNvSpPr>
          <p:nvPr/>
        </p:nvSpPr>
        <p:spPr>
          <a:xfrm>
            <a:off x="6419850" y="3314700"/>
            <a:ext cx="2400300" cy="1828800"/>
          </a:xfrm>
          <a:prstGeom prst="roundRect">
            <a:avLst>
              <a:gd name="adj" fmla="val 6250"/>
            </a:avLst>
          </a:prstGeom>
          <a:solidFill>
            <a:srgbClr val="FFFFFF"/>
          </a:solidFill>
          <a:ln w="9525">
            <a:solidFill>
              <a:srgbClr val="DDE2E8"/>
            </a:solidFill>
            <a:prstDash val="solid"/>
          </a:ln>
        </p:spPr>
        <p:txBody>
          <a:bodyPr/>
          <a:lstStyle/>
          <a:p>
            <a:endParaRPr lang="en-US"/>
          </a:p>
        </p:txBody>
      </p:sp>
      <p:sp>
        <p:nvSpPr>
          <p:cNvPr id="18" name="Rectangle 17">
            <a:extLst>
              <a:ext uri="{FF2B5EF4-FFF2-40B4-BE49-F238E27FC236}">
                <a16:creationId xmlns:a16="http://schemas.microsoft.com/office/drawing/2014/main" id="{FF61E725-9DFD-40E2-9F00-0F4A23A8786A}"/>
              </a:ext>
            </a:extLst>
          </p:cNvPr>
          <p:cNvSpPr>
            <a:spLocks noGrp="1"/>
          </p:cNvSpPr>
          <p:nvPr/>
        </p:nvSpPr>
        <p:spPr>
          <a:xfrm>
            <a:off x="6629400" y="3562350"/>
            <a:ext cx="1981200" cy="266700"/>
          </a:xfrm>
          <a:prstGeom prst="rect">
            <a:avLst/>
          </a:prstGeom>
          <a:noFill/>
          <a:ln w="0">
            <a:noFill/>
            <a:prstDash val="solid"/>
          </a:ln>
        </p:spPr>
        <p:txBody>
          <a:bodyPr anchor="t"/>
          <a:lstStyle/>
          <a:p>
            <a:pPr algn="l">
              <a:buNone/>
              <a:defRPr sz="1200" b="1" i="0">
                <a:solidFill>
                  <a:srgbClr val="3BAA7A"/>
                </a:solidFill>
              </a:defRPr>
            </a:pPr>
            <a:r>
              <a:rPr sz="1200" b="1" i="0">
                <a:solidFill>
                  <a:srgbClr val="3BAA7A"/>
                </a:solidFill>
              </a:rPr>
              <a:t>KIMI-K3 · UI/UX</a:t>
            </a:r>
          </a:p>
        </p:txBody>
      </p:sp>
      <p:sp>
        <p:nvSpPr>
          <p:cNvPr id="19" name="Rectangle 18">
            <a:extLst>
              <a:ext uri="{FF2B5EF4-FFF2-40B4-BE49-F238E27FC236}">
                <a16:creationId xmlns:a16="http://schemas.microsoft.com/office/drawing/2014/main" id="{EBBF1955-1D55-4784-AE29-F6817EA4E5AC}"/>
              </a:ext>
            </a:extLst>
          </p:cNvPr>
          <p:cNvSpPr>
            <a:spLocks noGrp="1"/>
          </p:cNvSpPr>
          <p:nvPr/>
        </p:nvSpPr>
        <p:spPr>
          <a:xfrm>
            <a:off x="6629400" y="3981450"/>
            <a:ext cx="1981200" cy="914400"/>
          </a:xfrm>
          <a:prstGeom prst="rect">
            <a:avLst/>
          </a:prstGeom>
          <a:noFill/>
          <a:ln w="0">
            <a:noFill/>
            <a:prstDash val="solid"/>
          </a:ln>
        </p:spPr>
        <p:txBody>
          <a:bodyPr anchor="t"/>
          <a:lstStyle/>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Interaction review</a:t>
            </a:r>
          </a:p>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UI/UX iteration</a:t>
            </a:r>
          </a:p>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Second pair of eyes</a:t>
            </a:r>
          </a:p>
        </p:txBody>
      </p:sp>
      <p:sp>
        <p:nvSpPr>
          <p:cNvPr id="20" name="Oval 19">
            <a:extLst>
              <a:ext uri="{FF2B5EF4-FFF2-40B4-BE49-F238E27FC236}">
                <a16:creationId xmlns:a16="http://schemas.microsoft.com/office/drawing/2014/main" id="{C026A96B-01D3-4507-9E15-9393077F211F}"/>
              </a:ext>
            </a:extLst>
          </p:cNvPr>
          <p:cNvSpPr>
            <a:spLocks noGrp="1"/>
          </p:cNvSpPr>
          <p:nvPr/>
        </p:nvSpPr>
        <p:spPr>
          <a:xfrm>
            <a:off x="9791700" y="2657475"/>
            <a:ext cx="495300" cy="495300"/>
          </a:xfrm>
          <a:prstGeom prst="ellipse">
            <a:avLst/>
          </a:prstGeom>
          <a:solidFill>
            <a:srgbClr val="111318"/>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6167AB75-8FB9-4B42-9026-0301C4ACC098}"/>
              </a:ext>
            </a:extLst>
          </p:cNvPr>
          <p:cNvSpPr>
            <a:spLocks noGrp="1"/>
          </p:cNvSpPr>
          <p:nvPr/>
        </p:nvSpPr>
        <p:spPr>
          <a:xfrm>
            <a:off x="9791700" y="2781300"/>
            <a:ext cx="495300" cy="228600"/>
          </a:xfrm>
          <a:prstGeom prst="rect">
            <a:avLst/>
          </a:prstGeom>
          <a:noFill/>
          <a:ln w="0">
            <a:noFill/>
            <a:prstDash val="solid"/>
          </a:ln>
        </p:spPr>
        <p:txBody>
          <a:bodyPr anchor="t"/>
          <a:lstStyle/>
          <a:p>
            <a:pPr algn="ctr">
              <a:buNone/>
              <a:defRPr sz="1275" b="1" i="0">
                <a:solidFill>
                  <a:srgbClr val="FFFFFF"/>
                </a:solidFill>
              </a:defRPr>
            </a:pPr>
            <a:r>
              <a:rPr sz="1275" b="1" i="0">
                <a:solidFill>
                  <a:srgbClr val="FFFFFF"/>
                </a:solidFill>
              </a:rPr>
              <a:t>4</a:t>
            </a:r>
          </a:p>
        </p:txBody>
      </p:sp>
      <p:sp>
        <p:nvSpPr>
          <p:cNvPr id="22" name="Rectangle: Rounded Corners 21">
            <a:extLst>
              <a:ext uri="{FF2B5EF4-FFF2-40B4-BE49-F238E27FC236}">
                <a16:creationId xmlns:a16="http://schemas.microsoft.com/office/drawing/2014/main" id="{45CF1027-8F87-4AFF-9C7E-A5EDD21D7043}"/>
              </a:ext>
            </a:extLst>
          </p:cNvPr>
          <p:cNvSpPr>
            <a:spLocks noGrp="1"/>
          </p:cNvSpPr>
          <p:nvPr/>
        </p:nvSpPr>
        <p:spPr>
          <a:xfrm>
            <a:off x="9105900" y="3314700"/>
            <a:ext cx="2400300" cy="1828800"/>
          </a:xfrm>
          <a:prstGeom prst="roundRect">
            <a:avLst>
              <a:gd name="adj" fmla="val 6250"/>
            </a:avLst>
          </a:prstGeom>
          <a:solidFill>
            <a:srgbClr val="FFFFFF"/>
          </a:solidFill>
          <a:ln w="9525">
            <a:solidFill>
              <a:srgbClr val="DDE2E8"/>
            </a:solidFill>
            <a:prstDash val="solid"/>
          </a:ln>
        </p:spPr>
        <p:txBody>
          <a:bodyPr/>
          <a:lstStyle/>
          <a:p>
            <a:endParaRPr lang="en-US"/>
          </a:p>
        </p:txBody>
      </p:sp>
      <p:sp>
        <p:nvSpPr>
          <p:cNvPr id="23" name="Rectangle 22">
            <a:extLst>
              <a:ext uri="{FF2B5EF4-FFF2-40B4-BE49-F238E27FC236}">
                <a16:creationId xmlns:a16="http://schemas.microsoft.com/office/drawing/2014/main" id="{00673D1B-196E-4BA0-BBA8-2AFF6D22075D}"/>
              </a:ext>
            </a:extLst>
          </p:cNvPr>
          <p:cNvSpPr>
            <a:spLocks noGrp="1"/>
          </p:cNvSpPr>
          <p:nvPr/>
        </p:nvSpPr>
        <p:spPr>
          <a:xfrm>
            <a:off x="9315450" y="3562350"/>
            <a:ext cx="1981200" cy="266700"/>
          </a:xfrm>
          <a:prstGeom prst="rect">
            <a:avLst/>
          </a:prstGeom>
          <a:noFill/>
          <a:ln w="0">
            <a:noFill/>
            <a:prstDash val="solid"/>
          </a:ln>
        </p:spPr>
        <p:txBody>
          <a:bodyPr anchor="t"/>
          <a:lstStyle/>
          <a:p>
            <a:pPr algn="l">
              <a:buNone/>
              <a:defRPr sz="1200" b="1" i="0">
                <a:solidFill>
                  <a:srgbClr val="111318"/>
                </a:solidFill>
              </a:defRPr>
            </a:pPr>
            <a:r>
              <a:rPr sz="1200" b="1" i="0">
                <a:solidFill>
                  <a:srgbClr val="111318"/>
                </a:solidFill>
              </a:rPr>
              <a:t>VERIFY + PRIVACY</a:t>
            </a:r>
          </a:p>
        </p:txBody>
      </p:sp>
      <p:sp>
        <p:nvSpPr>
          <p:cNvPr id="24" name="Rectangle 23">
            <a:extLst>
              <a:ext uri="{FF2B5EF4-FFF2-40B4-BE49-F238E27FC236}">
                <a16:creationId xmlns:a16="http://schemas.microsoft.com/office/drawing/2014/main" id="{0478BAF5-FAE8-45D3-85F3-554F0AFE09AC}"/>
              </a:ext>
            </a:extLst>
          </p:cNvPr>
          <p:cNvSpPr>
            <a:spLocks noGrp="1"/>
          </p:cNvSpPr>
          <p:nvPr/>
        </p:nvSpPr>
        <p:spPr>
          <a:xfrm>
            <a:off x="9315450" y="3981450"/>
            <a:ext cx="1981200" cy="914400"/>
          </a:xfrm>
          <a:prstGeom prst="rect">
            <a:avLst/>
          </a:prstGeom>
          <a:noFill/>
          <a:ln w="0">
            <a:noFill/>
            <a:prstDash val="solid"/>
          </a:ln>
        </p:spPr>
        <p:txBody>
          <a:bodyPr anchor="t"/>
          <a:lstStyle/>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211 unit tests</a:t>
            </a:r>
          </a:p>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57/57 device tests</a:t>
            </a:r>
          </a:p>
          <a:p>
            <a:pPr algn="l">
              <a:buNone/>
              <a:defRPr sz="1350" b="1" i="0">
                <a:solidFill>
                  <a:srgbClr val="111318"/>
                </a:solidFill>
                <a:latin typeface="Calibri"/>
                <a:ea typeface="Calibri"/>
                <a:cs typeface="Calibri"/>
              </a:defRPr>
            </a:pPr>
            <a:r>
              <a:rPr sz="1350" b="1" i="0">
                <a:solidFill>
                  <a:srgbClr val="111318"/>
                </a:solidFill>
                <a:latin typeface="Calibri"/>
                <a:ea typeface="Calibri"/>
                <a:cs typeface="Calibri"/>
              </a:rPr>
              <a:t>Audio stays on-device</a:t>
            </a:r>
          </a:p>
        </p:txBody>
      </p:sp>
      <p:sp>
        <p:nvSpPr>
          <p:cNvPr id="25" name="Rectangle: Rounded Corners 24">
            <a:extLst>
              <a:ext uri="{FF2B5EF4-FFF2-40B4-BE49-F238E27FC236}">
                <a16:creationId xmlns:a16="http://schemas.microsoft.com/office/drawing/2014/main" id="{C71CB347-811B-4884-95F6-76B066E94D56}"/>
              </a:ext>
            </a:extLst>
          </p:cNvPr>
          <p:cNvSpPr>
            <a:spLocks noGrp="1"/>
          </p:cNvSpPr>
          <p:nvPr/>
        </p:nvSpPr>
        <p:spPr>
          <a:xfrm>
            <a:off x="1047750" y="5486400"/>
            <a:ext cx="10458450" cy="742950"/>
          </a:xfrm>
          <a:prstGeom prst="roundRect">
            <a:avLst>
              <a:gd name="adj" fmla="val 15385"/>
            </a:avLst>
          </a:prstGeom>
          <a:solidFill>
            <a:srgbClr val="111318"/>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01F26B3A-8F3A-43E2-AF7A-4BA3D8299A01}"/>
              </a:ext>
            </a:extLst>
          </p:cNvPr>
          <p:cNvSpPr>
            <a:spLocks noGrp="1"/>
          </p:cNvSpPr>
          <p:nvPr/>
        </p:nvSpPr>
        <p:spPr>
          <a:xfrm>
            <a:off x="1352550" y="5695950"/>
            <a:ext cx="1504950" cy="228600"/>
          </a:xfrm>
          <a:prstGeom prst="rect">
            <a:avLst/>
          </a:prstGeom>
          <a:noFill/>
          <a:ln w="0">
            <a:noFill/>
            <a:prstDash val="solid"/>
          </a:ln>
        </p:spPr>
        <p:txBody>
          <a:bodyPr anchor="t"/>
          <a:lstStyle/>
          <a:p>
            <a:pPr algn="l">
              <a:buNone/>
              <a:defRPr sz="1125" b="1" i="0">
                <a:solidFill>
                  <a:srgbClr val="66BDF1"/>
                </a:solidFill>
              </a:defRPr>
            </a:pPr>
            <a:r>
              <a:rPr sz="1125" b="1" i="0">
                <a:solidFill>
                  <a:srgbClr val="66BDF1"/>
                </a:solidFill>
              </a:rPr>
              <a:t>Final pass</a:t>
            </a:r>
          </a:p>
        </p:txBody>
      </p:sp>
      <p:sp>
        <p:nvSpPr>
          <p:cNvPr id="27" name="Rectangle 26">
            <a:extLst>
              <a:ext uri="{FF2B5EF4-FFF2-40B4-BE49-F238E27FC236}">
                <a16:creationId xmlns:a16="http://schemas.microsoft.com/office/drawing/2014/main" id="{70F3E34D-3D1C-4169-854B-DB2E802D80AA}"/>
              </a:ext>
            </a:extLst>
          </p:cNvPr>
          <p:cNvSpPr>
            <a:spLocks noGrp="1"/>
          </p:cNvSpPr>
          <p:nvPr/>
        </p:nvSpPr>
        <p:spPr>
          <a:xfrm>
            <a:off x="2952750" y="5676900"/>
            <a:ext cx="8248650" cy="285750"/>
          </a:xfrm>
          <a:prstGeom prst="rect">
            <a:avLst/>
          </a:prstGeom>
          <a:noFill/>
          <a:ln w="0">
            <a:noFill/>
            <a:prstDash val="solid"/>
          </a:ln>
        </p:spPr>
        <p:txBody>
          <a:bodyPr anchor="ctr"/>
          <a:lstStyle/>
          <a:p>
            <a:pPr algn="ctr">
              <a:buNone/>
              <a:defRPr sz="1500" b="1" i="0">
                <a:solidFill>
                  <a:srgbClr val="FFFFFF"/>
                </a:solidFill>
              </a:defRPr>
            </a:pPr>
            <a:r>
              <a:rPr sz="1500" b="1" i="0" dirty="0">
                <a:solidFill>
                  <a:srgbClr val="FFFFFF"/>
                </a:solidFill>
              </a:rPr>
              <a:t>HY3 + Software Workshop · Human</a:t>
            </a:r>
            <a:r>
              <a:rPr lang="en-SG" sz="1500" b="1" i="0" dirty="0">
                <a:solidFill>
                  <a:srgbClr val="FFFFFF"/>
                </a:solidFill>
              </a:rPr>
              <a:t> approval</a:t>
            </a:r>
            <a:endParaRPr sz="1500" b="1" i="0" dirty="0">
              <a:solidFill>
                <a:srgbClr val="FFFFFF"/>
              </a:solidFill>
            </a:endParaRPr>
          </a:p>
        </p:txBody>
      </p:sp>
      <p:sp>
        <p:nvSpPr>
          <p:cNvPr id="28" name="Rectangle 27">
            <a:extLst>
              <a:ext uri="{FF2B5EF4-FFF2-40B4-BE49-F238E27FC236}">
                <a16:creationId xmlns:a16="http://schemas.microsoft.com/office/drawing/2014/main" id="{E4FF51EA-0068-4382-8884-C6652B862146}"/>
              </a:ext>
            </a:extLst>
          </p:cNvPr>
          <p:cNvSpPr>
            <a:spLocks noGrp="1"/>
          </p:cNvSpPr>
          <p:nvPr/>
        </p:nvSpPr>
        <p:spPr>
          <a:xfrm>
            <a:off x="609600" y="6496050"/>
            <a:ext cx="10972800" cy="9525"/>
          </a:xfrm>
          <a:prstGeom prst="rect">
            <a:avLst/>
          </a:prstGeom>
          <a:solidFill>
            <a:srgbClr val="DDE2E8"/>
          </a:solidFill>
          <a:ln w="0">
            <a:solidFill>
              <a:srgbClr val="DDE2E8"/>
            </a:solidFill>
            <a:prstDash val="solid"/>
          </a:ln>
        </p:spPr>
        <p:txBody>
          <a:bodyPr/>
          <a:lstStyle/>
          <a:p>
            <a:endParaRPr lang="en-US"/>
          </a:p>
        </p:txBody>
      </p:sp>
      <p:sp>
        <p:nvSpPr>
          <p:cNvPr id="29" name="Rectangle 28">
            <a:extLst>
              <a:ext uri="{FF2B5EF4-FFF2-40B4-BE49-F238E27FC236}">
                <a16:creationId xmlns:a16="http://schemas.microsoft.com/office/drawing/2014/main" id="{74B70CBF-431A-4B8F-9CEB-DE7A36794A7A}"/>
              </a:ext>
            </a:extLst>
          </p:cNvPr>
          <p:cNvSpPr>
            <a:spLocks noGrp="1"/>
          </p:cNvSpPr>
          <p:nvPr/>
        </p:nvSpPr>
        <p:spPr>
          <a:xfrm>
            <a:off x="609600" y="6572250"/>
            <a:ext cx="4762500" cy="171450"/>
          </a:xfrm>
          <a:prstGeom prst="rect">
            <a:avLst/>
          </a:prstGeom>
          <a:noFill/>
          <a:ln w="0">
            <a:noFill/>
            <a:prstDash val="solid"/>
          </a:ln>
        </p:spPr>
        <p:txBody>
          <a:bodyPr anchor="t"/>
          <a:lstStyle/>
          <a:p>
            <a:pPr algn="l">
              <a:buNone/>
              <a:defRPr sz="750" b="1" i="0">
                <a:solidFill>
                  <a:srgbClr val="8A919E"/>
                </a:solidFill>
              </a:defRPr>
            </a:pPr>
            <a:r>
              <a:rPr sz="750" b="1" i="0">
                <a:solidFill>
                  <a:srgbClr val="8A919E"/>
                </a:solidFill>
              </a:rPr>
              <a:t>PHOTO HELPER · FIVE­CENT</a:t>
            </a:r>
          </a:p>
        </p:txBody>
      </p:sp>
    </p:spTree>
    <p:extLst>
      <p:ext uri="{BB962C8B-B14F-4D97-AF65-F5344CB8AC3E}">
        <p14:creationId xmlns:p14="http://schemas.microsoft.com/office/powerpoint/2010/main" val="984634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47CE396D-F00F-4177-8378-13554DBFB9AA}"/>
              </a:ext>
            </a:extLst>
          </p:cNvPr>
          <p:cNvSpPr>
            <a:spLocks noGrp="1"/>
          </p:cNvSpPr>
          <p:nvPr/>
        </p:nvSpPr>
        <p:spPr>
          <a:xfrm>
            <a:off x="9525000" y="0"/>
            <a:ext cx="2667000" cy="2667000"/>
          </a:xfrm>
          <a:prstGeom prst="ellipse">
            <a:avLst/>
          </a:prstGeom>
          <a:solidFill>
            <a:srgbClr val="FFF4E0"/>
          </a:solidFill>
          <a:ln w="0">
            <a:noFill/>
            <a:prstDash val="solid"/>
          </a:ln>
        </p:spPr>
        <p:txBody>
          <a:bodyPr/>
          <a:lstStyle/>
          <a:p>
            <a:endParaRPr lang="en-US"/>
          </a:p>
        </p:txBody>
      </p:sp>
      <p:sp>
        <p:nvSpPr>
          <p:cNvPr id="2" name="Oval 1">
            <a:extLst>
              <a:ext uri="{FF2B5EF4-FFF2-40B4-BE49-F238E27FC236}">
                <a16:creationId xmlns:a16="http://schemas.microsoft.com/office/drawing/2014/main" id="{036AB5FB-3E42-4411-843A-83A72BD89976}"/>
              </a:ext>
            </a:extLst>
          </p:cNvPr>
          <p:cNvSpPr>
            <a:spLocks noGrp="1"/>
          </p:cNvSpPr>
          <p:nvPr/>
        </p:nvSpPr>
        <p:spPr>
          <a:xfrm>
            <a:off x="10287000" y="228600"/>
            <a:ext cx="1905000" cy="1905000"/>
          </a:xfrm>
          <a:prstGeom prst="ellipse">
            <a:avLst/>
          </a:prstGeom>
          <a:solidFill>
            <a:srgbClr val="EAF6FD"/>
          </a:solidFill>
          <a:ln w="0">
            <a:noFill/>
            <a:prstDash val="solid"/>
          </a:ln>
        </p:spPr>
        <p:txBody>
          <a:bodyPr/>
          <a:lstStyle/>
          <a:p>
            <a:endParaRPr lang="en-US"/>
          </a:p>
        </p:txBody>
      </p:sp>
      <p:sp>
        <p:nvSpPr>
          <p:cNvPr id="3" name="Rectangle 2">
            <a:extLst>
              <a:ext uri="{FF2B5EF4-FFF2-40B4-BE49-F238E27FC236}">
                <a16:creationId xmlns:a16="http://schemas.microsoft.com/office/drawing/2014/main" id="{290A5840-8BE8-4947-B337-3696C8B657DD}"/>
              </a:ext>
            </a:extLst>
          </p:cNvPr>
          <p:cNvSpPr>
            <a:spLocks noGrp="1"/>
          </p:cNvSpPr>
          <p:nvPr/>
        </p:nvSpPr>
        <p:spPr>
          <a:xfrm>
            <a:off x="609600" y="552450"/>
            <a:ext cx="2667000" cy="247650"/>
          </a:xfrm>
          <a:prstGeom prst="rect">
            <a:avLst/>
          </a:prstGeom>
          <a:noFill/>
          <a:ln w="0">
            <a:noFill/>
            <a:prstDash val="solid"/>
          </a:ln>
        </p:spPr>
        <p:txBody>
          <a:bodyPr anchor="t"/>
          <a:lstStyle/>
          <a:p>
            <a:pPr algn="l">
              <a:buNone/>
              <a:defRPr sz="1125" b="1" i="0">
                <a:solidFill>
                  <a:srgbClr val="176A9E"/>
                </a:solidFill>
              </a:defRPr>
            </a:pPr>
            <a:r>
              <a:rPr sz="1125" b="1" i="0">
                <a:solidFill>
                  <a:srgbClr val="176A9E"/>
                </a:solidFill>
              </a:rPr>
              <a:t>PHOTO HELPER</a:t>
            </a:r>
          </a:p>
        </p:txBody>
      </p:sp>
      <p:sp>
        <p:nvSpPr>
          <p:cNvPr id="4" name="Rectangle 3">
            <a:extLst>
              <a:ext uri="{FF2B5EF4-FFF2-40B4-BE49-F238E27FC236}">
                <a16:creationId xmlns:a16="http://schemas.microsoft.com/office/drawing/2014/main" id="{489A8626-4BCC-4EA2-8D3E-EFB6C3FF86B7}"/>
              </a:ext>
            </a:extLst>
          </p:cNvPr>
          <p:cNvSpPr>
            <a:spLocks noGrp="1"/>
          </p:cNvSpPr>
          <p:nvPr/>
        </p:nvSpPr>
        <p:spPr>
          <a:xfrm>
            <a:off x="609600" y="1390650"/>
            <a:ext cx="8858250" cy="1809750"/>
          </a:xfrm>
          <a:prstGeom prst="rect">
            <a:avLst/>
          </a:prstGeom>
          <a:noFill/>
          <a:ln w="0">
            <a:noFill/>
            <a:prstDash val="solid"/>
          </a:ln>
        </p:spPr>
        <p:txBody>
          <a:bodyPr anchor="t"/>
          <a:lstStyle/>
          <a:p>
            <a:pPr algn="l">
              <a:buNone/>
              <a:defRPr sz="4350" b="1" i="0">
                <a:solidFill>
                  <a:srgbClr val="111318"/>
                </a:solidFill>
              </a:defRPr>
            </a:pPr>
            <a:r>
              <a:rPr sz="4350" b="1" i="0">
                <a:solidFill>
                  <a:srgbClr val="111318"/>
                </a:solidFill>
              </a:rPr>
              <a:t>Speak in outcomes,</a:t>
            </a:r>
          </a:p>
          <a:p>
            <a:pPr algn="l">
              <a:buNone/>
              <a:defRPr sz="4350" b="1" i="0">
                <a:solidFill>
                  <a:srgbClr val="111318"/>
                </a:solidFill>
              </a:defRPr>
            </a:pPr>
            <a:r>
              <a:rPr sz="4350" b="1" i="0">
                <a:solidFill>
                  <a:srgbClr val="111318"/>
                </a:solidFill>
              </a:rPr>
              <a:t>not camera settings.</a:t>
            </a:r>
          </a:p>
        </p:txBody>
      </p:sp>
      <p:sp>
        <p:nvSpPr>
          <p:cNvPr id="5" name="Rectangle 4">
            <a:extLst>
              <a:ext uri="{FF2B5EF4-FFF2-40B4-BE49-F238E27FC236}">
                <a16:creationId xmlns:a16="http://schemas.microsoft.com/office/drawing/2014/main" id="{448FE341-D4FA-4A3F-AE63-887E59987FD5}"/>
              </a:ext>
            </a:extLst>
          </p:cNvPr>
          <p:cNvSpPr>
            <a:spLocks noGrp="1"/>
          </p:cNvSpPr>
          <p:nvPr/>
        </p:nvSpPr>
        <p:spPr>
          <a:xfrm>
            <a:off x="647700" y="3543300"/>
            <a:ext cx="7620000" cy="495300"/>
          </a:xfrm>
          <a:prstGeom prst="rect">
            <a:avLst/>
          </a:prstGeom>
          <a:noFill/>
          <a:ln w="0">
            <a:noFill/>
            <a:prstDash val="solid"/>
          </a:ln>
        </p:spPr>
        <p:txBody>
          <a:bodyPr anchor="t"/>
          <a:lstStyle/>
          <a:p>
            <a:pPr algn="l">
              <a:buNone/>
              <a:defRPr sz="1800" b="0" i="0">
                <a:solidFill>
                  <a:srgbClr val="5E6572"/>
                </a:solidFill>
              </a:defRPr>
            </a:pPr>
            <a:r>
              <a:rPr sz="1800" b="0" i="0">
                <a:solidFill>
                  <a:srgbClr val="5E6572"/>
                </a:solidFill>
              </a:rPr>
              <a:t>A trustworthy voice-to-camera translator for casual photography.</a:t>
            </a:r>
          </a:p>
        </p:txBody>
      </p:sp>
      <p:sp>
        <p:nvSpPr>
          <p:cNvPr id="6" name="Rectangle: Rounded Corners 5">
            <a:extLst>
              <a:ext uri="{FF2B5EF4-FFF2-40B4-BE49-F238E27FC236}">
                <a16:creationId xmlns:a16="http://schemas.microsoft.com/office/drawing/2014/main" id="{2D9EA688-AA2B-4B06-9455-38A19D90139F}"/>
              </a:ext>
            </a:extLst>
          </p:cNvPr>
          <p:cNvSpPr>
            <a:spLocks noGrp="1"/>
          </p:cNvSpPr>
          <p:nvPr/>
        </p:nvSpPr>
        <p:spPr>
          <a:xfrm>
            <a:off x="609600" y="4667250"/>
            <a:ext cx="5105400" cy="990600"/>
          </a:xfrm>
          <a:prstGeom prst="roundRect">
            <a:avLst>
              <a:gd name="adj" fmla="val 11538"/>
            </a:avLst>
          </a:prstGeom>
          <a:solidFill>
            <a:srgbClr val="111318"/>
          </a:solidFill>
          <a:ln w="0">
            <a:noFill/>
            <a:prstDash val="solid"/>
          </a:ln>
        </p:spPr>
        <p:txBody>
          <a:bodyPr/>
          <a:lstStyle/>
          <a:p>
            <a:endParaRPr lang="en-US"/>
          </a:p>
        </p:txBody>
      </p:sp>
      <p:sp>
        <p:nvSpPr>
          <p:cNvPr id="7" name="Rectangle 6">
            <a:extLst>
              <a:ext uri="{FF2B5EF4-FFF2-40B4-BE49-F238E27FC236}">
                <a16:creationId xmlns:a16="http://schemas.microsoft.com/office/drawing/2014/main" id="{361D0DE4-DED7-44C0-B271-60146EA8266F}"/>
              </a:ext>
            </a:extLst>
          </p:cNvPr>
          <p:cNvSpPr>
            <a:spLocks noGrp="1"/>
          </p:cNvSpPr>
          <p:nvPr/>
        </p:nvSpPr>
        <p:spPr>
          <a:xfrm>
            <a:off x="876300" y="4876800"/>
            <a:ext cx="762000" cy="209550"/>
          </a:xfrm>
          <a:prstGeom prst="rect">
            <a:avLst/>
          </a:prstGeom>
          <a:noFill/>
          <a:ln w="0">
            <a:noFill/>
            <a:prstDash val="solid"/>
          </a:ln>
        </p:spPr>
        <p:txBody>
          <a:bodyPr anchor="t"/>
          <a:lstStyle/>
          <a:p>
            <a:pPr algn="l">
              <a:buNone/>
              <a:defRPr sz="975" b="1" i="0">
                <a:solidFill>
                  <a:srgbClr val="66BDF1"/>
                </a:solidFill>
              </a:defRPr>
            </a:pPr>
            <a:r>
              <a:rPr sz="975" b="1" i="0">
                <a:solidFill>
                  <a:srgbClr val="66BDF1"/>
                </a:solidFill>
              </a:rPr>
              <a:t>NOW</a:t>
            </a:r>
          </a:p>
        </p:txBody>
      </p:sp>
      <p:sp>
        <p:nvSpPr>
          <p:cNvPr id="8" name="Rectangle 7">
            <a:extLst>
              <a:ext uri="{FF2B5EF4-FFF2-40B4-BE49-F238E27FC236}">
                <a16:creationId xmlns:a16="http://schemas.microsoft.com/office/drawing/2014/main" id="{50A9B829-A758-4F3F-B333-832604B9A88B}"/>
              </a:ext>
            </a:extLst>
          </p:cNvPr>
          <p:cNvSpPr>
            <a:spLocks noGrp="1"/>
          </p:cNvSpPr>
          <p:nvPr/>
        </p:nvSpPr>
        <p:spPr>
          <a:xfrm>
            <a:off x="876300" y="5181600"/>
            <a:ext cx="4457700" cy="285750"/>
          </a:xfrm>
          <a:prstGeom prst="rect">
            <a:avLst/>
          </a:prstGeom>
          <a:noFill/>
          <a:ln w="0">
            <a:noFill/>
            <a:prstDash val="solid"/>
          </a:ln>
        </p:spPr>
        <p:txBody>
          <a:bodyPr anchor="t"/>
          <a:lstStyle/>
          <a:p>
            <a:pPr algn="l">
              <a:buNone/>
              <a:defRPr sz="1650" b="1" i="0">
                <a:solidFill>
                  <a:srgbClr val="FFFFFF"/>
                </a:solidFill>
              </a:defRPr>
            </a:pPr>
            <a:r>
              <a:rPr sz="1650" b="1" i="0">
                <a:solidFill>
                  <a:srgbClr val="FFFFFF"/>
                </a:solidFill>
              </a:rPr>
              <a:t>Voice-first casual camera utility</a:t>
            </a:r>
          </a:p>
        </p:txBody>
      </p:sp>
      <p:sp>
        <p:nvSpPr>
          <p:cNvPr id="9" name="Rectangle: Rounded Corners 8">
            <a:extLst>
              <a:ext uri="{FF2B5EF4-FFF2-40B4-BE49-F238E27FC236}">
                <a16:creationId xmlns:a16="http://schemas.microsoft.com/office/drawing/2014/main" id="{18582754-7BC8-406B-92C9-D0BE42021D55}"/>
              </a:ext>
            </a:extLst>
          </p:cNvPr>
          <p:cNvSpPr>
            <a:spLocks noGrp="1"/>
          </p:cNvSpPr>
          <p:nvPr/>
        </p:nvSpPr>
        <p:spPr>
          <a:xfrm>
            <a:off x="5943600" y="4667250"/>
            <a:ext cx="5638800" cy="990600"/>
          </a:xfrm>
          <a:prstGeom prst="roundRect">
            <a:avLst>
              <a:gd name="adj" fmla="val 11538"/>
            </a:avLst>
          </a:prstGeom>
          <a:solidFill>
            <a:srgbClr val="EAF6FD"/>
          </a:solidFill>
          <a:ln w="0">
            <a:noFill/>
            <a:prstDash val="solid"/>
          </a:ln>
        </p:spPr>
        <p:txBody>
          <a:bodyPr/>
          <a:lstStyle/>
          <a:p>
            <a:endParaRPr lang="en-US"/>
          </a:p>
        </p:txBody>
      </p:sp>
      <p:sp>
        <p:nvSpPr>
          <p:cNvPr id="10" name="Rectangle 9">
            <a:extLst>
              <a:ext uri="{FF2B5EF4-FFF2-40B4-BE49-F238E27FC236}">
                <a16:creationId xmlns:a16="http://schemas.microsoft.com/office/drawing/2014/main" id="{05674CB5-7795-42FB-840A-4752CC634D33}"/>
              </a:ext>
            </a:extLst>
          </p:cNvPr>
          <p:cNvSpPr>
            <a:spLocks noGrp="1"/>
          </p:cNvSpPr>
          <p:nvPr/>
        </p:nvSpPr>
        <p:spPr>
          <a:xfrm>
            <a:off x="6210300" y="4876800"/>
            <a:ext cx="762000" cy="209550"/>
          </a:xfrm>
          <a:prstGeom prst="rect">
            <a:avLst/>
          </a:prstGeom>
          <a:noFill/>
          <a:ln w="0">
            <a:noFill/>
            <a:prstDash val="solid"/>
          </a:ln>
        </p:spPr>
        <p:txBody>
          <a:bodyPr anchor="t"/>
          <a:lstStyle/>
          <a:p>
            <a:pPr algn="l">
              <a:buNone/>
              <a:defRPr sz="975" b="1" i="0">
                <a:solidFill>
                  <a:srgbClr val="176A9E"/>
                </a:solidFill>
              </a:defRPr>
            </a:pPr>
            <a:r>
              <a:rPr sz="975" b="1" i="0">
                <a:solidFill>
                  <a:srgbClr val="176A9E"/>
                </a:solidFill>
              </a:rPr>
              <a:t>NEXT</a:t>
            </a:r>
          </a:p>
        </p:txBody>
      </p:sp>
      <p:sp>
        <p:nvSpPr>
          <p:cNvPr id="11" name="Rectangle 10">
            <a:extLst>
              <a:ext uri="{FF2B5EF4-FFF2-40B4-BE49-F238E27FC236}">
                <a16:creationId xmlns:a16="http://schemas.microsoft.com/office/drawing/2014/main" id="{AE77D67B-6DB8-441C-9FF3-3C084BABA75D}"/>
              </a:ext>
            </a:extLst>
          </p:cNvPr>
          <p:cNvSpPr>
            <a:spLocks noGrp="1"/>
          </p:cNvSpPr>
          <p:nvPr/>
        </p:nvSpPr>
        <p:spPr>
          <a:xfrm>
            <a:off x="6210300" y="5181600"/>
            <a:ext cx="4991100" cy="285750"/>
          </a:xfrm>
          <a:prstGeom prst="rect">
            <a:avLst/>
          </a:prstGeom>
          <a:noFill/>
          <a:ln w="0">
            <a:noFill/>
            <a:prstDash val="solid"/>
          </a:ln>
        </p:spPr>
        <p:txBody>
          <a:bodyPr anchor="t"/>
          <a:lstStyle/>
          <a:p>
            <a:pPr algn="l">
              <a:buNone/>
              <a:defRPr sz="1650" b="1" i="0">
                <a:solidFill>
                  <a:srgbClr val="111318"/>
                </a:solidFill>
              </a:defRPr>
            </a:pPr>
            <a:r>
              <a:rPr sz="1650" b="1" i="0">
                <a:solidFill>
                  <a:srgbClr val="111318"/>
                </a:solidFill>
              </a:rPr>
              <a:t>Optional mode for phone makers or camera apps</a:t>
            </a:r>
          </a:p>
        </p:txBody>
      </p:sp>
      <p:sp>
        <p:nvSpPr>
          <p:cNvPr id="12" name="Rectangle 11">
            <a:extLst>
              <a:ext uri="{FF2B5EF4-FFF2-40B4-BE49-F238E27FC236}">
                <a16:creationId xmlns:a16="http://schemas.microsoft.com/office/drawing/2014/main" id="{48703786-7A9C-4D03-966C-34DA0BF18F23}"/>
              </a:ext>
            </a:extLst>
          </p:cNvPr>
          <p:cNvSpPr>
            <a:spLocks noGrp="1"/>
          </p:cNvSpPr>
          <p:nvPr/>
        </p:nvSpPr>
        <p:spPr>
          <a:xfrm>
            <a:off x="647700" y="6019800"/>
            <a:ext cx="10934700" cy="266700"/>
          </a:xfrm>
          <a:prstGeom prst="rect">
            <a:avLst/>
          </a:prstGeom>
          <a:noFill/>
          <a:ln w="0">
            <a:noFill/>
            <a:prstDash val="solid"/>
          </a:ln>
        </p:spPr>
        <p:txBody>
          <a:bodyPr anchor="t"/>
          <a:lstStyle/>
          <a:p>
            <a:pPr algn="l">
              <a:buNone/>
              <a:defRPr sz="1200" b="1" i="0">
                <a:solidFill>
                  <a:srgbClr val="5E6572"/>
                </a:solidFill>
              </a:defRPr>
            </a:pPr>
            <a:r>
              <a:rPr sz="1200" b="1" i="0">
                <a:solidFill>
                  <a:srgbClr val="5E6572"/>
                </a:solidFill>
              </a:rPr>
              <a:t>Next: local models · focus accuracy · manual interactions · retakes · confidence</a:t>
            </a:r>
          </a:p>
        </p:txBody>
      </p:sp>
      <p:sp>
        <p:nvSpPr>
          <p:cNvPr id="13" name="Rectangle 12">
            <a:extLst>
              <a:ext uri="{FF2B5EF4-FFF2-40B4-BE49-F238E27FC236}">
                <a16:creationId xmlns:a16="http://schemas.microsoft.com/office/drawing/2014/main" id="{B8B7A133-4ACB-4B2E-A562-52B896601C54}"/>
              </a:ext>
            </a:extLst>
          </p:cNvPr>
          <p:cNvSpPr>
            <a:spLocks noGrp="1"/>
          </p:cNvSpPr>
          <p:nvPr/>
        </p:nvSpPr>
        <p:spPr>
          <a:xfrm>
            <a:off x="609600" y="6496050"/>
            <a:ext cx="10972800" cy="9525"/>
          </a:xfrm>
          <a:prstGeom prst="rect">
            <a:avLst/>
          </a:prstGeom>
          <a:solidFill>
            <a:srgbClr val="DDE2E8"/>
          </a:solidFill>
          <a:ln w="0">
            <a:solidFill>
              <a:srgbClr val="DDE2E8"/>
            </a:solidFill>
            <a:prstDash val="solid"/>
          </a:ln>
        </p:spPr>
        <p:txBody>
          <a:bodyPr/>
          <a:lstStyle/>
          <a:p>
            <a:endParaRPr lang="en-US"/>
          </a:p>
        </p:txBody>
      </p:sp>
      <p:sp>
        <p:nvSpPr>
          <p:cNvPr id="14" name="Rectangle 13">
            <a:extLst>
              <a:ext uri="{FF2B5EF4-FFF2-40B4-BE49-F238E27FC236}">
                <a16:creationId xmlns:a16="http://schemas.microsoft.com/office/drawing/2014/main" id="{8A08D6E3-49CB-450A-9DDE-DEAABBD0CDA0}"/>
              </a:ext>
            </a:extLst>
          </p:cNvPr>
          <p:cNvSpPr>
            <a:spLocks noGrp="1"/>
          </p:cNvSpPr>
          <p:nvPr/>
        </p:nvSpPr>
        <p:spPr>
          <a:xfrm>
            <a:off x="609600" y="6572250"/>
            <a:ext cx="4762500" cy="171450"/>
          </a:xfrm>
          <a:prstGeom prst="rect">
            <a:avLst/>
          </a:prstGeom>
          <a:noFill/>
          <a:ln w="0">
            <a:noFill/>
            <a:prstDash val="solid"/>
          </a:ln>
        </p:spPr>
        <p:txBody>
          <a:bodyPr anchor="t"/>
          <a:lstStyle/>
          <a:p>
            <a:pPr algn="l">
              <a:buNone/>
              <a:defRPr sz="750" b="1" i="0">
                <a:solidFill>
                  <a:srgbClr val="8A919E"/>
                </a:solidFill>
              </a:defRPr>
            </a:pPr>
            <a:r>
              <a:rPr sz="750" b="1" i="0">
                <a:solidFill>
                  <a:srgbClr val="8A919E"/>
                </a:solidFill>
              </a:rPr>
              <a:t>FIVECENT · LU BOLIN · ETHAN YAP · NATHANAEL LEONG</a:t>
            </a:r>
          </a:p>
        </p:txBody>
      </p:sp>
    </p:spTree>
    <p:extLst>
      <p:ext uri="{BB962C8B-B14F-4D97-AF65-F5344CB8AC3E}">
        <p14:creationId xmlns:p14="http://schemas.microsoft.com/office/powerpoint/2010/main" val="7891511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1351</Words>
  <Application>Microsoft Office PowerPoint</Application>
  <DocSecurity>0</DocSecurity>
  <PresentationFormat>Widescreen</PresentationFormat>
  <Paragraphs>150</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LBL</cp:lastModifiedBy>
  <cp:revision>1</cp:revision>
  <dcterms:created xsi:type="dcterms:W3CDTF">2026-08-14T05:18:41Z</dcterms:created>
  <dcterms:modified xsi:type="dcterms:W3CDTF">2026-08-14T06:28:58Z</dcterms:modified>
</cp:coreProperties>
</file>