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0840211ee44d83" /><Relationship Type="http://schemas.openxmlformats.org/officeDocument/2006/relationships/extended-properties" Target="/docProps/app.xml" Id="R91d3c78a9fd54e39" /><Relationship Type="http://schemas.openxmlformats.org/officeDocument/2006/relationships/officeDocument" Target="/ppt/presentation.xml" Id="Ra236989bf7664b0c" /></Relationships>
</file>

<file path=ppt/presentation.xml><?xml version="1.0" encoding="utf-8"?>
<p:presentation xmlns:p="http://schemas.openxmlformats.org/presentationml/2006/main">
  <p:sldMasterIdLst>
    <p:sldMasterId xmlns:r="http://schemas.openxmlformats.org/officeDocument/2006/relationships" id="2147483648" r:id="Rd574611e092a4d32"/>
  </p:sldMasterIdLst>
  <p:notesMasterIdLst>
    <p:notesMasterId xmlns:r="http://schemas.openxmlformats.org/officeDocument/2006/relationships" r:id="Rfc55633ca0b44ca9"/>
  </p:notesMasterIdLst>
  <p:sldIdLst>
    <p:sldId xmlns:r="http://schemas.openxmlformats.org/officeDocument/2006/relationships" id="256" r:id="R10772247d58b4461"/>
    <p:sldId xmlns:r="http://schemas.openxmlformats.org/officeDocument/2006/relationships" id="257" r:id="Re177b0ab2cff4d0d"/>
    <p:sldId xmlns:r="http://schemas.openxmlformats.org/officeDocument/2006/relationships" id="258" r:id="R0dad919953b84826"/>
    <p:sldId xmlns:r="http://schemas.openxmlformats.org/officeDocument/2006/relationships" id="259" r:id="R6fd627239c9e4184"/>
    <p:sldId xmlns:r="http://schemas.openxmlformats.org/officeDocument/2006/relationships" id="260" r:id="R558a8de3eccc4cc4"/>
    <p:sldId xmlns:r="http://schemas.openxmlformats.org/officeDocument/2006/relationships" id="261" r:id="R647ef6d04c91411b"/>
    <p:sldId xmlns:r="http://schemas.openxmlformats.org/officeDocument/2006/relationships" id="262" r:id="Rfd1da131017c44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d7c296b3764b01" /><Relationship Type="http://schemas.openxmlformats.org/officeDocument/2006/relationships/slideMaster" Target="/ppt/slideMasters/slideMaster1.xml" Id="Rd574611e092a4d32" /><Relationship Type="http://schemas.openxmlformats.org/officeDocument/2006/relationships/notesMaster" Target="/ppt/notesMasters/notesMaster1.xml" Id="Rfc55633ca0b44ca9" /><Relationship Type="http://schemas.openxmlformats.org/officeDocument/2006/relationships/presProps" Target="/ppt/presProps.xml" Id="R38d27a0e89204088" /><Relationship Type="http://schemas.openxmlformats.org/officeDocument/2006/relationships/tableStyles" Target="/ppt/tableStyles.xml" Id="Rd18fe15cebe74ffd" /><Relationship Type="http://schemas.openxmlformats.org/officeDocument/2006/relationships/slide" Target="/ppt/slides/slide1.xml" Id="R10772247d58b4461" /><Relationship Type="http://schemas.openxmlformats.org/officeDocument/2006/relationships/slide" Target="/ppt/slides/slide2.xml" Id="Re177b0ab2cff4d0d" /><Relationship Type="http://schemas.openxmlformats.org/officeDocument/2006/relationships/slide" Target="/ppt/slides/slide3.xml" Id="R0dad919953b84826" /><Relationship Type="http://schemas.openxmlformats.org/officeDocument/2006/relationships/slide" Target="/ppt/slides/slide4.xml" Id="R6fd627239c9e4184" /><Relationship Type="http://schemas.openxmlformats.org/officeDocument/2006/relationships/slide" Target="/ppt/slides/slide5.xml" Id="R558a8de3eccc4cc4" /><Relationship Type="http://schemas.openxmlformats.org/officeDocument/2006/relationships/slide" Target="/ppt/slides/slide6.xml" Id="R647ef6d04c91411b" /><Relationship Type="http://schemas.openxmlformats.org/officeDocument/2006/relationships/slide" Target="/ppt/slides/slide7.xml" Id="Rfd1da131017c44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166904c95541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f659a495cb47a5" /><Relationship Type="http://schemas.openxmlformats.org/officeDocument/2006/relationships/notesMaster" Target="/ppt/notesMasters/notesMaster1.xml" Id="Re5472fa7fa1841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310bca52b542f6" /><Relationship Type="http://schemas.openxmlformats.org/officeDocument/2006/relationships/notesMaster" Target="/ppt/notesMasters/notesMaster1.xml" Id="R0fc5632cb6b64b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1a14d3bd5f4fff" /><Relationship Type="http://schemas.openxmlformats.org/officeDocument/2006/relationships/notesMaster" Target="/ppt/notesMasters/notesMaster1.xml" Id="R5a6946599d7d43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e8f3e456f549bf" /><Relationship Type="http://schemas.openxmlformats.org/officeDocument/2006/relationships/notesMaster" Target="/ppt/notesMasters/notesMaster1.xml" Id="Rc8014bac533c40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79bd09cb60451a" /><Relationship Type="http://schemas.openxmlformats.org/officeDocument/2006/relationships/notesMaster" Target="/ppt/notesMasters/notesMaster1.xml" Id="R12c9e143b84846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03668c58d7435e" /><Relationship Type="http://schemas.openxmlformats.org/officeDocument/2006/relationships/notesMaster" Target="/ppt/notesMasters/notesMaster1.xml" Id="R543d18e566264c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8f93ca0d324a98" /><Relationship Type="http://schemas.openxmlformats.org/officeDocument/2006/relationships/notesMaster" Target="/ppt/notesMasters/notesMaster1.xml" Id="Ra0dc45fb7dea44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
            </a:r>
          </a:p>
          <a:p xmlns:a="http://schemas.openxmlformats.org/drawingml/2006/main">
            <a:r>
              <a:t>Say:</a:t>
            </a:r>
          </a:p>
          <a:p xmlns:a="http://schemas.openxmlformats.org/drawingml/2006/main">
            <a:r>
              <a:t>Good afternoon. We built Photo Helper, a voice-first camera-control agent for family photography. People know the outcome they want—a brighter picture, a closer subject or time to join the frame—but not which settings create it. Photo Helper translates that request into a bounded workflow on an Android camera.</a:t>
            </a:r>
          </a:p>
          <a:p xmlns:a="http://schemas.openxmlformats.org/drawingml/2006/main">
            <a:r>
              <a:t/>
            </a:r>
          </a:p>
          <a:p xmlns:a="http://schemas.openxmlformats.org/drawingml/2006/main">
            <a:r>
              <a:t>Presenter cue: Let the cover image establish the family scenario before advancing.</a:t>
            </a:r>
          </a:p>
          <a:p xmlns:a="http://schemas.openxmlformats.org/drawingml/2006/main">
            <a:r>
              <a:t/>
            </a:r>
          </a:p>
          <a:p xmlns:a="http://schemas.openxmlformats.org/drawingml/2006/main">
            <a:r>
              <a:t>[Sources]</a:t>
            </a:r>
          </a:p>
          <a:p xmlns:a="http://schemas.openxmlformats.org/drawingml/2006/main">
            <a:r>
              <a:t>- C:\Users\bolin\Desktop\CameraAgent\submission-assets\photo-helper-cover-16x9-v6-actual-ui.png</a:t>
            </a:r>
          </a:p>
          <a:p xmlns:a="http://schemas.openxmlformats.org/drawingml/2006/main">
            <a:r>
              <a:t>- C:\Users\bolin\Desktop\CameraAgent\submission.md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0:25–1:02</a:t>
            </a:r>
          </a:p>
          <a:p xmlns:a="http://schemas.openxmlformats.org/drawingml/2006/main">
            <a:r>
              <a:t/>
            </a:r>
          </a:p>
          <a:p xmlns:a="http://schemas.openxmlformats.org/drawingml/2006/main">
            <a:r>
              <a:t>Say:</a:t>
            </a:r>
          </a:p>
          <a:p xmlns:a="http://schemas.openxmlformats.org/drawingml/2006/main">
            <a:r>
              <a:t>People do not think in exposure compensation, focus coordinates or timer menus. They say, ‘It is too dark,’ ‘Focus on that,’ or ‘Take it in five seconds.’ The challenge is translating those intentions before the moment is lost. This can be harder for less-confident smartphone users, including older adults, although we have not completed research with that group. Photo Helper translates ordinary language into supported camera controls; it is not an autonomous photographer.</a:t>
            </a:r>
          </a:p>
          <a:p xmlns:a="http://schemas.openxmlformats.org/drawingml/2006/main">
            <a:r>
              <a:t/>
            </a:r>
          </a:p>
          <a:p xmlns:a="http://schemas.openxmlformats.org/drawingml/2006/main">
            <a:r>
              <a:t>Presenter cue: Point first to the natural phrases, then to the translation statement.</a:t>
            </a:r>
          </a:p>
          <a:p xmlns:a="http://schemas.openxmlformats.org/drawingml/2006/main">
            <a:r>
              <a:t/>
            </a:r>
          </a:p>
          <a:p xmlns:a="http://schemas.openxmlformats.org/drawingml/2006/main">
            <a:r>
              <a:t>[Sources]</a:t>
            </a:r>
          </a:p>
          <a:p xmlns:a="http://schemas.openxmlformats.org/drawingml/2006/main">
            <a:r>
              <a:t>- C:\Users\bolin\Desktop\CameraAgent\submission.md</a:t>
            </a:r>
          </a:p>
          <a:p xmlns:a="http://schemas.openxmlformats.org/drawingml/2006/main">
            <a:r>
              <a:t>- C:\Users\bolin\Desktop\CameraAgent\submission-assets\project-brief.md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1:02–2:22 — Reserved demo block; no live narration.</a:t>
            </a:r>
          </a:p>
          <a:p xmlns:a="http://schemas.openxmlformats.org/drawingml/2006/main">
            <a:r>
              <a:t/>
            </a:r>
          </a:p>
          <a:p xmlns:a="http://schemas.openxmlformats.org/drawingml/2006/main">
            <a:r>
              <a:t>Presenter cue:</a:t>
            </a:r>
          </a:p>
          <a:p xmlns:a="http://schemas.openxmlformats.org/drawingml/2006/main">
            <a:r>
              <a:t>1. Advance to this holding slide.</a:t>
            </a:r>
          </a:p>
          <a:p xmlns:a="http://schemas.openxmlformats.org/drawingml/2006/main">
            <a:r>
              <a:t>2. Switch to the video tab.</a:t>
            </a:r>
          </a:p>
          <a:p xmlns:a="http://schemas.openxmlformats.org/drawingml/2006/main">
            <a:r>
              <a:t>3. Play the 75-second stitched demo.</a:t>
            </a:r>
          </a:p>
          <a:p xmlns:a="http://schemas.openxmlformats.org/drawingml/2006/main">
            <a:r>
              <a:t>4. Switch back to the deck after the video ends.</a:t>
            </a:r>
          </a:p>
          <a:p xmlns:a="http://schemas.openxmlformats.org/drawingml/2006/main">
            <a:r>
              <a:t>5. Advance immediately to the architecture slide.</a:t>
            </a:r>
          </a:p>
          <a:p xmlns:a="http://schemas.openxmlformats.org/drawingml/2006/main">
            <a:r>
              <a:t/>
            </a:r>
          </a:p>
          <a:p xmlns:a="http://schemas.openxmlformats.org/drawingml/2006/main">
            <a:r>
              <a:t>Timing allowance: seventy-five seconds for playback and approximately five seconds total for switching out of and back into the deck.</a:t>
            </a:r>
          </a:p>
          <a:p xmlns:a="http://schemas.openxmlformats.org/drawingml/2006/main">
            <a:r>
              <a:t/>
            </a:r>
          </a:p>
          <a:p xmlns:a="http://schemas.openxmlformats.org/drawingml/2006/main">
            <a:r>
              <a:t>[Sources]</a:t>
            </a:r>
          </a:p>
          <a:p xmlns:a="http://schemas.openxmlformats.org/drawingml/2006/main">
            <a:r>
              <a:t>- C:\Users\bolin\Desktop\CameraAgent\submission-assets\demo-video-full-script.md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2:22–3:03</a:t>
            </a:r>
          </a:p>
          <a:p xmlns:a="http://schemas.openxmlformats.org/drawingml/2006/main">
            <a:r>
              <a:t/>
            </a:r>
          </a:p>
          <a:p xmlns:a="http://schemas.openxmlformats.org/drawingml/2006/main">
            <a:r>
              <a:t>Say:</a:t>
            </a:r>
          </a:p>
          <a:p xmlns:a="http://schemas.openxmlformats.org/drawingml/2006/main">
            <a:r>
              <a:t>What you saw has four stages. The app supplies the request, a clean frame, a labelled grid and trusted camera telemetry. Qwen returns only strict JSON: at most eight actions from six permitted types. Android validates the schema, capabilities and whether the context is current before applying CameraX or Camera2 controls. Failed setting transactions roll back, and Reset restores the baseline. Voice is transcribed on-device; Alibaba receives reduced still frames for eligible requests, but never microphone audio or a continuous preview stream.</a:t>
            </a:r>
          </a:p>
          <a:p xmlns:a="http://schemas.openxmlformats.org/drawingml/2006/main">
            <a:r>
              <a:t/>
            </a:r>
          </a:p>
          <a:p xmlns:a="http://schemas.openxmlformats.org/drawingml/2006/main">
            <a:r>
              <a:t>Presenter cue: Trace the four boxes from left to right, then finish on the privacy boundary.</a:t>
            </a:r>
          </a:p>
          <a:p xmlns:a="http://schemas.openxmlformats.org/drawingml/2006/main">
            <a:r>
              <a:t/>
            </a:r>
          </a:p>
          <a:p xmlns:a="http://schemas.openxmlformats.org/drawingml/2006/main">
            <a:r>
              <a:t>[Sources]</a:t>
            </a:r>
          </a:p>
          <a:p xmlns:a="http://schemas.openxmlformats.org/drawingml/2006/main">
            <a:r>
              <a:t>- C:\Users\bolin\Desktop\CameraAgent\README.md</a:t>
            </a:r>
          </a:p>
          <a:p xmlns:a="http://schemas.openxmlformats.org/drawingml/2006/main">
            <a:r>
              <a:t>- C:\Users\bolin\Desktop\CameraAgent\app\src\main\java\com\bolin\photohelper\visual\CommandContracts.kt</a:t>
            </a:r>
          </a:p>
          <a:p xmlns:a="http://schemas.openxmlformats.org/drawingml/2006/main">
            <a:r>
              <a:t>- C:\Users\bolin\Desktop\CameraAgent\submission.md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3:03–3:34</a:t>
            </a:r>
          </a:p>
          <a:p xmlns:a="http://schemas.openxmlformats.org/drawingml/2006/main">
            <a:r>
              <a:t/>
            </a:r>
          </a:p>
          <a:p xmlns:a="http://schemas.openxmlformats.org/drawingml/2006/main">
            <a:r>
              <a:t>Say:</a:t>
            </a:r>
          </a:p>
          <a:p xmlns:a="http://schemas.openxmlformats.org/drawingml/2006/main">
            <a:r>
              <a:t>Reliability is part of the design. The code passes 209 JVM unit tests, Android lint and a clean debug build. WorkBuddy completed 57 out of 57 instrumented tests on a physical OnePlus. They cover voice capture, encrypted key storage, Reset persistence, baseline restoration and responsive layouts. This does not prove better photography. It shows that real camera behaviour is bounded, testable and recoverable.</a:t>
            </a:r>
          </a:p>
          <a:p xmlns:a="http://schemas.openxmlformats.org/drawingml/2006/main">
            <a:r>
              <a:t/>
            </a:r>
          </a:p>
          <a:p xmlns:a="http://schemas.openxmlformats.org/drawingml/2006/main">
            <a:r>
              <a:t>Presenter cue: Read the three headline figures first; use the bottom sentence to qualify the claim.</a:t>
            </a:r>
          </a:p>
          <a:p xmlns:a="http://schemas.openxmlformats.org/drawingml/2006/main">
            <a:r>
              <a:t/>
            </a:r>
          </a:p>
          <a:p xmlns:a="http://schemas.openxmlformats.org/drawingml/2006/main">
            <a:r>
              <a:t>[Sources]</a:t>
            </a:r>
          </a:p>
          <a:p xmlns:a="http://schemas.openxmlformats.org/drawingml/2006/main">
            <a:r>
              <a:t>- C:\Users\bolin\Desktop\CameraAgent\submission.md</a:t>
            </a:r>
          </a:p>
          <a:p xmlns:a="http://schemas.openxmlformats.org/drawingml/2006/main">
            <a:r>
              <a:t>- C:\Users\bolin\Desktop\CameraAgent\outputs\workbuddy\FINAL_STABILIZATION_REPORT.md</a:t>
            </a:r>
          </a:p>
          <a:p xmlns:a="http://schemas.openxmlformats.org/drawingml/2006/main">
            <a:r>
              <a:t>- C:\Users\bolin\Desktop\CameraAgent\outputs\workbuddy\unit-test-run.log</a:t>
            </a:r>
          </a:p>
          <a:p xmlns:a="http://schemas.openxmlformats.org/drawingml/2006/main">
            <a:r>
              <a:t>- C:\Users\bolin\Desktop\CameraAgent\outputs\workbuddy\deterministic-connected-run1.log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3:34–4:08</a:t>
            </a:r>
          </a:p>
          <a:p xmlns:a="http://schemas.openxmlformats.org/drawingml/2006/main">
            <a:r>
              <a:t/>
            </a:r>
          </a:p>
          <a:p xmlns:a="http://schemas.openxmlformats.org/drawingml/2006/main">
            <a:r>
              <a:t>Say:</a:t>
            </a:r>
          </a:p>
          <a:p xmlns:a="http://schemas.openxmlformats.org/drawingml/2006/main">
            <a:r>
              <a:t>The development agents had distinct jobs. I used Codex to trace failures, add regression tests, make focused changes, rebuild and install. WorkBuddy handled the HY3 audit, implementation pass and physical-device verification. Kimi-K3 and a UI/UX specialist supported interaction decisions, with human approval between stages. This produced concrete improvements: the guide matches the square Stop control, Reset remains visible and right-aligned, and all 57 final device tests completed.</a:t>
            </a:r>
          </a:p>
          <a:p xmlns:a="http://schemas.openxmlformats.org/drawingml/2006/main">
            <a:r>
              <a:t/>
            </a:r>
          </a:p>
          <a:p xmlns:a="http://schemas.openxmlformats.org/drawingml/2006/main">
            <a:r>
              <a:t>Presenter cue: Move across the four roles, then land on the concrete shipped changes rather than the tool names.</a:t>
            </a:r>
          </a:p>
          <a:p xmlns:a="http://schemas.openxmlformats.org/drawingml/2006/main">
            <a:r>
              <a:t/>
            </a:r>
          </a:p>
          <a:p xmlns:a="http://schemas.openxmlformats.org/drawingml/2006/main">
            <a:r>
              <a:t>[Sources]</a:t>
            </a:r>
          </a:p>
          <a:p xmlns:a="http://schemas.openxmlformats.org/drawingml/2006/main">
            <a:r>
              <a:t>- C:\Users\bolin\Desktop\CameraAgent\outputs\workbuddy\HY3_AUDIT_PACKET.md</a:t>
            </a:r>
          </a:p>
          <a:p xmlns:a="http://schemas.openxmlformats.org/drawingml/2006/main">
            <a:r>
              <a:t>- C:\Users\bolin\Desktop\CameraAgent\outputs\workbuddy\WORKBUDDY_CHANGELOG.md</a:t>
            </a:r>
          </a:p>
          <a:p xmlns:a="http://schemas.openxmlformats.org/drawingml/2006/main">
            <a:r>
              <a:t>- C:\Users\bolin\Desktop\CameraAgent\outputs\workbuddy\K3_DEVICE_VERIFICATION.md</a:t>
            </a:r>
          </a:p>
          <a:p xmlns:a="http://schemas.openxmlformats.org/drawingml/2006/main">
            <a:r>
              <a:t>- C:\Users\bolin\Desktop\CameraAgent\outputs\workbuddy\FINAL_STABILIZATION_REPORT.md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4:08–5:00</a:t>
            </a:r>
          </a:p>
          <a:p xmlns:a="http://schemas.openxmlformats.org/drawingml/2006/main">
            <a:r>
              <a:t/>
            </a:r>
          </a:p>
          <a:p xmlns:a="http://schemas.openxmlformats.org/drawingml/2006/main">
            <a:r>
              <a:t>Say:</a:t>
            </a:r>
          </a:p>
          <a:p xmlns:a="http://schemas.openxmlformats.org/drawingml/2006/main">
            <a:r>
              <a:t>The immediate product is a family-camera utility: a trustworthy translation layer between spoken intent and controls already on the phone. If a pilot shows value, future distribution could involve phone makers or camera-app partners. Photo Helper might become an optional voice mode, or a limited integration exposing only the same allowlisted actions, validation and Reset behaviour. That is a direction, not a current partnership. Next, we would measure successful capture, time-to-capture, manual interactions, retakes and confidence, then research directly with older adults before making accessibility claims. Photo Helper: speak in outcomes, not camera settings.</a:t>
            </a:r>
          </a:p>
          <a:p xmlns:a="http://schemas.openxmlformats.org/drawingml/2006/main">
            <a:r>
              <a:t/>
            </a:r>
          </a:p>
          <a:p xmlns:a="http://schemas.openxmlformats.org/drawingml/2006/main">
            <a:r>
              <a:t>Presenter cue: Clearly separate what exists now from the future partnership path, then finish on the tagline.</a:t>
            </a:r>
          </a:p>
          <a:p xmlns:a="http://schemas.openxmlformats.org/drawingml/2006/main">
            <a:r>
              <a:t/>
            </a:r>
          </a:p>
          <a:p xmlns:a="http://schemas.openxmlformats.org/drawingml/2006/main">
            <a:r>
              <a:t>[Sources]</a:t>
            </a:r>
          </a:p>
          <a:p xmlns:a="http://schemas.openxmlformats.org/drawingml/2006/main">
            <a:r>
              <a:t>- C:\Users\bolin\Desktop\CameraAgent\submission.md</a:t>
            </a:r>
          </a:p>
          <a:p xmlns:a="http://schemas.openxmlformats.org/drawingml/2006/main">
            <a:r>
              <a:t>- C:\Users\bolin\Desktop\CameraAgent\submission-assets\project-brief.md</a:t>
            </a:r>
          </a:p>
          <a:p xmlns:a="http://schemas.openxmlformats.org/drawingml/2006/main">
            <a:r>
              <a:t>- C:\Users\bolin\Desktop\CameraAgent\submission-assets\pitch-day-plan.md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54282fed784a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1ecc7c50434179" /><Relationship Type="http://schemas.openxmlformats.org/officeDocument/2006/relationships/slideLayout" Target="/ppt/slideLayouts/slideLayout1.xml" Id="R82fdb9ada63b4d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fdb9ada63b4d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63beacc8bf412a" /><Relationship Type="http://schemas.openxmlformats.org/officeDocument/2006/relationships/image" Target="/ppt/media/image.png" Id="R3188bcc3234041ce" /><Relationship Type="http://schemas.openxmlformats.org/officeDocument/2006/relationships/notesSlide" Target="/ppt/notesSlides/notesSlide1.xml" Id="R9180612f4db245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50de406bfc4226" /><Relationship Type="http://schemas.openxmlformats.org/officeDocument/2006/relationships/notesSlide" Target="/ppt/notesSlides/notesSlide2.xml" Id="R0932a116bf5440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79cbb581314bb0" /><Relationship Type="http://schemas.openxmlformats.org/officeDocument/2006/relationships/notesSlide" Target="/ppt/notesSlides/notesSlide3.xml" Id="R287a5db421bf48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824871c5114933" /><Relationship Type="http://schemas.openxmlformats.org/officeDocument/2006/relationships/notesSlide" Target="/ppt/notesSlides/notesSlide4.xml" Id="R8541bc1ae07f4f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66321a2c1543cf" /><Relationship Type="http://schemas.openxmlformats.org/officeDocument/2006/relationships/notesSlide" Target="/ppt/notesSlides/notesSlide5.xml" Id="Rcb31d613c6574c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2ef789112547dd" /><Relationship Type="http://schemas.openxmlformats.org/officeDocument/2006/relationships/notesSlide" Target="/ppt/notesSlides/notesSlide6.xml" Id="R8b0f471f1dcb40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274f970aa04759" /><Relationship Type="http://schemas.openxmlformats.org/officeDocument/2006/relationships/notesSlide" Target="/ppt/notesSlides/notesSlide7.xml" Id="R716c4823e3cd486c" /></Relationships>
</file>

<file path=ppt/slides/slide1.xml><?xml version="1.0" encoding="utf-8"?>
<p:sld xmlns:p="http://schemas.openxmlformats.org/presentationml/2006/main">
  <p:cSld>
    <p:bg>
      <p:bgPr>
        <a:solidFill xmlns:a="http://schemas.openxmlformats.org/drawingml/2006/main">
          <a:srgbClr val="111318"/>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3188bcc3234041c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403357C-3609-49A1-978A-2E43EDD02ED9}"/>
              </a:ext>
            </a:extLst>
          </p:cNvPr>
          <p:cNvSpPr>
            <a:spLocks xmlns:a="http://schemas.openxmlformats.org/drawingml/2006/main" noGrp="1"/>
          </p:cNvSpPr>
          <p:nvPr/>
        </p:nvSpPr>
        <p:spPr>
          <a:xfrm xmlns:a="http://schemas.openxmlformats.org/drawingml/2006/main">
            <a:off x="7124700" y="6153150"/>
            <a:ext cx="4457700" cy="400050"/>
          </a:xfrm>
          <a:prstGeom xmlns:a="http://schemas.openxmlformats.org/drawingml/2006/main" prst="roundRect">
            <a:avLst>
              <a:gd name="adj" fmla="val 50000"/>
            </a:avLst>
          </a:prstGeom>
          <a:solidFill xmlns:a="http://schemas.openxmlformats.org/drawingml/2006/main">
            <a:srgbClr val="111318">
              <a:alpha val="80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232F1EF-F33F-430D-8329-8D4F72705126}"/>
              </a:ext>
            </a:extLst>
          </p:cNvPr>
          <p:cNvSpPr>
            <a:spLocks xmlns:a="http://schemas.openxmlformats.org/drawingml/2006/main" noGrp="1"/>
          </p:cNvSpPr>
          <p:nvPr/>
        </p:nvSpPr>
        <p:spPr>
          <a:xfrm xmlns:a="http://schemas.openxmlformats.org/drawingml/2006/main">
            <a:off x="7334250" y="6257925"/>
            <a:ext cx="403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i="0">
                <a:solidFill>
                  <a:srgbClr val="FFFFFF"/>
                </a:solidFill>
              </a:defRPr>
            </a:pPr>
            <a:r>
              <a:rPr sz="900" b="1" i="0">
                <a:solidFill>
                  <a:srgbClr val="FFFFFF"/>
                </a:solidFill>
              </a:rPr>
              <a:t>LIFE AGENT · TEAM FIVECENT · SINGAPORE</a:t>
            </a:r>
          </a:p>
        </p:txBody>
      </p:sp>
    </p:spTree>
    <p:extLst>
      <p:ext uri="{BB962C8B-B14F-4D97-AF65-F5344CB8AC3E}">
        <p14:creationId xmlns:p14="http://schemas.microsoft.com/office/powerpoint/2010/main" val="714653059"/>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2BE279B-0BDD-4712-93ED-545D9D6CA2E8}"/>
              </a:ext>
            </a:extLst>
          </p:cNvPr>
          <p:cNvSpPr>
            <a:spLocks xmlns:a="http://schemas.openxmlformats.org/drawingml/2006/main" noGrp="1"/>
          </p:cNvSpPr>
          <p:nvPr/>
        </p:nvSpPr>
        <p:spPr>
          <a:xfrm xmlns:a="http://schemas.openxmlformats.org/drawingml/2006/main">
            <a:off x="609600" y="4000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176A9E"/>
                </a:solidFill>
              </a:defRPr>
            </a:pPr>
            <a:r>
              <a:rPr sz="975" b="1" i="0">
                <a:solidFill>
                  <a:srgbClr val="176A9E"/>
                </a:solidFill>
              </a:rPr>
              <a:t>02</a:t>
            </a:r>
          </a:p>
        </p:txBody>
      </p:sp>
      <p:sp>
        <p:nvSpPr>
          <p:cNvPr id="2" name="">
            <a:extLst xmlns:a="http://schemas.openxmlformats.org/drawingml/2006/main">
              <a:ext uri="{FF2B5EF4-FFF2-40B4-BE49-F238E27FC236}">
                <a16:creationId xmlns:a16="http://schemas.microsoft.com/office/drawing/2014/main" id="{58F29FE1-7E00-43E4-992C-5D4119D1D02D}"/>
              </a:ext>
            </a:extLst>
          </p:cNvPr>
          <p:cNvSpPr>
            <a:spLocks xmlns:a="http://schemas.openxmlformats.org/drawingml/2006/main" noGrp="1"/>
          </p:cNvSpPr>
          <p:nvPr/>
        </p:nvSpPr>
        <p:spPr>
          <a:xfrm xmlns:a="http://schemas.openxmlformats.org/drawingml/2006/main">
            <a:off x="1162050" y="4000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E6572"/>
                </a:solidFill>
              </a:defRPr>
            </a:pPr>
            <a:r>
              <a:rPr sz="975" b="1" i="0">
                <a:solidFill>
                  <a:srgbClr val="5E6572"/>
                </a:solidFill>
              </a:rPr>
              <a:t>THE GAP</a:t>
            </a:r>
          </a:p>
        </p:txBody>
      </p:sp>
      <p:sp>
        <p:nvSpPr>
          <p:cNvPr id="3" name="">
            <a:extLst xmlns:a="http://schemas.openxmlformats.org/drawingml/2006/main">
              <a:ext uri="{FF2B5EF4-FFF2-40B4-BE49-F238E27FC236}">
                <a16:creationId xmlns:a16="http://schemas.microsoft.com/office/drawing/2014/main" id="{9514DFE2-4FEB-48A3-ABA6-84B15C959E6B}"/>
              </a:ext>
            </a:extLst>
          </p:cNvPr>
          <p:cNvSpPr>
            <a:spLocks xmlns:a="http://schemas.openxmlformats.org/drawingml/2006/main" noGrp="1"/>
          </p:cNvSpPr>
          <p:nvPr/>
        </p:nvSpPr>
        <p:spPr>
          <a:xfrm xmlns:a="http://schemas.openxmlformats.org/drawingml/2006/main">
            <a:off x="609600" y="7429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i="0">
                <a:solidFill>
                  <a:srgbClr val="111318"/>
                </a:solidFill>
              </a:defRPr>
            </a:pPr>
            <a:r>
              <a:rPr sz="3150" b="1" i="0">
                <a:solidFill>
                  <a:srgbClr val="111318"/>
                </a:solidFill>
              </a:rPr>
              <a:t>People describe outcomes. Cameras expose settings.</a:t>
            </a:r>
          </a:p>
        </p:txBody>
      </p:sp>
      <p:sp>
        <p:nvSpPr>
          <p:cNvPr id="4" name="">
            <a:extLst xmlns:a="http://schemas.openxmlformats.org/drawingml/2006/main">
              <a:ext uri="{FF2B5EF4-FFF2-40B4-BE49-F238E27FC236}">
                <a16:creationId xmlns:a16="http://schemas.microsoft.com/office/drawing/2014/main" id="{212DB4B8-09B4-4A05-8FE7-3B90B949E8BA}"/>
              </a:ext>
            </a:extLst>
          </p:cNvPr>
          <p:cNvSpPr>
            <a:spLocks xmlns:a="http://schemas.openxmlformats.org/drawingml/2006/main" noGrp="1"/>
          </p:cNvSpPr>
          <p:nvPr/>
        </p:nvSpPr>
        <p:spPr>
          <a:xfrm xmlns:a="http://schemas.openxmlformats.org/drawingml/2006/main">
            <a:off x="609600" y="1714500"/>
            <a:ext cx="4457700" cy="4229100"/>
          </a:xfrm>
          <a:prstGeom xmlns:a="http://schemas.openxmlformats.org/drawingml/2006/main" prst="roundRect">
            <a:avLst>
              <a:gd name="adj" fmla="val 3604"/>
            </a:avLst>
          </a:prstGeom>
          <a:solidFill xmlns:a="http://schemas.openxmlformats.org/drawingml/2006/main">
            <a:srgbClr val="1113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E630D8-3707-42E0-B050-A4E832E2F30B}"/>
              </a:ext>
            </a:extLst>
          </p:cNvPr>
          <p:cNvSpPr>
            <a:spLocks xmlns:a="http://schemas.openxmlformats.org/drawingml/2006/main" noGrp="1"/>
          </p:cNvSpPr>
          <p:nvPr/>
        </p:nvSpPr>
        <p:spPr>
          <a:xfrm xmlns:a="http://schemas.openxmlformats.org/drawingml/2006/main">
            <a:off x="952500" y="20383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66BDF1"/>
                </a:solidFill>
              </a:defRPr>
            </a:pPr>
            <a:r>
              <a:rPr sz="1350" b="1" i="0">
                <a:solidFill>
                  <a:srgbClr val="66BDF1"/>
                </a:solidFill>
              </a:rPr>
              <a:t>What people say</a:t>
            </a:r>
          </a:p>
        </p:txBody>
      </p:sp>
      <p:sp>
        <p:nvSpPr>
          <p:cNvPr id="6" name="">
            <a:extLst xmlns:a="http://schemas.openxmlformats.org/drawingml/2006/main">
              <a:ext uri="{FF2B5EF4-FFF2-40B4-BE49-F238E27FC236}">
                <a16:creationId xmlns:a16="http://schemas.microsoft.com/office/drawing/2014/main" id="{2175A2D0-849C-4460-8449-F54361024592}"/>
              </a:ext>
            </a:extLst>
          </p:cNvPr>
          <p:cNvSpPr>
            <a:spLocks xmlns:a="http://schemas.openxmlformats.org/drawingml/2006/main" noGrp="1"/>
          </p:cNvSpPr>
          <p:nvPr/>
        </p:nvSpPr>
        <p:spPr>
          <a:xfrm xmlns:a="http://schemas.openxmlformats.org/drawingml/2006/main">
            <a:off x="952500" y="2724150"/>
            <a:ext cx="114300" cy="114300"/>
          </a:xfrm>
          <a:prstGeom xmlns:a="http://schemas.openxmlformats.org/drawingml/2006/main" prst="ellipse">
            <a:avLst/>
          </a:prstGeom>
          <a:solidFill xmlns:a="http://schemas.openxmlformats.org/drawingml/2006/main">
            <a:srgbClr val="E6B15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2B46B86-040B-4D53-9242-CF683681C1EC}"/>
              </a:ext>
            </a:extLst>
          </p:cNvPr>
          <p:cNvSpPr>
            <a:spLocks xmlns:a="http://schemas.openxmlformats.org/drawingml/2006/main" noGrp="1"/>
          </p:cNvSpPr>
          <p:nvPr/>
        </p:nvSpPr>
        <p:spPr>
          <a:xfrm xmlns:a="http://schemas.openxmlformats.org/drawingml/2006/main">
            <a:off x="1238250" y="26289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i="0">
                <a:solidFill>
                  <a:srgbClr val="FFFFFF"/>
                </a:solidFill>
              </a:defRPr>
            </a:pPr>
            <a:r>
              <a:rPr sz="2100" b="1" i="0">
                <a:solidFill>
                  <a:srgbClr val="FFFFFF"/>
                </a:solidFill>
              </a:rPr>
              <a:t>“It’s too dark.”</a:t>
            </a:r>
          </a:p>
        </p:txBody>
      </p:sp>
      <p:sp>
        <p:nvSpPr>
          <p:cNvPr id="8" name="">
            <a:extLst xmlns:a="http://schemas.openxmlformats.org/drawingml/2006/main">
              <a:ext uri="{FF2B5EF4-FFF2-40B4-BE49-F238E27FC236}">
                <a16:creationId xmlns:a16="http://schemas.microsoft.com/office/drawing/2014/main" id="{4789E9E1-267C-402F-AD0C-C4E2B505BA3A}"/>
              </a:ext>
            </a:extLst>
          </p:cNvPr>
          <p:cNvSpPr>
            <a:spLocks xmlns:a="http://schemas.openxmlformats.org/drawingml/2006/main" noGrp="1"/>
          </p:cNvSpPr>
          <p:nvPr/>
        </p:nvSpPr>
        <p:spPr>
          <a:xfrm xmlns:a="http://schemas.openxmlformats.org/drawingml/2006/main">
            <a:off x="952500" y="3638550"/>
            <a:ext cx="114300" cy="114300"/>
          </a:xfrm>
          <a:prstGeom xmlns:a="http://schemas.openxmlformats.org/drawingml/2006/main" prst="ellipse">
            <a:avLst/>
          </a:prstGeom>
          <a:solidFill xmlns:a="http://schemas.openxmlformats.org/drawingml/2006/main">
            <a:srgbClr val="E6B15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E870CDD-E82F-42AC-A150-28B412A8AEF4}"/>
              </a:ext>
            </a:extLst>
          </p:cNvPr>
          <p:cNvSpPr>
            <a:spLocks xmlns:a="http://schemas.openxmlformats.org/drawingml/2006/main" noGrp="1"/>
          </p:cNvSpPr>
          <p:nvPr/>
        </p:nvSpPr>
        <p:spPr>
          <a:xfrm xmlns:a="http://schemas.openxmlformats.org/drawingml/2006/main">
            <a:off x="1238250" y="35433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i="0">
                <a:solidFill>
                  <a:srgbClr val="FFFFFF"/>
                </a:solidFill>
              </a:defRPr>
            </a:pPr>
            <a:r>
              <a:rPr sz="2100" b="1" i="0">
                <a:solidFill>
                  <a:srgbClr val="FFFFFF"/>
                </a:solidFill>
              </a:rPr>
              <a:t>“Focus on that.”</a:t>
            </a:r>
          </a:p>
        </p:txBody>
      </p:sp>
      <p:sp>
        <p:nvSpPr>
          <p:cNvPr id="10" name="">
            <a:extLst xmlns:a="http://schemas.openxmlformats.org/drawingml/2006/main">
              <a:ext uri="{FF2B5EF4-FFF2-40B4-BE49-F238E27FC236}">
                <a16:creationId xmlns:a16="http://schemas.microsoft.com/office/drawing/2014/main" id="{9C943996-87AE-457A-8918-C999CB837446}"/>
              </a:ext>
            </a:extLst>
          </p:cNvPr>
          <p:cNvSpPr>
            <a:spLocks xmlns:a="http://schemas.openxmlformats.org/drawingml/2006/main" noGrp="1"/>
          </p:cNvSpPr>
          <p:nvPr/>
        </p:nvSpPr>
        <p:spPr>
          <a:xfrm xmlns:a="http://schemas.openxmlformats.org/drawingml/2006/main">
            <a:off x="952500" y="4552950"/>
            <a:ext cx="114300" cy="114300"/>
          </a:xfrm>
          <a:prstGeom xmlns:a="http://schemas.openxmlformats.org/drawingml/2006/main" prst="ellipse">
            <a:avLst/>
          </a:prstGeom>
          <a:solidFill xmlns:a="http://schemas.openxmlformats.org/drawingml/2006/main">
            <a:srgbClr val="E6B1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5D82700-7C65-4048-B368-AD7871760F50}"/>
              </a:ext>
            </a:extLst>
          </p:cNvPr>
          <p:cNvSpPr>
            <a:spLocks xmlns:a="http://schemas.openxmlformats.org/drawingml/2006/main" noGrp="1"/>
          </p:cNvSpPr>
          <p:nvPr/>
        </p:nvSpPr>
        <p:spPr>
          <a:xfrm xmlns:a="http://schemas.openxmlformats.org/drawingml/2006/main">
            <a:off x="1238250" y="44577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i="0">
                <a:solidFill>
                  <a:srgbClr val="FFFFFF"/>
                </a:solidFill>
              </a:defRPr>
            </a:pPr>
            <a:r>
              <a:rPr sz="2100" b="1" i="0">
                <a:solidFill>
                  <a:srgbClr val="FFFFFF"/>
                </a:solidFill>
              </a:rPr>
              <a:t>“Take it in five seconds.”</a:t>
            </a:r>
          </a:p>
        </p:txBody>
      </p:sp>
      <p:sp>
        <p:nvSpPr>
          <p:cNvPr id="12" name="">
            <a:extLst xmlns:a="http://schemas.openxmlformats.org/drawingml/2006/main">
              <a:ext uri="{FF2B5EF4-FFF2-40B4-BE49-F238E27FC236}">
                <a16:creationId xmlns:a16="http://schemas.microsoft.com/office/drawing/2014/main" id="{6A66193A-FCCE-4976-A98B-C70A98FA62FA}"/>
              </a:ext>
            </a:extLst>
          </p:cNvPr>
          <p:cNvSpPr>
            <a:spLocks xmlns:a="http://schemas.openxmlformats.org/drawingml/2006/main" noGrp="1"/>
          </p:cNvSpPr>
          <p:nvPr/>
        </p:nvSpPr>
        <p:spPr>
          <a:xfrm xmlns:a="http://schemas.openxmlformats.org/drawingml/2006/main">
            <a:off x="5657850" y="2038350"/>
            <a:ext cx="56578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11318"/>
                </a:solidFill>
              </a:defRPr>
            </a:pPr>
            <a:r>
              <a:rPr sz="2625" b="1" i="0">
                <a:solidFill>
                  <a:srgbClr val="111318"/>
                </a:solidFill>
              </a:rPr>
              <a:t>The user should not have to translate that into exposure compensation, metering, focus regions and timers.</a:t>
            </a:r>
          </a:p>
        </p:txBody>
      </p:sp>
      <p:sp>
        <p:nvSpPr>
          <p:cNvPr id="13" name="">
            <a:extLst xmlns:a="http://schemas.openxmlformats.org/drawingml/2006/main">
              <a:ext uri="{FF2B5EF4-FFF2-40B4-BE49-F238E27FC236}">
                <a16:creationId xmlns:a16="http://schemas.microsoft.com/office/drawing/2014/main" id="{BC9269BB-D4FF-4C3A-9BF7-78D1F0A5D150}"/>
              </a:ext>
            </a:extLst>
          </p:cNvPr>
          <p:cNvSpPr>
            <a:spLocks xmlns:a="http://schemas.openxmlformats.org/drawingml/2006/main" noGrp="1"/>
          </p:cNvSpPr>
          <p:nvPr/>
        </p:nvSpPr>
        <p:spPr>
          <a:xfrm xmlns:a="http://schemas.openxmlformats.org/drawingml/2006/main">
            <a:off x="5657850" y="4248150"/>
            <a:ext cx="5657850" cy="1200150"/>
          </a:xfrm>
          <a:prstGeom xmlns:a="http://schemas.openxmlformats.org/drawingml/2006/main" prst="roundRect">
            <a:avLst>
              <a:gd name="adj" fmla="val 9524"/>
            </a:avLst>
          </a:prstGeom>
          <a:solidFill xmlns:a="http://schemas.openxmlformats.org/drawingml/2006/main">
            <a:srgbClr val="EAF6F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06378B3-E9C7-4C09-B604-10C07811B0E0}"/>
              </a:ext>
            </a:extLst>
          </p:cNvPr>
          <p:cNvSpPr>
            <a:spLocks xmlns:a="http://schemas.openxmlformats.org/drawingml/2006/main" noGrp="1"/>
          </p:cNvSpPr>
          <p:nvPr/>
        </p:nvSpPr>
        <p:spPr>
          <a:xfrm xmlns:a="http://schemas.openxmlformats.org/drawingml/2006/main">
            <a:off x="5962650" y="4552950"/>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76A9E"/>
                </a:solidFill>
              </a:defRPr>
            </a:pPr>
            <a:r>
              <a:rPr sz="1875" b="1" i="0">
                <a:solidFill>
                  <a:srgbClr val="176A9E"/>
                </a:solidFill>
              </a:rPr>
              <a:t>Photo Helper acts as the translator—not the photographer.</a:t>
            </a:r>
          </a:p>
        </p:txBody>
      </p:sp>
      <p:sp>
        <p:nvSpPr>
          <p:cNvPr id="15" name="">
            <a:extLst xmlns:a="http://schemas.openxmlformats.org/drawingml/2006/main">
              <a:ext uri="{FF2B5EF4-FFF2-40B4-BE49-F238E27FC236}">
                <a16:creationId xmlns:a16="http://schemas.microsoft.com/office/drawing/2014/main" id="{EEFFF18D-E1BA-4FD7-913A-1A91F20A75AE}"/>
              </a:ext>
            </a:extLst>
          </p:cNvPr>
          <p:cNvSpPr>
            <a:spLocks xmlns:a="http://schemas.openxmlformats.org/drawingml/2006/main" noGrp="1"/>
          </p:cNvSpPr>
          <p:nvPr/>
        </p:nvSpPr>
        <p:spPr>
          <a:xfrm xmlns:a="http://schemas.openxmlformats.org/drawingml/2006/main">
            <a:off x="609600" y="6496050"/>
            <a:ext cx="10972800" cy="9525"/>
          </a:xfrm>
          <a:prstGeom xmlns:a="http://schemas.openxmlformats.org/drawingml/2006/main" prst="rect">
            <a:avLst/>
          </a:prstGeom>
          <a:solidFill xmlns:a="http://schemas.openxmlformats.org/drawingml/2006/main">
            <a:srgbClr val="DDE2E8"/>
          </a:solidFill>
          <a:ln xmlns:a="http://schemas.openxmlformats.org/drawingml/2006/main" w="0">
            <a:solidFill>
              <a:srgbClr val="DDE2E8"/>
            </a:solidFill>
            <a:prstDash val="solid"/>
          </a:ln>
        </p:spPr>
      </p:sp>
      <p:sp>
        <p:nvSpPr>
          <p:cNvPr id="16" name="">
            <a:extLst xmlns:a="http://schemas.openxmlformats.org/drawingml/2006/main">
              <a:ext uri="{FF2B5EF4-FFF2-40B4-BE49-F238E27FC236}">
                <a16:creationId xmlns:a16="http://schemas.microsoft.com/office/drawing/2014/main" id="{335859E6-8036-4BD0-9073-2C2F9033D2C3}"/>
              </a:ext>
            </a:extLst>
          </p:cNvPr>
          <p:cNvSpPr>
            <a:spLocks xmlns:a="http://schemas.openxmlformats.org/drawingml/2006/main" noGrp="1"/>
          </p:cNvSpPr>
          <p:nvPr/>
        </p:nvSpPr>
        <p:spPr>
          <a:xfrm xmlns:a="http://schemas.openxmlformats.org/drawingml/2006/main">
            <a:off x="609600" y="65722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i="0">
                <a:solidFill>
                  <a:srgbClr val="8A919E"/>
                </a:solidFill>
              </a:defRPr>
            </a:pPr>
            <a:r>
              <a:rPr sz="750" b="1" i="0">
                <a:solidFill>
                  <a:srgbClr val="8A919E"/>
                </a:solidFill>
              </a:rPr>
              <a:t>PHOTO HELPER · FIVE­CENT</a:t>
            </a:r>
          </a:p>
        </p:txBody>
      </p:sp>
    </p:spTree>
    <p:extLst>
      <p:ext uri="{BB962C8B-B14F-4D97-AF65-F5344CB8AC3E}">
        <p14:creationId xmlns:p14="http://schemas.microsoft.com/office/powerpoint/2010/main" val="33943070"/>
      </p:ext>
    </p:extLst>
  </p:cSld>
</p:sld>
</file>

<file path=ppt/slides/slide3.xml><?xml version="1.0" encoding="utf-8"?>
<p:sld xmlns:p="http://schemas.openxmlformats.org/presentationml/2006/main">
  <p:cSld>
    <p:bg>
      <p:bgPr>
        <a:solidFill xmlns:a="http://schemas.openxmlformats.org/drawingml/2006/main">
          <a:srgbClr val="11131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325277E-3DC7-4C2D-A1FC-34AAEB410B05}"/>
              </a:ext>
            </a:extLst>
          </p:cNvPr>
          <p:cNvSpPr>
            <a:spLocks xmlns:a="http://schemas.openxmlformats.org/drawingml/2006/main" noGrp="1"/>
          </p:cNvSpPr>
          <p:nvPr/>
        </p:nvSpPr>
        <p:spPr>
          <a:xfrm xmlns:a="http://schemas.openxmlformats.org/drawingml/2006/main">
            <a:off x="2286000" y="2724150"/>
            <a:ext cx="762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800" b="1" i="0">
                <a:solidFill>
                  <a:srgbClr val="FFFFFF"/>
                </a:solidFill>
              </a:defRPr>
            </a:pPr>
            <a:r>
              <a:rPr sz="4800" b="1" i="0">
                <a:solidFill>
                  <a:srgbClr val="FFFFFF"/>
                </a:solidFill>
              </a:rPr>
              <a:t>DEMO</a:t>
            </a:r>
          </a:p>
        </p:txBody>
      </p:sp>
    </p:spTree>
    <p:extLst>
      <p:ext uri="{BB962C8B-B14F-4D97-AF65-F5344CB8AC3E}">
        <p14:creationId xmlns:p14="http://schemas.microsoft.com/office/powerpoint/2010/main" val="1371352817"/>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A5914AD-CEEE-419B-AA10-2B101296615E}"/>
              </a:ext>
            </a:extLst>
          </p:cNvPr>
          <p:cNvSpPr>
            <a:spLocks xmlns:a="http://schemas.openxmlformats.org/drawingml/2006/main" noGrp="1"/>
          </p:cNvSpPr>
          <p:nvPr/>
        </p:nvSpPr>
        <p:spPr>
          <a:xfrm xmlns:a="http://schemas.openxmlformats.org/drawingml/2006/main">
            <a:off x="609600" y="4000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176A9E"/>
                </a:solidFill>
              </a:defRPr>
            </a:pPr>
            <a:r>
              <a:rPr sz="975" b="1" i="0">
                <a:solidFill>
                  <a:srgbClr val="176A9E"/>
                </a:solidFill>
              </a:rPr>
              <a:t>04</a:t>
            </a:r>
          </a:p>
        </p:txBody>
      </p:sp>
      <p:sp>
        <p:nvSpPr>
          <p:cNvPr id="2" name="">
            <a:extLst xmlns:a="http://schemas.openxmlformats.org/drawingml/2006/main">
              <a:ext uri="{FF2B5EF4-FFF2-40B4-BE49-F238E27FC236}">
                <a16:creationId xmlns:a16="http://schemas.microsoft.com/office/drawing/2014/main" id="{1DB55E00-A063-445C-889C-A4B4A681E865}"/>
              </a:ext>
            </a:extLst>
          </p:cNvPr>
          <p:cNvSpPr>
            <a:spLocks xmlns:a="http://schemas.openxmlformats.org/drawingml/2006/main" noGrp="1"/>
          </p:cNvSpPr>
          <p:nvPr/>
        </p:nvSpPr>
        <p:spPr>
          <a:xfrm xmlns:a="http://schemas.openxmlformats.org/drawingml/2006/main">
            <a:off x="1162050" y="4000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E6572"/>
                </a:solidFill>
              </a:defRPr>
            </a:pPr>
            <a:r>
              <a:rPr sz="975" b="1" i="0">
                <a:solidFill>
                  <a:srgbClr val="5E6572"/>
                </a:solidFill>
              </a:rPr>
              <a:t>AGENT DESIGN</a:t>
            </a:r>
          </a:p>
        </p:txBody>
      </p:sp>
      <p:sp>
        <p:nvSpPr>
          <p:cNvPr id="3" name="">
            <a:extLst xmlns:a="http://schemas.openxmlformats.org/drawingml/2006/main">
              <a:ext uri="{FF2B5EF4-FFF2-40B4-BE49-F238E27FC236}">
                <a16:creationId xmlns:a16="http://schemas.microsoft.com/office/drawing/2014/main" id="{C6D14344-1BB8-4D61-81D2-3195FA5C4C05}"/>
              </a:ext>
            </a:extLst>
          </p:cNvPr>
          <p:cNvSpPr>
            <a:spLocks xmlns:a="http://schemas.openxmlformats.org/drawingml/2006/main" noGrp="1"/>
          </p:cNvSpPr>
          <p:nvPr/>
        </p:nvSpPr>
        <p:spPr>
          <a:xfrm xmlns:a="http://schemas.openxmlformats.org/drawingml/2006/main">
            <a:off x="609600" y="7429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i="0">
                <a:solidFill>
                  <a:srgbClr val="111318"/>
                </a:solidFill>
              </a:defRPr>
            </a:pPr>
            <a:r>
              <a:rPr sz="3150" b="1" i="0">
                <a:solidFill>
                  <a:srgbClr val="111318"/>
                </a:solidFill>
              </a:rPr>
              <a:t>The model interprets. Android retains authority.</a:t>
            </a:r>
          </a:p>
        </p:txBody>
      </p:sp>
      <p:sp>
        <p:nvSpPr>
          <p:cNvPr id="4" name="">
            <a:extLst xmlns:a="http://schemas.openxmlformats.org/drawingml/2006/main">
              <a:ext uri="{FF2B5EF4-FFF2-40B4-BE49-F238E27FC236}">
                <a16:creationId xmlns:a16="http://schemas.microsoft.com/office/drawing/2014/main" id="{B4404512-46D6-4BDC-B918-4F6D069748C4}"/>
              </a:ext>
            </a:extLst>
          </p:cNvPr>
          <p:cNvSpPr>
            <a:spLocks xmlns:a="http://schemas.openxmlformats.org/drawingml/2006/main" noGrp="1"/>
          </p:cNvSpPr>
          <p:nvPr/>
        </p:nvSpPr>
        <p:spPr>
          <a:xfrm xmlns:a="http://schemas.openxmlformats.org/drawingml/2006/main">
            <a:off x="3028950" y="2781300"/>
            <a:ext cx="342900" cy="400050"/>
          </a:xfrm>
          <a:prstGeom xmlns:a="http://schemas.openxmlformats.org/drawingml/2006/main" prst="rightArrow">
            <a:avLst/>
          </a:prstGeom>
          <a:solidFill xmlns:a="http://schemas.openxmlformats.org/drawingml/2006/main">
            <a:srgbClr val="66BDF1"/>
          </a:solidFill>
          <a:ln xmlns:a="http://schemas.openxmlformats.org/drawingml/2006/main" w="0">
            <a:solidFill>
              <a:srgbClr val="66BDF1"/>
            </a:solidFill>
            <a:prstDash val="solid"/>
          </a:ln>
        </p:spPr>
      </p:sp>
      <p:sp>
        <p:nvSpPr>
          <p:cNvPr id="5" name="">
            <a:extLst xmlns:a="http://schemas.openxmlformats.org/drawingml/2006/main">
              <a:ext uri="{FF2B5EF4-FFF2-40B4-BE49-F238E27FC236}">
                <a16:creationId xmlns:a16="http://schemas.microsoft.com/office/drawing/2014/main" id="{B9CCFC9D-24E5-4483-AC63-5F6A5714A0FA}"/>
              </a:ext>
            </a:extLst>
          </p:cNvPr>
          <p:cNvSpPr>
            <a:spLocks xmlns:a="http://schemas.openxmlformats.org/drawingml/2006/main" noGrp="1"/>
          </p:cNvSpPr>
          <p:nvPr/>
        </p:nvSpPr>
        <p:spPr>
          <a:xfrm xmlns:a="http://schemas.openxmlformats.org/drawingml/2006/main">
            <a:off x="5867400" y="2781300"/>
            <a:ext cx="342900" cy="400050"/>
          </a:xfrm>
          <a:prstGeom xmlns:a="http://schemas.openxmlformats.org/drawingml/2006/main" prst="rightArrow">
            <a:avLst/>
          </a:prstGeom>
          <a:solidFill xmlns:a="http://schemas.openxmlformats.org/drawingml/2006/main">
            <a:srgbClr val="66BDF1"/>
          </a:solidFill>
          <a:ln xmlns:a="http://schemas.openxmlformats.org/drawingml/2006/main" w="0">
            <a:solidFill>
              <a:srgbClr val="66BDF1"/>
            </a:solidFill>
            <a:prstDash val="solid"/>
          </a:ln>
        </p:spPr>
      </p:sp>
      <p:sp>
        <p:nvSpPr>
          <p:cNvPr id="6" name="">
            <a:extLst xmlns:a="http://schemas.openxmlformats.org/drawingml/2006/main">
              <a:ext uri="{FF2B5EF4-FFF2-40B4-BE49-F238E27FC236}">
                <a16:creationId xmlns:a16="http://schemas.microsoft.com/office/drawing/2014/main" id="{040FD386-C6B5-4D4D-B939-9875BE720CF3}"/>
              </a:ext>
            </a:extLst>
          </p:cNvPr>
          <p:cNvSpPr>
            <a:spLocks xmlns:a="http://schemas.openxmlformats.org/drawingml/2006/main" noGrp="1"/>
          </p:cNvSpPr>
          <p:nvPr/>
        </p:nvSpPr>
        <p:spPr>
          <a:xfrm xmlns:a="http://schemas.openxmlformats.org/drawingml/2006/main">
            <a:off x="8705850" y="2781300"/>
            <a:ext cx="342900" cy="400050"/>
          </a:xfrm>
          <a:prstGeom xmlns:a="http://schemas.openxmlformats.org/drawingml/2006/main" prst="rightArrow">
            <a:avLst/>
          </a:prstGeom>
          <a:solidFill xmlns:a="http://schemas.openxmlformats.org/drawingml/2006/main">
            <a:srgbClr val="66BDF1"/>
          </a:solidFill>
          <a:ln xmlns:a="http://schemas.openxmlformats.org/drawingml/2006/main" w="0">
            <a:solidFill>
              <a:srgbClr val="66BDF1"/>
            </a:solidFill>
            <a:prstDash val="solid"/>
          </a:ln>
        </p:spPr>
      </p:sp>
      <p:sp>
        <p:nvSpPr>
          <p:cNvPr id="7" name="">
            <a:extLst xmlns:a="http://schemas.openxmlformats.org/drawingml/2006/main">
              <a:ext uri="{FF2B5EF4-FFF2-40B4-BE49-F238E27FC236}">
                <a16:creationId xmlns:a16="http://schemas.microsoft.com/office/drawing/2014/main" id="{B7B9A439-DF85-4BA7-8517-FD6DA5A64C0E}"/>
              </a:ext>
            </a:extLst>
          </p:cNvPr>
          <p:cNvSpPr>
            <a:spLocks xmlns:a="http://schemas.openxmlformats.org/drawingml/2006/main" noGrp="1"/>
          </p:cNvSpPr>
          <p:nvPr/>
        </p:nvSpPr>
        <p:spPr>
          <a:xfrm xmlns:a="http://schemas.openxmlformats.org/drawingml/2006/main">
            <a:off x="609600" y="1943100"/>
            <a:ext cx="2457450" cy="24003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DE2E8"/>
            </a:solidFill>
            <a:prstDash val="solid"/>
          </a:ln>
        </p:spPr>
      </p:sp>
      <p:sp>
        <p:nvSpPr>
          <p:cNvPr id="8" name="">
            <a:extLst xmlns:a="http://schemas.openxmlformats.org/drawingml/2006/main">
              <a:ext uri="{FF2B5EF4-FFF2-40B4-BE49-F238E27FC236}">
                <a16:creationId xmlns:a16="http://schemas.microsoft.com/office/drawing/2014/main" id="{8CA1981B-77EA-4AC7-B0DF-CF906C3E5EE4}"/>
              </a:ext>
            </a:extLst>
          </p:cNvPr>
          <p:cNvSpPr>
            <a:spLocks xmlns:a="http://schemas.openxmlformats.org/drawingml/2006/main" noGrp="1"/>
          </p:cNvSpPr>
          <p:nvPr/>
        </p:nvSpPr>
        <p:spPr>
          <a:xfrm xmlns:a="http://schemas.openxmlformats.org/drawingml/2006/main">
            <a:off x="838200" y="2209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5E6572"/>
                </a:solidFill>
              </a:defRPr>
            </a:pPr>
            <a:r>
              <a:rPr sz="1125" b="1" i="0">
                <a:solidFill>
                  <a:srgbClr val="5E6572"/>
                </a:solidFill>
              </a:rPr>
              <a:t>1 · CONTEXT</a:t>
            </a:r>
          </a:p>
        </p:txBody>
      </p:sp>
      <p:sp>
        <p:nvSpPr>
          <p:cNvPr id="9" name="">
            <a:extLst xmlns:a="http://schemas.openxmlformats.org/drawingml/2006/main">
              <a:ext uri="{FF2B5EF4-FFF2-40B4-BE49-F238E27FC236}">
                <a16:creationId xmlns:a16="http://schemas.microsoft.com/office/drawing/2014/main" id="{3EB6E09D-4F89-4EC8-8E02-AD284AF04371}"/>
              </a:ext>
            </a:extLst>
          </p:cNvPr>
          <p:cNvSpPr>
            <a:spLocks xmlns:a="http://schemas.openxmlformats.org/drawingml/2006/main" noGrp="1"/>
          </p:cNvSpPr>
          <p:nvPr/>
        </p:nvSpPr>
        <p:spPr>
          <a:xfrm xmlns:a="http://schemas.openxmlformats.org/drawingml/2006/main">
            <a:off x="838200" y="2647950"/>
            <a:ext cx="20002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11318"/>
                </a:solidFill>
              </a:defRPr>
            </a:pPr>
            <a:r>
              <a:rPr sz="1500" b="1" i="0">
                <a:solidFill>
                  <a:srgbClr val="111318"/>
                </a:solidFill>
              </a:rPr>
              <a:t>Voice request</a:t>
            </a:r>
          </a:p>
          <a:p xmlns:a="http://schemas.openxmlformats.org/drawingml/2006/main">
            <a:pPr algn="l">
              <a:defRPr sz="1500" b="1" i="0">
                <a:solidFill>
                  <a:srgbClr val="111318"/>
                </a:solidFill>
              </a:defRPr>
            </a:pPr>
            <a:r>
              <a:rPr sz="1500" b="1" i="0">
                <a:solidFill>
                  <a:srgbClr val="111318"/>
                </a:solidFill>
              </a:rPr>
              <a:t>Clean frame</a:t>
            </a:r>
          </a:p>
          <a:p xmlns:a="http://schemas.openxmlformats.org/drawingml/2006/main">
            <a:pPr algn="l">
              <a:defRPr sz="1500" b="1" i="0">
                <a:solidFill>
                  <a:srgbClr val="111318"/>
                </a:solidFill>
              </a:defRPr>
            </a:pPr>
            <a:r>
              <a:rPr sz="1500" b="1" i="0">
                <a:solidFill>
                  <a:srgbClr val="111318"/>
                </a:solidFill>
              </a:rPr>
              <a:t>Gridded frame</a:t>
            </a:r>
          </a:p>
          <a:p xmlns:a="http://schemas.openxmlformats.org/drawingml/2006/main">
            <a:pPr algn="l">
              <a:defRPr sz="1500" b="1" i="0">
                <a:solidFill>
                  <a:srgbClr val="111318"/>
                </a:solidFill>
              </a:defRPr>
            </a:pPr>
            <a:r>
              <a:rPr sz="1500" b="1" i="0">
                <a:solidFill>
                  <a:srgbClr val="111318"/>
                </a:solidFill>
              </a:rPr>
              <a:t>Camera telemetry</a:t>
            </a:r>
          </a:p>
        </p:txBody>
      </p:sp>
      <p:sp>
        <p:nvSpPr>
          <p:cNvPr id="10" name="">
            <a:extLst xmlns:a="http://schemas.openxmlformats.org/drawingml/2006/main">
              <a:ext uri="{FF2B5EF4-FFF2-40B4-BE49-F238E27FC236}">
                <a16:creationId xmlns:a16="http://schemas.microsoft.com/office/drawing/2014/main" id="{A9DCCA1E-4820-4418-B912-9E1D8FAC98AF}"/>
              </a:ext>
            </a:extLst>
          </p:cNvPr>
          <p:cNvSpPr>
            <a:spLocks xmlns:a="http://schemas.openxmlformats.org/drawingml/2006/main" noGrp="1"/>
          </p:cNvSpPr>
          <p:nvPr/>
        </p:nvSpPr>
        <p:spPr>
          <a:xfrm xmlns:a="http://schemas.openxmlformats.org/drawingml/2006/main">
            <a:off x="3448050" y="1943100"/>
            <a:ext cx="2457450" cy="2400300"/>
          </a:xfrm>
          <a:prstGeom xmlns:a="http://schemas.openxmlformats.org/drawingml/2006/main" prst="roundRect">
            <a:avLst>
              <a:gd name="adj" fmla="val 4762"/>
            </a:avLst>
          </a:prstGeom>
          <a:solidFill xmlns:a="http://schemas.openxmlformats.org/drawingml/2006/main">
            <a:srgbClr val="EAF6FD"/>
          </a:solidFill>
          <a:ln xmlns:a="http://schemas.openxmlformats.org/drawingml/2006/main" w="9525">
            <a:solidFill>
              <a:srgbClr val="DDE2E8"/>
            </a:solidFill>
            <a:prstDash val="solid"/>
          </a:ln>
        </p:spPr>
      </p:sp>
      <p:sp>
        <p:nvSpPr>
          <p:cNvPr id="11" name="">
            <a:extLst xmlns:a="http://schemas.openxmlformats.org/drawingml/2006/main">
              <a:ext uri="{FF2B5EF4-FFF2-40B4-BE49-F238E27FC236}">
                <a16:creationId xmlns:a16="http://schemas.microsoft.com/office/drawing/2014/main" id="{5C09D486-DE3A-4107-99D7-D689436DE7F6}"/>
              </a:ext>
            </a:extLst>
          </p:cNvPr>
          <p:cNvSpPr>
            <a:spLocks xmlns:a="http://schemas.openxmlformats.org/drawingml/2006/main" noGrp="1"/>
          </p:cNvSpPr>
          <p:nvPr/>
        </p:nvSpPr>
        <p:spPr>
          <a:xfrm xmlns:a="http://schemas.openxmlformats.org/drawingml/2006/main">
            <a:off x="3676650" y="2209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176A9E"/>
                </a:solidFill>
              </a:defRPr>
            </a:pPr>
            <a:r>
              <a:rPr sz="1125" b="1" i="0">
                <a:solidFill>
                  <a:srgbClr val="176A9E"/>
                </a:solidFill>
              </a:rPr>
              <a:t>2 · QWEN PLAN</a:t>
            </a:r>
          </a:p>
        </p:txBody>
      </p:sp>
      <p:sp>
        <p:nvSpPr>
          <p:cNvPr id="12" name="">
            <a:extLst xmlns:a="http://schemas.openxmlformats.org/drawingml/2006/main">
              <a:ext uri="{FF2B5EF4-FFF2-40B4-BE49-F238E27FC236}">
                <a16:creationId xmlns:a16="http://schemas.microsoft.com/office/drawing/2014/main" id="{870FE290-9FFE-484C-B5E5-AAF067E6E5E6}"/>
              </a:ext>
            </a:extLst>
          </p:cNvPr>
          <p:cNvSpPr>
            <a:spLocks xmlns:a="http://schemas.openxmlformats.org/drawingml/2006/main" noGrp="1"/>
          </p:cNvSpPr>
          <p:nvPr/>
        </p:nvSpPr>
        <p:spPr>
          <a:xfrm xmlns:a="http://schemas.openxmlformats.org/drawingml/2006/main">
            <a:off x="3676650" y="2647950"/>
            <a:ext cx="20002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11318"/>
                </a:solidFill>
              </a:defRPr>
            </a:pPr>
            <a:r>
              <a:rPr sz="1500" b="1" i="0">
                <a:solidFill>
                  <a:srgbClr val="111318"/>
                </a:solidFill>
              </a:rPr>
              <a:t>Qwen3.7 Flash</a:t>
            </a:r>
          </a:p>
          <a:p xmlns:a="http://schemas.openxmlformats.org/drawingml/2006/main">
            <a:pPr algn="l">
              <a:defRPr sz="1500" b="1" i="0">
                <a:solidFill>
                  <a:srgbClr val="111318"/>
                </a:solidFill>
              </a:defRPr>
            </a:pPr>
            <a:r>
              <a:rPr sz="1500" b="1" i="0">
                <a:solidFill>
                  <a:srgbClr val="111318"/>
                </a:solidFill>
              </a:rPr>
              <a:t>Strict JSON</a:t>
            </a:r>
          </a:p>
          <a:p xmlns:a="http://schemas.openxmlformats.org/drawingml/2006/main">
            <a:pPr algn="l">
              <a:defRPr sz="1500" b="1" i="0">
                <a:solidFill>
                  <a:srgbClr val="111318"/>
                </a:solidFill>
              </a:defRPr>
            </a:pPr>
            <a:r>
              <a:rPr sz="1500" b="1" i="0">
                <a:solidFill>
                  <a:srgbClr val="111318"/>
                </a:solidFill>
              </a:rPr>
              <a:t>≤ 8 ordered actions</a:t>
            </a:r>
          </a:p>
          <a:p xmlns:a="http://schemas.openxmlformats.org/drawingml/2006/main">
            <a:pPr algn="l">
              <a:defRPr sz="1500" b="1" i="0">
                <a:solidFill>
                  <a:srgbClr val="111318"/>
                </a:solidFill>
              </a:defRPr>
            </a:pPr>
            <a:r>
              <a:rPr sz="1500" b="1" i="0">
                <a:solidFill>
                  <a:srgbClr val="111318"/>
                </a:solidFill>
              </a:rPr>
              <a:t>No free-form controls</a:t>
            </a:r>
          </a:p>
        </p:txBody>
      </p:sp>
      <p:sp>
        <p:nvSpPr>
          <p:cNvPr id="13" name="">
            <a:extLst xmlns:a="http://schemas.openxmlformats.org/drawingml/2006/main">
              <a:ext uri="{FF2B5EF4-FFF2-40B4-BE49-F238E27FC236}">
                <a16:creationId xmlns:a16="http://schemas.microsoft.com/office/drawing/2014/main" id="{8305F0DF-49C1-4351-937D-D088B4CC8716}"/>
              </a:ext>
            </a:extLst>
          </p:cNvPr>
          <p:cNvSpPr>
            <a:spLocks xmlns:a="http://schemas.openxmlformats.org/drawingml/2006/main" noGrp="1"/>
          </p:cNvSpPr>
          <p:nvPr/>
        </p:nvSpPr>
        <p:spPr>
          <a:xfrm xmlns:a="http://schemas.openxmlformats.org/drawingml/2006/main">
            <a:off x="6286500" y="1943100"/>
            <a:ext cx="2457450" cy="24003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DE2E8"/>
            </a:solidFill>
            <a:prstDash val="solid"/>
          </a:ln>
        </p:spPr>
      </p:sp>
      <p:sp>
        <p:nvSpPr>
          <p:cNvPr id="14" name="">
            <a:extLst xmlns:a="http://schemas.openxmlformats.org/drawingml/2006/main">
              <a:ext uri="{FF2B5EF4-FFF2-40B4-BE49-F238E27FC236}">
                <a16:creationId xmlns:a16="http://schemas.microsoft.com/office/drawing/2014/main" id="{4DD5FAB0-D3A3-41D9-95B4-DD9959694FDB}"/>
              </a:ext>
            </a:extLst>
          </p:cNvPr>
          <p:cNvSpPr>
            <a:spLocks xmlns:a="http://schemas.openxmlformats.org/drawingml/2006/main" noGrp="1"/>
          </p:cNvSpPr>
          <p:nvPr/>
        </p:nvSpPr>
        <p:spPr>
          <a:xfrm xmlns:a="http://schemas.openxmlformats.org/drawingml/2006/main">
            <a:off x="6515100" y="2209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5E6572"/>
                </a:solidFill>
              </a:defRPr>
            </a:pPr>
            <a:r>
              <a:rPr sz="1125" b="1" i="0">
                <a:solidFill>
                  <a:srgbClr val="5E6572"/>
                </a:solidFill>
              </a:rPr>
              <a:t>3 · VALIDATE</a:t>
            </a:r>
          </a:p>
        </p:txBody>
      </p:sp>
      <p:sp>
        <p:nvSpPr>
          <p:cNvPr id="15" name="">
            <a:extLst xmlns:a="http://schemas.openxmlformats.org/drawingml/2006/main">
              <a:ext uri="{FF2B5EF4-FFF2-40B4-BE49-F238E27FC236}">
                <a16:creationId xmlns:a16="http://schemas.microsoft.com/office/drawing/2014/main" id="{DE3B9179-1AB8-4905-8A80-3DF876A177DC}"/>
              </a:ext>
            </a:extLst>
          </p:cNvPr>
          <p:cNvSpPr>
            <a:spLocks xmlns:a="http://schemas.openxmlformats.org/drawingml/2006/main" noGrp="1"/>
          </p:cNvSpPr>
          <p:nvPr/>
        </p:nvSpPr>
        <p:spPr>
          <a:xfrm xmlns:a="http://schemas.openxmlformats.org/drawingml/2006/main">
            <a:off x="6515100" y="2647950"/>
            <a:ext cx="20002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11318"/>
                </a:solidFill>
              </a:defRPr>
            </a:pPr>
            <a:r>
              <a:rPr sz="1500" b="1" i="0">
                <a:solidFill>
                  <a:srgbClr val="111318"/>
                </a:solidFill>
              </a:rPr>
              <a:t>Allowlist + schema</a:t>
            </a:r>
          </a:p>
          <a:p xmlns:a="http://schemas.openxmlformats.org/drawingml/2006/main">
            <a:pPr algn="l">
              <a:defRPr sz="1500" b="1" i="0">
                <a:solidFill>
                  <a:srgbClr val="111318"/>
                </a:solidFill>
              </a:defRPr>
            </a:pPr>
            <a:r>
              <a:rPr sz="1500" b="1" i="0">
                <a:solidFill>
                  <a:srgbClr val="111318"/>
                </a:solidFill>
              </a:rPr>
              <a:t>Capabilities</a:t>
            </a:r>
          </a:p>
          <a:p xmlns:a="http://schemas.openxmlformats.org/drawingml/2006/main">
            <a:pPr algn="l">
              <a:defRPr sz="1500" b="1" i="0">
                <a:solidFill>
                  <a:srgbClr val="111318"/>
                </a:solidFill>
              </a:defRPr>
            </a:pPr>
            <a:r>
              <a:rPr sz="1500" b="1" i="0">
                <a:solidFill>
                  <a:srgbClr val="111318"/>
                </a:solidFill>
              </a:rPr>
              <a:t>Lens / frame / session</a:t>
            </a:r>
          </a:p>
          <a:p xmlns:a="http://schemas.openxmlformats.org/drawingml/2006/main">
            <a:pPr algn="l">
              <a:defRPr sz="1500" b="1" i="0">
                <a:solidFill>
                  <a:srgbClr val="111318"/>
                </a:solidFill>
              </a:defRPr>
            </a:pPr>
            <a:r>
              <a:rPr sz="1500" b="1" i="0">
                <a:solidFill>
                  <a:srgbClr val="111318"/>
                </a:solidFill>
              </a:rPr>
              <a:t>Approval gates</a:t>
            </a:r>
          </a:p>
        </p:txBody>
      </p:sp>
      <p:sp>
        <p:nvSpPr>
          <p:cNvPr id="16" name="">
            <a:extLst xmlns:a="http://schemas.openxmlformats.org/drawingml/2006/main">
              <a:ext uri="{FF2B5EF4-FFF2-40B4-BE49-F238E27FC236}">
                <a16:creationId xmlns:a16="http://schemas.microsoft.com/office/drawing/2014/main" id="{69E51DBD-0AB3-4DAB-BB85-6BCD02F72B9B}"/>
              </a:ext>
            </a:extLst>
          </p:cNvPr>
          <p:cNvSpPr>
            <a:spLocks xmlns:a="http://schemas.openxmlformats.org/drawingml/2006/main" noGrp="1"/>
          </p:cNvSpPr>
          <p:nvPr/>
        </p:nvSpPr>
        <p:spPr>
          <a:xfrm xmlns:a="http://schemas.openxmlformats.org/drawingml/2006/main">
            <a:off x="9124950" y="1943100"/>
            <a:ext cx="2457450" cy="2400300"/>
          </a:xfrm>
          <a:prstGeom xmlns:a="http://schemas.openxmlformats.org/drawingml/2006/main" prst="roundRect">
            <a:avLst>
              <a:gd name="adj" fmla="val 4762"/>
            </a:avLst>
          </a:prstGeom>
          <a:solidFill xmlns:a="http://schemas.openxmlformats.org/drawingml/2006/main">
            <a:srgbClr val="FFF4E0"/>
          </a:solidFill>
          <a:ln xmlns:a="http://schemas.openxmlformats.org/drawingml/2006/main" w="9525">
            <a:solidFill>
              <a:srgbClr val="DDE2E8"/>
            </a:solidFill>
            <a:prstDash val="solid"/>
          </a:ln>
        </p:spPr>
      </p:sp>
      <p:sp>
        <p:nvSpPr>
          <p:cNvPr id="17" name="">
            <a:extLst xmlns:a="http://schemas.openxmlformats.org/drawingml/2006/main">
              <a:ext uri="{FF2B5EF4-FFF2-40B4-BE49-F238E27FC236}">
                <a16:creationId xmlns:a16="http://schemas.microsoft.com/office/drawing/2014/main" id="{39615803-AA2D-4430-AC12-21E205C1A801}"/>
              </a:ext>
            </a:extLst>
          </p:cNvPr>
          <p:cNvSpPr>
            <a:spLocks xmlns:a="http://schemas.openxmlformats.org/drawingml/2006/main" noGrp="1"/>
          </p:cNvSpPr>
          <p:nvPr/>
        </p:nvSpPr>
        <p:spPr>
          <a:xfrm xmlns:a="http://schemas.openxmlformats.org/drawingml/2006/main">
            <a:off x="9353550" y="2209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5E6572"/>
                </a:solidFill>
              </a:defRPr>
            </a:pPr>
            <a:r>
              <a:rPr sz="1125" b="1" i="0">
                <a:solidFill>
                  <a:srgbClr val="5E6572"/>
                </a:solidFill>
              </a:rPr>
              <a:t>4 · EXECUTE</a:t>
            </a:r>
          </a:p>
        </p:txBody>
      </p:sp>
      <p:sp>
        <p:nvSpPr>
          <p:cNvPr id="18" name="">
            <a:extLst xmlns:a="http://schemas.openxmlformats.org/drawingml/2006/main">
              <a:ext uri="{FF2B5EF4-FFF2-40B4-BE49-F238E27FC236}">
                <a16:creationId xmlns:a16="http://schemas.microsoft.com/office/drawing/2014/main" id="{759091F7-CEAA-4AB4-BBCB-4AEDD5182921}"/>
              </a:ext>
            </a:extLst>
          </p:cNvPr>
          <p:cNvSpPr>
            <a:spLocks xmlns:a="http://schemas.openxmlformats.org/drawingml/2006/main" noGrp="1"/>
          </p:cNvSpPr>
          <p:nvPr/>
        </p:nvSpPr>
        <p:spPr>
          <a:xfrm xmlns:a="http://schemas.openxmlformats.org/drawingml/2006/main">
            <a:off x="9353550" y="2647950"/>
            <a:ext cx="20002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11318"/>
                </a:solidFill>
              </a:defRPr>
            </a:pPr>
            <a:r>
              <a:rPr sz="1500" b="1" i="0">
                <a:solidFill>
                  <a:srgbClr val="111318"/>
                </a:solidFill>
              </a:rPr>
              <a:t>CameraX / Camera2</a:t>
            </a:r>
          </a:p>
          <a:p xmlns:a="http://schemas.openxmlformats.org/drawingml/2006/main">
            <a:pPr algn="l">
              <a:defRPr sz="1500" b="1" i="0">
                <a:solidFill>
                  <a:srgbClr val="111318"/>
                </a:solidFill>
              </a:defRPr>
            </a:pPr>
            <a:r>
              <a:rPr sz="1500" b="1" i="0">
                <a:solidFill>
                  <a:srgbClr val="111318"/>
                </a:solidFill>
              </a:rPr>
              <a:t>Focus + settings</a:t>
            </a:r>
          </a:p>
          <a:p xmlns:a="http://schemas.openxmlformats.org/drawingml/2006/main">
            <a:pPr algn="l">
              <a:defRPr sz="1500" b="1" i="0">
                <a:solidFill>
                  <a:srgbClr val="111318"/>
                </a:solidFill>
              </a:defRPr>
            </a:pPr>
            <a:r>
              <a:rPr sz="1500" b="1" i="0">
                <a:solidFill>
                  <a:srgbClr val="111318"/>
                </a:solidFill>
              </a:rPr>
              <a:t>Capture</a:t>
            </a:r>
          </a:p>
          <a:p xmlns:a="http://schemas.openxmlformats.org/drawingml/2006/main">
            <a:pPr algn="l">
              <a:defRPr sz="1500" b="1" i="0">
                <a:solidFill>
                  <a:srgbClr val="111318"/>
                </a:solidFill>
              </a:defRPr>
            </a:pPr>
            <a:r>
              <a:rPr sz="1500" b="1" i="0">
                <a:solidFill>
                  <a:srgbClr val="111318"/>
                </a:solidFill>
              </a:rPr>
              <a:t>Rollback / Reset</a:t>
            </a:r>
          </a:p>
        </p:txBody>
      </p:sp>
      <p:sp>
        <p:nvSpPr>
          <p:cNvPr id="19" name="">
            <a:extLst xmlns:a="http://schemas.openxmlformats.org/drawingml/2006/main">
              <a:ext uri="{FF2B5EF4-FFF2-40B4-BE49-F238E27FC236}">
                <a16:creationId xmlns:a16="http://schemas.microsoft.com/office/drawing/2014/main" id="{B09446F8-107E-4225-B207-F0D98ABCDFD4}"/>
              </a:ext>
            </a:extLst>
          </p:cNvPr>
          <p:cNvSpPr>
            <a:spLocks xmlns:a="http://schemas.openxmlformats.org/drawingml/2006/main" noGrp="1"/>
          </p:cNvSpPr>
          <p:nvPr/>
        </p:nvSpPr>
        <p:spPr>
          <a:xfrm xmlns:a="http://schemas.openxmlformats.org/drawingml/2006/main">
            <a:off x="609600" y="47244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E6572"/>
                </a:solidFill>
              </a:defRPr>
            </a:pPr>
            <a:r>
              <a:rPr sz="975" b="1" i="0">
                <a:solidFill>
                  <a:srgbClr val="5E6572"/>
                </a:solidFill>
              </a:rPr>
              <a:t>THE ONLY ACTIONS THE MODEL MAY PROPOSE</a:t>
            </a:r>
          </a:p>
        </p:txBody>
      </p:sp>
      <p:sp>
        <p:nvSpPr>
          <p:cNvPr id="20" name="">
            <a:extLst xmlns:a="http://schemas.openxmlformats.org/drawingml/2006/main">
              <a:ext uri="{FF2B5EF4-FFF2-40B4-BE49-F238E27FC236}">
                <a16:creationId xmlns:a16="http://schemas.microsoft.com/office/drawing/2014/main" id="{66A30BA2-FAAC-4917-BD1D-479FBCBEB51B}"/>
              </a:ext>
            </a:extLst>
          </p:cNvPr>
          <p:cNvSpPr>
            <a:spLocks xmlns:a="http://schemas.openxmlformats.org/drawingml/2006/main" noGrp="1"/>
          </p:cNvSpPr>
          <p:nvPr/>
        </p:nvSpPr>
        <p:spPr>
          <a:xfrm xmlns:a="http://schemas.openxmlformats.org/drawingml/2006/main">
            <a:off x="609600" y="5067300"/>
            <a:ext cx="1638300" cy="495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DE2E8"/>
            </a:solidFill>
            <a:prstDash val="solid"/>
          </a:ln>
        </p:spPr>
      </p:sp>
      <p:sp>
        <p:nvSpPr>
          <p:cNvPr id="21" name="">
            <a:extLst xmlns:a="http://schemas.openxmlformats.org/drawingml/2006/main">
              <a:ext uri="{FF2B5EF4-FFF2-40B4-BE49-F238E27FC236}">
                <a16:creationId xmlns:a16="http://schemas.microsoft.com/office/drawing/2014/main" id="{0A981C27-5B6E-4397-A0B3-2654AABE9707}"/>
              </a:ext>
            </a:extLst>
          </p:cNvPr>
          <p:cNvSpPr>
            <a:spLocks xmlns:a="http://schemas.openxmlformats.org/drawingml/2006/main" noGrp="1"/>
          </p:cNvSpPr>
          <p:nvPr/>
        </p:nvSpPr>
        <p:spPr>
          <a:xfrm xmlns:a="http://schemas.openxmlformats.org/drawingml/2006/main">
            <a:off x="685800" y="5219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111318"/>
                </a:solidFill>
              </a:defRPr>
            </a:pPr>
            <a:r>
              <a:rPr sz="975" b="1" i="0">
                <a:solidFill>
                  <a:srgbClr val="111318"/>
                </a:solidFill>
              </a:rPr>
              <a:t>ADJUST</a:t>
            </a:r>
          </a:p>
        </p:txBody>
      </p:sp>
      <p:sp>
        <p:nvSpPr>
          <p:cNvPr id="22" name="">
            <a:extLst xmlns:a="http://schemas.openxmlformats.org/drawingml/2006/main">
              <a:ext uri="{FF2B5EF4-FFF2-40B4-BE49-F238E27FC236}">
                <a16:creationId xmlns:a16="http://schemas.microsoft.com/office/drawing/2014/main" id="{9EB5DBFF-F07A-49D4-8F6F-54BB007DF223}"/>
              </a:ext>
            </a:extLst>
          </p:cNvPr>
          <p:cNvSpPr>
            <a:spLocks xmlns:a="http://schemas.openxmlformats.org/drawingml/2006/main" noGrp="1"/>
          </p:cNvSpPr>
          <p:nvPr/>
        </p:nvSpPr>
        <p:spPr>
          <a:xfrm xmlns:a="http://schemas.openxmlformats.org/drawingml/2006/main">
            <a:off x="2419350" y="5067300"/>
            <a:ext cx="1638300" cy="495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DE2E8"/>
            </a:solidFill>
            <a:prstDash val="solid"/>
          </a:ln>
        </p:spPr>
      </p:sp>
      <p:sp>
        <p:nvSpPr>
          <p:cNvPr id="23" name="">
            <a:extLst xmlns:a="http://schemas.openxmlformats.org/drawingml/2006/main">
              <a:ext uri="{FF2B5EF4-FFF2-40B4-BE49-F238E27FC236}">
                <a16:creationId xmlns:a16="http://schemas.microsoft.com/office/drawing/2014/main" id="{D3D980F1-46D9-4857-B500-B035E18ED66B}"/>
              </a:ext>
            </a:extLst>
          </p:cNvPr>
          <p:cNvSpPr>
            <a:spLocks xmlns:a="http://schemas.openxmlformats.org/drawingml/2006/main" noGrp="1"/>
          </p:cNvSpPr>
          <p:nvPr/>
        </p:nvSpPr>
        <p:spPr>
          <a:xfrm xmlns:a="http://schemas.openxmlformats.org/drawingml/2006/main">
            <a:off x="2495550" y="5219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111318"/>
                </a:solidFill>
              </a:defRPr>
            </a:pPr>
            <a:r>
              <a:rPr sz="975" b="1" i="0">
                <a:solidFill>
                  <a:srgbClr val="111318"/>
                </a:solidFill>
              </a:rPr>
              <a:t>SET CAMERA</a:t>
            </a:r>
          </a:p>
        </p:txBody>
      </p:sp>
      <p:sp>
        <p:nvSpPr>
          <p:cNvPr id="24" name="">
            <a:extLst xmlns:a="http://schemas.openxmlformats.org/drawingml/2006/main">
              <a:ext uri="{FF2B5EF4-FFF2-40B4-BE49-F238E27FC236}">
                <a16:creationId xmlns:a16="http://schemas.microsoft.com/office/drawing/2014/main" id="{EEE84D2E-69F7-4B7B-B342-4916466378E4}"/>
              </a:ext>
            </a:extLst>
          </p:cNvPr>
          <p:cNvSpPr>
            <a:spLocks xmlns:a="http://schemas.openxmlformats.org/drawingml/2006/main" noGrp="1"/>
          </p:cNvSpPr>
          <p:nvPr/>
        </p:nvSpPr>
        <p:spPr>
          <a:xfrm xmlns:a="http://schemas.openxmlformats.org/drawingml/2006/main">
            <a:off x="4229100" y="5067300"/>
            <a:ext cx="1638300" cy="495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DE2E8"/>
            </a:solidFill>
            <a:prstDash val="solid"/>
          </a:ln>
        </p:spPr>
      </p:sp>
      <p:sp>
        <p:nvSpPr>
          <p:cNvPr id="25" name="">
            <a:extLst xmlns:a="http://schemas.openxmlformats.org/drawingml/2006/main">
              <a:ext uri="{FF2B5EF4-FFF2-40B4-BE49-F238E27FC236}">
                <a16:creationId xmlns:a16="http://schemas.microsoft.com/office/drawing/2014/main" id="{57E485CF-9A3A-4E35-93CB-6CF18177F692}"/>
              </a:ext>
            </a:extLst>
          </p:cNvPr>
          <p:cNvSpPr>
            <a:spLocks xmlns:a="http://schemas.openxmlformats.org/drawingml/2006/main" noGrp="1"/>
          </p:cNvSpPr>
          <p:nvPr/>
        </p:nvSpPr>
        <p:spPr>
          <a:xfrm xmlns:a="http://schemas.openxmlformats.org/drawingml/2006/main">
            <a:off x="4305300" y="5219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111318"/>
                </a:solidFill>
              </a:defRPr>
            </a:pPr>
            <a:r>
              <a:rPr sz="975" b="1" i="0">
                <a:solidFill>
                  <a:srgbClr val="111318"/>
                </a:solidFill>
              </a:rPr>
              <a:t>SET FLASH</a:t>
            </a:r>
          </a:p>
        </p:txBody>
      </p:sp>
      <p:sp>
        <p:nvSpPr>
          <p:cNvPr id="26" name="">
            <a:extLst xmlns:a="http://schemas.openxmlformats.org/drawingml/2006/main">
              <a:ext uri="{FF2B5EF4-FFF2-40B4-BE49-F238E27FC236}">
                <a16:creationId xmlns:a16="http://schemas.microsoft.com/office/drawing/2014/main" id="{1704A7E6-7904-4A79-BD96-CA5410B2A2FB}"/>
              </a:ext>
            </a:extLst>
          </p:cNvPr>
          <p:cNvSpPr>
            <a:spLocks xmlns:a="http://schemas.openxmlformats.org/drawingml/2006/main" noGrp="1"/>
          </p:cNvSpPr>
          <p:nvPr/>
        </p:nvSpPr>
        <p:spPr>
          <a:xfrm xmlns:a="http://schemas.openxmlformats.org/drawingml/2006/main">
            <a:off x="6038850" y="5067300"/>
            <a:ext cx="1638300" cy="495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DE2E8"/>
            </a:solidFill>
            <a:prstDash val="solid"/>
          </a:ln>
        </p:spPr>
      </p:sp>
      <p:sp>
        <p:nvSpPr>
          <p:cNvPr id="27" name="">
            <a:extLst xmlns:a="http://schemas.openxmlformats.org/drawingml/2006/main">
              <a:ext uri="{FF2B5EF4-FFF2-40B4-BE49-F238E27FC236}">
                <a16:creationId xmlns:a16="http://schemas.microsoft.com/office/drawing/2014/main" id="{2E995E1A-E856-4631-B23E-67A7822745B6}"/>
              </a:ext>
            </a:extLst>
          </p:cNvPr>
          <p:cNvSpPr>
            <a:spLocks xmlns:a="http://schemas.openxmlformats.org/drawingml/2006/main" noGrp="1"/>
          </p:cNvSpPr>
          <p:nvPr/>
        </p:nvSpPr>
        <p:spPr>
          <a:xfrm xmlns:a="http://schemas.openxmlformats.org/drawingml/2006/main">
            <a:off x="6115050" y="5219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111318"/>
                </a:solidFill>
              </a:defRPr>
            </a:pPr>
            <a:r>
              <a:rPr sz="975" b="1" i="0">
                <a:solidFill>
                  <a:srgbClr val="111318"/>
                </a:solidFill>
              </a:rPr>
              <a:t>FOCUS CELL</a:t>
            </a:r>
          </a:p>
        </p:txBody>
      </p:sp>
      <p:sp>
        <p:nvSpPr>
          <p:cNvPr id="28" name="">
            <a:extLst xmlns:a="http://schemas.openxmlformats.org/drawingml/2006/main">
              <a:ext uri="{FF2B5EF4-FFF2-40B4-BE49-F238E27FC236}">
                <a16:creationId xmlns:a16="http://schemas.microsoft.com/office/drawing/2014/main" id="{3E557698-E3D2-4740-8922-9F5B9520C14F}"/>
              </a:ext>
            </a:extLst>
          </p:cNvPr>
          <p:cNvSpPr>
            <a:spLocks xmlns:a="http://schemas.openxmlformats.org/drawingml/2006/main" noGrp="1"/>
          </p:cNvSpPr>
          <p:nvPr/>
        </p:nvSpPr>
        <p:spPr>
          <a:xfrm xmlns:a="http://schemas.openxmlformats.org/drawingml/2006/main">
            <a:off x="7848600" y="5067300"/>
            <a:ext cx="1638300" cy="4953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DE2E8"/>
            </a:solidFill>
            <a:prstDash val="solid"/>
          </a:ln>
        </p:spPr>
      </p:sp>
      <p:sp>
        <p:nvSpPr>
          <p:cNvPr id="29" name="">
            <a:extLst xmlns:a="http://schemas.openxmlformats.org/drawingml/2006/main">
              <a:ext uri="{FF2B5EF4-FFF2-40B4-BE49-F238E27FC236}">
                <a16:creationId xmlns:a16="http://schemas.microsoft.com/office/drawing/2014/main" id="{6F43A478-4DAE-4290-9FF3-3A8AFB65036B}"/>
              </a:ext>
            </a:extLst>
          </p:cNvPr>
          <p:cNvSpPr>
            <a:spLocks xmlns:a="http://schemas.openxmlformats.org/drawingml/2006/main" noGrp="1"/>
          </p:cNvSpPr>
          <p:nvPr/>
        </p:nvSpPr>
        <p:spPr>
          <a:xfrm xmlns:a="http://schemas.openxmlformats.org/drawingml/2006/main">
            <a:off x="7924800" y="5219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111318"/>
                </a:solidFill>
              </a:defRPr>
            </a:pPr>
            <a:r>
              <a:rPr sz="975" b="1" i="0">
                <a:solidFill>
                  <a:srgbClr val="111318"/>
                </a:solidFill>
              </a:rPr>
              <a:t>RESET</a:t>
            </a:r>
          </a:p>
        </p:txBody>
      </p:sp>
      <p:sp>
        <p:nvSpPr>
          <p:cNvPr id="30" name="">
            <a:extLst xmlns:a="http://schemas.openxmlformats.org/drawingml/2006/main">
              <a:ext uri="{FF2B5EF4-FFF2-40B4-BE49-F238E27FC236}">
                <a16:creationId xmlns:a16="http://schemas.microsoft.com/office/drawing/2014/main" id="{F3C529BF-9001-454F-9C52-240D47B84F7F}"/>
              </a:ext>
            </a:extLst>
          </p:cNvPr>
          <p:cNvSpPr>
            <a:spLocks xmlns:a="http://schemas.openxmlformats.org/drawingml/2006/main" noGrp="1"/>
          </p:cNvSpPr>
          <p:nvPr/>
        </p:nvSpPr>
        <p:spPr>
          <a:xfrm xmlns:a="http://schemas.openxmlformats.org/drawingml/2006/main">
            <a:off x="9658350" y="5067300"/>
            <a:ext cx="1638300" cy="495300"/>
          </a:xfrm>
          <a:prstGeom xmlns:a="http://schemas.openxmlformats.org/drawingml/2006/main" prst="roundRect">
            <a:avLst>
              <a:gd name="adj" fmla="val 50000"/>
            </a:avLst>
          </a:prstGeom>
          <a:solidFill xmlns:a="http://schemas.openxmlformats.org/drawingml/2006/main">
            <a:srgbClr val="11131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53ACAED-AE8E-4854-9024-F53C9167F61F}"/>
              </a:ext>
            </a:extLst>
          </p:cNvPr>
          <p:cNvSpPr>
            <a:spLocks xmlns:a="http://schemas.openxmlformats.org/drawingml/2006/main" noGrp="1"/>
          </p:cNvSpPr>
          <p:nvPr/>
        </p:nvSpPr>
        <p:spPr>
          <a:xfrm xmlns:a="http://schemas.openxmlformats.org/drawingml/2006/main">
            <a:off x="9734550" y="5219700"/>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CAPTURE</a:t>
            </a:r>
          </a:p>
        </p:txBody>
      </p:sp>
      <p:sp>
        <p:nvSpPr>
          <p:cNvPr id="32" name="">
            <a:extLst xmlns:a="http://schemas.openxmlformats.org/drawingml/2006/main">
              <a:ext uri="{FF2B5EF4-FFF2-40B4-BE49-F238E27FC236}">
                <a16:creationId xmlns:a16="http://schemas.microsoft.com/office/drawing/2014/main" id="{3F60CB35-48E4-465D-B894-FB3A8BFFEE64}"/>
              </a:ext>
            </a:extLst>
          </p:cNvPr>
          <p:cNvSpPr>
            <a:spLocks xmlns:a="http://schemas.openxmlformats.org/drawingml/2006/main" noGrp="1"/>
          </p:cNvSpPr>
          <p:nvPr/>
        </p:nvSpPr>
        <p:spPr>
          <a:xfrm xmlns:a="http://schemas.openxmlformats.org/drawingml/2006/main">
            <a:off x="609600" y="5810250"/>
            <a:ext cx="10972800" cy="457200"/>
          </a:xfrm>
          <a:prstGeom xmlns:a="http://schemas.openxmlformats.org/drawingml/2006/main" prst="roundRect">
            <a:avLst>
              <a:gd name="adj" fmla="val 16667"/>
            </a:avLst>
          </a:prstGeom>
          <a:solidFill xmlns:a="http://schemas.openxmlformats.org/drawingml/2006/main">
            <a:srgbClr val="11131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0236B20-3EA2-46D3-BB6F-D0BFED863AC4}"/>
              </a:ext>
            </a:extLst>
          </p:cNvPr>
          <p:cNvSpPr>
            <a:spLocks xmlns:a="http://schemas.openxmlformats.org/drawingml/2006/main" noGrp="1"/>
          </p:cNvSpPr>
          <p:nvPr/>
        </p:nvSpPr>
        <p:spPr>
          <a:xfrm xmlns:a="http://schemas.openxmlformats.org/drawingml/2006/main">
            <a:off x="800100" y="5943600"/>
            <a:ext cx="1059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i="0">
                <a:solidFill>
                  <a:srgbClr val="FFFFFF"/>
                </a:solidFill>
              </a:defRPr>
            </a:pPr>
            <a:r>
              <a:rPr sz="1125" b="1" i="0">
                <a:solidFill>
                  <a:srgbClr val="FFFFFF"/>
                </a:solidFill>
              </a:rPr>
              <a:t>Privacy boundary: audio stays on-device; hosted interpretation receives reduced still frames, not a preview stream.</a:t>
            </a:r>
          </a:p>
        </p:txBody>
      </p:sp>
      <p:sp>
        <p:nvSpPr>
          <p:cNvPr id="34" name="">
            <a:extLst xmlns:a="http://schemas.openxmlformats.org/drawingml/2006/main">
              <a:ext uri="{FF2B5EF4-FFF2-40B4-BE49-F238E27FC236}">
                <a16:creationId xmlns:a16="http://schemas.microsoft.com/office/drawing/2014/main" id="{EFF9103E-9352-4101-AB26-0A81C2A0BB14}"/>
              </a:ext>
            </a:extLst>
          </p:cNvPr>
          <p:cNvSpPr>
            <a:spLocks xmlns:a="http://schemas.openxmlformats.org/drawingml/2006/main" noGrp="1"/>
          </p:cNvSpPr>
          <p:nvPr/>
        </p:nvSpPr>
        <p:spPr>
          <a:xfrm xmlns:a="http://schemas.openxmlformats.org/drawingml/2006/main">
            <a:off x="609600" y="6496050"/>
            <a:ext cx="10972800" cy="9525"/>
          </a:xfrm>
          <a:prstGeom xmlns:a="http://schemas.openxmlformats.org/drawingml/2006/main" prst="rect">
            <a:avLst/>
          </a:prstGeom>
          <a:solidFill xmlns:a="http://schemas.openxmlformats.org/drawingml/2006/main">
            <a:srgbClr val="DDE2E8"/>
          </a:solidFill>
          <a:ln xmlns:a="http://schemas.openxmlformats.org/drawingml/2006/main" w="0">
            <a:solidFill>
              <a:srgbClr val="DDE2E8"/>
            </a:solidFill>
            <a:prstDash val="solid"/>
          </a:ln>
        </p:spPr>
      </p:sp>
      <p:sp>
        <p:nvSpPr>
          <p:cNvPr id="35" name="">
            <a:extLst xmlns:a="http://schemas.openxmlformats.org/drawingml/2006/main">
              <a:ext uri="{FF2B5EF4-FFF2-40B4-BE49-F238E27FC236}">
                <a16:creationId xmlns:a16="http://schemas.microsoft.com/office/drawing/2014/main" id="{CDF6DA88-B910-430D-9231-DF8D443367B4}"/>
              </a:ext>
            </a:extLst>
          </p:cNvPr>
          <p:cNvSpPr>
            <a:spLocks xmlns:a="http://schemas.openxmlformats.org/drawingml/2006/main" noGrp="1"/>
          </p:cNvSpPr>
          <p:nvPr/>
        </p:nvSpPr>
        <p:spPr>
          <a:xfrm xmlns:a="http://schemas.openxmlformats.org/drawingml/2006/main">
            <a:off x="609600" y="65722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i="0">
                <a:solidFill>
                  <a:srgbClr val="8A919E"/>
                </a:solidFill>
              </a:defRPr>
            </a:pPr>
            <a:r>
              <a:rPr sz="750" b="1" i="0">
                <a:solidFill>
                  <a:srgbClr val="8A919E"/>
                </a:solidFill>
              </a:rPr>
              <a:t>PHOTO HELPER · FIVE­CENT</a:t>
            </a:r>
          </a:p>
        </p:txBody>
      </p:sp>
    </p:spTree>
    <p:extLst>
      <p:ext uri="{BB962C8B-B14F-4D97-AF65-F5344CB8AC3E}">
        <p14:creationId xmlns:p14="http://schemas.microsoft.com/office/powerpoint/2010/main" val="540231654"/>
      </p:ext>
    </p:extLst>
  </p:cSld>
</p:sld>
</file>

<file path=ppt/slides/slide5.xml><?xml version="1.0" encoding="utf-8"?>
<p:sld xmlns:p="http://schemas.openxmlformats.org/presentationml/2006/main">
  <p:cSld>
    <p:bg>
      <p:bgPr>
        <a:solidFill xmlns:a="http://schemas.openxmlformats.org/drawingml/2006/main">
          <a:srgbClr val="11131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C50DA33-4038-4DA9-B28E-EE502FFDC206}"/>
              </a:ext>
            </a:extLst>
          </p:cNvPr>
          <p:cNvSpPr>
            <a:spLocks xmlns:a="http://schemas.openxmlformats.org/drawingml/2006/main" noGrp="1"/>
          </p:cNvSpPr>
          <p:nvPr/>
        </p:nvSpPr>
        <p:spPr>
          <a:xfrm xmlns:a="http://schemas.openxmlformats.org/drawingml/2006/main">
            <a:off x="609600" y="4000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66BDF1"/>
                </a:solidFill>
              </a:defRPr>
            </a:pPr>
            <a:r>
              <a:rPr sz="975" b="1" i="0">
                <a:solidFill>
                  <a:srgbClr val="66BDF1"/>
                </a:solidFill>
              </a:rPr>
              <a:t>05</a:t>
            </a:r>
          </a:p>
        </p:txBody>
      </p:sp>
      <p:sp>
        <p:nvSpPr>
          <p:cNvPr id="2" name="">
            <a:extLst xmlns:a="http://schemas.openxmlformats.org/drawingml/2006/main">
              <a:ext uri="{FF2B5EF4-FFF2-40B4-BE49-F238E27FC236}">
                <a16:creationId xmlns:a16="http://schemas.microsoft.com/office/drawing/2014/main" id="{E27D8027-7C86-49FA-923D-2CA8EE582D8C}"/>
              </a:ext>
            </a:extLst>
          </p:cNvPr>
          <p:cNvSpPr>
            <a:spLocks xmlns:a="http://schemas.openxmlformats.org/drawingml/2006/main" noGrp="1"/>
          </p:cNvSpPr>
          <p:nvPr/>
        </p:nvSpPr>
        <p:spPr>
          <a:xfrm xmlns:a="http://schemas.openxmlformats.org/drawingml/2006/main">
            <a:off x="1162050" y="4000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B0BD"/>
                </a:solidFill>
              </a:defRPr>
            </a:pPr>
            <a:r>
              <a:rPr sz="975" b="1" i="0">
                <a:solidFill>
                  <a:srgbClr val="A8B0BD"/>
                </a:solidFill>
              </a:rPr>
              <a:t>ENGINEERING EVIDENCE</a:t>
            </a:r>
          </a:p>
        </p:txBody>
      </p:sp>
      <p:sp>
        <p:nvSpPr>
          <p:cNvPr id="3" name="">
            <a:extLst xmlns:a="http://schemas.openxmlformats.org/drawingml/2006/main">
              <a:ext uri="{FF2B5EF4-FFF2-40B4-BE49-F238E27FC236}">
                <a16:creationId xmlns:a16="http://schemas.microsoft.com/office/drawing/2014/main" id="{03C4E720-E57E-4BEE-A5BC-9C6063993A14}"/>
              </a:ext>
            </a:extLst>
          </p:cNvPr>
          <p:cNvSpPr>
            <a:spLocks xmlns:a="http://schemas.openxmlformats.org/drawingml/2006/main" noGrp="1"/>
          </p:cNvSpPr>
          <p:nvPr/>
        </p:nvSpPr>
        <p:spPr>
          <a:xfrm xmlns:a="http://schemas.openxmlformats.org/drawingml/2006/main">
            <a:off x="609600" y="7429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i="0">
                <a:solidFill>
                  <a:srgbClr val="FFFFFF"/>
                </a:solidFill>
              </a:defRPr>
            </a:pPr>
            <a:r>
              <a:rPr sz="3150" b="1" i="0">
                <a:solidFill>
                  <a:srgbClr val="FFFFFF"/>
                </a:solidFill>
              </a:rPr>
              <a:t>Bounded by design. Verified on hardware.</a:t>
            </a:r>
          </a:p>
        </p:txBody>
      </p:sp>
      <p:sp>
        <p:nvSpPr>
          <p:cNvPr id="4" name="">
            <a:extLst xmlns:a="http://schemas.openxmlformats.org/drawingml/2006/main">
              <a:ext uri="{FF2B5EF4-FFF2-40B4-BE49-F238E27FC236}">
                <a16:creationId xmlns:a16="http://schemas.microsoft.com/office/drawing/2014/main" id="{5198D4BE-EA6B-4596-A583-F900A3E2DE80}"/>
              </a:ext>
            </a:extLst>
          </p:cNvPr>
          <p:cNvSpPr>
            <a:spLocks xmlns:a="http://schemas.openxmlformats.org/drawingml/2006/main" noGrp="1"/>
          </p:cNvSpPr>
          <p:nvPr/>
        </p:nvSpPr>
        <p:spPr>
          <a:xfrm xmlns:a="http://schemas.openxmlformats.org/drawingml/2006/main">
            <a:off x="609600" y="1809750"/>
            <a:ext cx="3352800" cy="2628900"/>
          </a:xfrm>
          <a:prstGeom xmlns:a="http://schemas.openxmlformats.org/drawingml/2006/main" prst="roundRect">
            <a:avLst>
              <a:gd name="adj" fmla="val 5797"/>
            </a:avLst>
          </a:prstGeom>
          <a:solidFill xmlns:a="http://schemas.openxmlformats.org/drawingml/2006/main">
            <a:srgbClr val="1B1E24"/>
          </a:solidFill>
          <a:ln xmlns:a="http://schemas.openxmlformats.org/drawingml/2006/main" w="9525">
            <a:solidFill>
              <a:srgbClr val="363B45"/>
            </a:solidFill>
            <a:prstDash val="solid"/>
          </a:ln>
        </p:spPr>
      </p:sp>
      <p:sp>
        <p:nvSpPr>
          <p:cNvPr id="5" name="">
            <a:extLst xmlns:a="http://schemas.openxmlformats.org/drawingml/2006/main">
              <a:ext uri="{FF2B5EF4-FFF2-40B4-BE49-F238E27FC236}">
                <a16:creationId xmlns:a16="http://schemas.microsoft.com/office/drawing/2014/main" id="{6354C3CA-78E9-4931-AECA-52517C7B3F81}"/>
              </a:ext>
            </a:extLst>
          </p:cNvPr>
          <p:cNvSpPr>
            <a:spLocks xmlns:a="http://schemas.openxmlformats.org/drawingml/2006/main" noGrp="1"/>
          </p:cNvSpPr>
          <p:nvPr/>
        </p:nvSpPr>
        <p:spPr>
          <a:xfrm xmlns:a="http://schemas.openxmlformats.org/drawingml/2006/main">
            <a:off x="838200" y="2095500"/>
            <a:ext cx="2895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800" b="1" i="0">
                <a:solidFill>
                  <a:srgbClr val="66BDF1"/>
                </a:solidFill>
              </a:defRPr>
            </a:pPr>
            <a:r>
              <a:rPr sz="4800" b="1" i="0">
                <a:solidFill>
                  <a:srgbClr val="66BDF1"/>
                </a:solidFill>
              </a:rPr>
              <a:t>209</a:t>
            </a:r>
          </a:p>
        </p:txBody>
      </p:sp>
      <p:sp>
        <p:nvSpPr>
          <p:cNvPr id="6" name="">
            <a:extLst xmlns:a="http://schemas.openxmlformats.org/drawingml/2006/main">
              <a:ext uri="{FF2B5EF4-FFF2-40B4-BE49-F238E27FC236}">
                <a16:creationId xmlns:a16="http://schemas.microsoft.com/office/drawing/2014/main" id="{4183A2F0-AF76-485C-9200-B57C7D47A929}"/>
              </a:ext>
            </a:extLst>
          </p:cNvPr>
          <p:cNvSpPr>
            <a:spLocks xmlns:a="http://schemas.openxmlformats.org/drawingml/2006/main" noGrp="1"/>
          </p:cNvSpPr>
          <p:nvPr/>
        </p:nvSpPr>
        <p:spPr>
          <a:xfrm xmlns:a="http://schemas.openxmlformats.org/drawingml/2006/main">
            <a:off x="838200" y="3333750"/>
            <a:ext cx="289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i="0">
                <a:solidFill>
                  <a:srgbClr val="FFFFFF"/>
                </a:solidFill>
              </a:defRPr>
            </a:pPr>
            <a:r>
              <a:rPr sz="1125" b="1" i="0">
                <a:solidFill>
                  <a:srgbClr val="FFFFFF"/>
                </a:solidFill>
              </a:rPr>
              <a:t>JVM UNIT TESTS</a:t>
            </a:r>
          </a:p>
        </p:txBody>
      </p:sp>
      <p:sp>
        <p:nvSpPr>
          <p:cNvPr id="7" name="">
            <a:extLst xmlns:a="http://schemas.openxmlformats.org/drawingml/2006/main">
              <a:ext uri="{FF2B5EF4-FFF2-40B4-BE49-F238E27FC236}">
                <a16:creationId xmlns:a16="http://schemas.microsoft.com/office/drawing/2014/main" id="{45B9BAED-FB5F-437A-90C3-829FC0BAF98E}"/>
              </a:ext>
            </a:extLst>
          </p:cNvPr>
          <p:cNvSpPr>
            <a:spLocks xmlns:a="http://schemas.openxmlformats.org/drawingml/2006/main" noGrp="1"/>
          </p:cNvSpPr>
          <p:nvPr/>
        </p:nvSpPr>
        <p:spPr>
          <a:xfrm xmlns:a="http://schemas.openxmlformats.org/drawingml/2006/main">
            <a:off x="952500" y="37528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C8CED8"/>
                </a:solidFill>
              </a:defRPr>
            </a:pPr>
            <a:r>
              <a:rPr sz="1200" b="0" i="0">
                <a:solidFill>
                  <a:srgbClr val="C8CED8"/>
                </a:solidFill>
              </a:rPr>
              <a:t>Core planning, validation and state behavior</a:t>
            </a:r>
          </a:p>
        </p:txBody>
      </p:sp>
      <p:sp>
        <p:nvSpPr>
          <p:cNvPr id="8" name="">
            <a:extLst xmlns:a="http://schemas.openxmlformats.org/drawingml/2006/main">
              <a:ext uri="{FF2B5EF4-FFF2-40B4-BE49-F238E27FC236}">
                <a16:creationId xmlns:a16="http://schemas.microsoft.com/office/drawing/2014/main" id="{34FE2B19-B7C6-46EE-8D4B-5CDF69EC8A2D}"/>
              </a:ext>
            </a:extLst>
          </p:cNvPr>
          <p:cNvSpPr>
            <a:spLocks xmlns:a="http://schemas.openxmlformats.org/drawingml/2006/main" noGrp="1"/>
          </p:cNvSpPr>
          <p:nvPr/>
        </p:nvSpPr>
        <p:spPr>
          <a:xfrm xmlns:a="http://schemas.openxmlformats.org/drawingml/2006/main">
            <a:off x="4324350" y="1809750"/>
            <a:ext cx="3352800" cy="2628900"/>
          </a:xfrm>
          <a:prstGeom xmlns:a="http://schemas.openxmlformats.org/drawingml/2006/main" prst="roundRect">
            <a:avLst>
              <a:gd name="adj" fmla="val 5797"/>
            </a:avLst>
          </a:prstGeom>
          <a:solidFill xmlns:a="http://schemas.openxmlformats.org/drawingml/2006/main">
            <a:srgbClr val="263340"/>
          </a:solidFill>
          <a:ln xmlns:a="http://schemas.openxmlformats.org/drawingml/2006/main" w="9525">
            <a:solidFill>
              <a:srgbClr val="363B45"/>
            </a:solidFill>
            <a:prstDash val="solid"/>
          </a:ln>
        </p:spPr>
      </p:sp>
      <p:sp>
        <p:nvSpPr>
          <p:cNvPr id="9" name="">
            <a:extLst xmlns:a="http://schemas.openxmlformats.org/drawingml/2006/main">
              <a:ext uri="{FF2B5EF4-FFF2-40B4-BE49-F238E27FC236}">
                <a16:creationId xmlns:a16="http://schemas.microsoft.com/office/drawing/2014/main" id="{DEB5DA30-E6C7-46E7-992E-2CAC0164707D}"/>
              </a:ext>
            </a:extLst>
          </p:cNvPr>
          <p:cNvSpPr>
            <a:spLocks xmlns:a="http://schemas.openxmlformats.org/drawingml/2006/main" noGrp="1"/>
          </p:cNvSpPr>
          <p:nvPr/>
        </p:nvSpPr>
        <p:spPr>
          <a:xfrm xmlns:a="http://schemas.openxmlformats.org/drawingml/2006/main">
            <a:off x="4552950" y="2095500"/>
            <a:ext cx="2895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800" b="1" i="0">
                <a:solidFill>
                  <a:srgbClr val="66BDF1"/>
                </a:solidFill>
              </a:defRPr>
            </a:pPr>
            <a:r>
              <a:rPr sz="4800" b="1" i="0">
                <a:solidFill>
                  <a:srgbClr val="66BDF1"/>
                </a:solidFill>
              </a:rPr>
              <a:t>57/57</a:t>
            </a:r>
          </a:p>
        </p:txBody>
      </p:sp>
      <p:sp>
        <p:nvSpPr>
          <p:cNvPr id="10" name="">
            <a:extLst xmlns:a="http://schemas.openxmlformats.org/drawingml/2006/main">
              <a:ext uri="{FF2B5EF4-FFF2-40B4-BE49-F238E27FC236}">
                <a16:creationId xmlns:a16="http://schemas.microsoft.com/office/drawing/2014/main" id="{46A02D2A-2918-432D-955A-7BF59D0E3444}"/>
              </a:ext>
            </a:extLst>
          </p:cNvPr>
          <p:cNvSpPr>
            <a:spLocks xmlns:a="http://schemas.openxmlformats.org/drawingml/2006/main" noGrp="1"/>
          </p:cNvSpPr>
          <p:nvPr/>
        </p:nvSpPr>
        <p:spPr>
          <a:xfrm xmlns:a="http://schemas.openxmlformats.org/drawingml/2006/main">
            <a:off x="4552950" y="3333750"/>
            <a:ext cx="289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i="0">
                <a:solidFill>
                  <a:srgbClr val="FFFFFF"/>
                </a:solidFill>
              </a:defRPr>
            </a:pPr>
            <a:r>
              <a:rPr sz="1125" b="1" i="0">
                <a:solidFill>
                  <a:srgbClr val="FFFFFF"/>
                </a:solidFill>
              </a:rPr>
              <a:t>DEVICE TESTS</a:t>
            </a:r>
          </a:p>
        </p:txBody>
      </p:sp>
      <p:sp>
        <p:nvSpPr>
          <p:cNvPr id="11" name="">
            <a:extLst xmlns:a="http://schemas.openxmlformats.org/drawingml/2006/main">
              <a:ext uri="{FF2B5EF4-FFF2-40B4-BE49-F238E27FC236}">
                <a16:creationId xmlns:a16="http://schemas.microsoft.com/office/drawing/2014/main" id="{A322DDA2-7BB4-48F1-8B2A-F558CBAF19A2}"/>
              </a:ext>
            </a:extLst>
          </p:cNvPr>
          <p:cNvSpPr>
            <a:spLocks xmlns:a="http://schemas.openxmlformats.org/drawingml/2006/main" noGrp="1"/>
          </p:cNvSpPr>
          <p:nvPr/>
        </p:nvSpPr>
        <p:spPr>
          <a:xfrm xmlns:a="http://schemas.openxmlformats.org/drawingml/2006/main">
            <a:off x="4667250" y="37528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C8CED8"/>
                </a:solidFill>
              </a:defRPr>
            </a:pPr>
            <a:r>
              <a:rPr sz="1200" b="0" i="0">
                <a:solidFill>
                  <a:srgbClr val="C8CED8"/>
                </a:solidFill>
              </a:rPr>
              <a:t>Deterministic run on a physical OnePlus</a:t>
            </a:r>
          </a:p>
        </p:txBody>
      </p:sp>
      <p:sp>
        <p:nvSpPr>
          <p:cNvPr id="12" name="">
            <a:extLst xmlns:a="http://schemas.openxmlformats.org/drawingml/2006/main">
              <a:ext uri="{FF2B5EF4-FFF2-40B4-BE49-F238E27FC236}">
                <a16:creationId xmlns:a16="http://schemas.microsoft.com/office/drawing/2014/main" id="{C87AF6B9-728C-4BA0-9787-3FD22A485AF0}"/>
              </a:ext>
            </a:extLst>
          </p:cNvPr>
          <p:cNvSpPr>
            <a:spLocks xmlns:a="http://schemas.openxmlformats.org/drawingml/2006/main" noGrp="1"/>
          </p:cNvSpPr>
          <p:nvPr/>
        </p:nvSpPr>
        <p:spPr>
          <a:xfrm xmlns:a="http://schemas.openxmlformats.org/drawingml/2006/main">
            <a:off x="8039100" y="1809750"/>
            <a:ext cx="3352800" cy="2628900"/>
          </a:xfrm>
          <a:prstGeom xmlns:a="http://schemas.openxmlformats.org/drawingml/2006/main" prst="roundRect">
            <a:avLst>
              <a:gd name="adj" fmla="val 5797"/>
            </a:avLst>
          </a:prstGeom>
          <a:solidFill xmlns:a="http://schemas.openxmlformats.org/drawingml/2006/main">
            <a:srgbClr val="1B1E24"/>
          </a:solidFill>
          <a:ln xmlns:a="http://schemas.openxmlformats.org/drawingml/2006/main" w="9525">
            <a:solidFill>
              <a:srgbClr val="363B45"/>
            </a:solidFill>
            <a:prstDash val="solid"/>
          </a:ln>
        </p:spPr>
      </p:sp>
      <p:sp>
        <p:nvSpPr>
          <p:cNvPr id="13" name="">
            <a:extLst xmlns:a="http://schemas.openxmlformats.org/drawingml/2006/main">
              <a:ext uri="{FF2B5EF4-FFF2-40B4-BE49-F238E27FC236}">
                <a16:creationId xmlns:a16="http://schemas.microsoft.com/office/drawing/2014/main" id="{B993139F-F5CB-41A5-8731-6CB6F7FC3C24}"/>
              </a:ext>
            </a:extLst>
          </p:cNvPr>
          <p:cNvSpPr>
            <a:spLocks xmlns:a="http://schemas.openxmlformats.org/drawingml/2006/main" noGrp="1"/>
          </p:cNvSpPr>
          <p:nvPr/>
        </p:nvSpPr>
        <p:spPr>
          <a:xfrm xmlns:a="http://schemas.openxmlformats.org/drawingml/2006/main">
            <a:off x="8267700" y="2095500"/>
            <a:ext cx="2895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800" b="1" i="0">
                <a:solidFill>
                  <a:srgbClr val="E6B15E"/>
                </a:solidFill>
              </a:defRPr>
            </a:pPr>
            <a:r>
              <a:rPr sz="4800" b="1" i="0">
                <a:solidFill>
                  <a:srgbClr val="E6B15E"/>
                </a:solidFill>
              </a:rPr>
              <a:t>6</a:t>
            </a:r>
          </a:p>
        </p:txBody>
      </p:sp>
      <p:sp>
        <p:nvSpPr>
          <p:cNvPr id="14" name="">
            <a:extLst xmlns:a="http://schemas.openxmlformats.org/drawingml/2006/main">
              <a:ext uri="{FF2B5EF4-FFF2-40B4-BE49-F238E27FC236}">
                <a16:creationId xmlns:a16="http://schemas.microsoft.com/office/drawing/2014/main" id="{96F042CF-F844-4185-A2C2-3E191E936B41}"/>
              </a:ext>
            </a:extLst>
          </p:cNvPr>
          <p:cNvSpPr>
            <a:spLocks xmlns:a="http://schemas.openxmlformats.org/drawingml/2006/main" noGrp="1"/>
          </p:cNvSpPr>
          <p:nvPr/>
        </p:nvSpPr>
        <p:spPr>
          <a:xfrm xmlns:a="http://schemas.openxmlformats.org/drawingml/2006/main">
            <a:off x="8267700" y="3333750"/>
            <a:ext cx="289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i="0">
                <a:solidFill>
                  <a:srgbClr val="FFFFFF"/>
                </a:solidFill>
              </a:defRPr>
            </a:pPr>
            <a:r>
              <a:rPr sz="1125" b="1" i="0">
                <a:solidFill>
                  <a:srgbClr val="FFFFFF"/>
                </a:solidFill>
              </a:rPr>
              <a:t>ACTION TYPES</a:t>
            </a:r>
          </a:p>
        </p:txBody>
      </p:sp>
      <p:sp>
        <p:nvSpPr>
          <p:cNvPr id="15" name="">
            <a:extLst xmlns:a="http://schemas.openxmlformats.org/drawingml/2006/main">
              <a:ext uri="{FF2B5EF4-FFF2-40B4-BE49-F238E27FC236}">
                <a16:creationId xmlns:a16="http://schemas.microsoft.com/office/drawing/2014/main" id="{262B2600-9C27-423E-B422-42225C5F2C9C}"/>
              </a:ext>
            </a:extLst>
          </p:cNvPr>
          <p:cNvSpPr>
            <a:spLocks xmlns:a="http://schemas.openxmlformats.org/drawingml/2006/main" noGrp="1"/>
          </p:cNvSpPr>
          <p:nvPr/>
        </p:nvSpPr>
        <p:spPr>
          <a:xfrm xmlns:a="http://schemas.openxmlformats.org/drawingml/2006/main">
            <a:off x="8382000" y="37528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C8CED8"/>
                </a:solidFill>
              </a:defRPr>
            </a:pPr>
            <a:r>
              <a:rPr sz="1200" b="0" i="0">
                <a:solidFill>
                  <a:srgbClr val="C8CED8"/>
                </a:solidFill>
              </a:rPr>
              <a:t>Small allowlist; maximum eight per plan</a:t>
            </a:r>
          </a:p>
        </p:txBody>
      </p:sp>
      <p:sp>
        <p:nvSpPr>
          <p:cNvPr id="16" name="">
            <a:extLst xmlns:a="http://schemas.openxmlformats.org/drawingml/2006/main">
              <a:ext uri="{FF2B5EF4-FFF2-40B4-BE49-F238E27FC236}">
                <a16:creationId xmlns:a16="http://schemas.microsoft.com/office/drawing/2014/main" id="{0491EF77-ED1D-49D1-8D41-B9BABFE810C3}"/>
              </a:ext>
            </a:extLst>
          </p:cNvPr>
          <p:cNvSpPr>
            <a:spLocks xmlns:a="http://schemas.openxmlformats.org/drawingml/2006/main" noGrp="1"/>
          </p:cNvSpPr>
          <p:nvPr/>
        </p:nvSpPr>
        <p:spPr>
          <a:xfrm xmlns:a="http://schemas.openxmlformats.org/drawingml/2006/main">
            <a:off x="609600" y="495300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66BDF1"/>
                </a:solidFill>
              </a:defRPr>
            </a:pPr>
            <a:r>
              <a:rPr sz="1800" b="1" i="0">
                <a:solidFill>
                  <a:srgbClr val="66BDF1"/>
                </a:solidFill>
              </a:rPr>
              <a:t>↺</a:t>
            </a:r>
          </a:p>
        </p:txBody>
      </p:sp>
      <p:sp>
        <p:nvSpPr>
          <p:cNvPr id="17" name="">
            <a:extLst xmlns:a="http://schemas.openxmlformats.org/drawingml/2006/main">
              <a:ext uri="{FF2B5EF4-FFF2-40B4-BE49-F238E27FC236}">
                <a16:creationId xmlns:a16="http://schemas.microsoft.com/office/drawing/2014/main" id="{146AE346-4C06-4BAF-BEAC-73231031465D}"/>
              </a:ext>
            </a:extLst>
          </p:cNvPr>
          <p:cNvSpPr>
            <a:spLocks xmlns:a="http://schemas.openxmlformats.org/drawingml/2006/main" noGrp="1"/>
          </p:cNvSpPr>
          <p:nvPr/>
        </p:nvSpPr>
        <p:spPr>
          <a:xfrm xmlns:a="http://schemas.openxmlformats.org/drawingml/2006/main">
            <a:off x="1066800" y="48958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FFFFFF"/>
                </a:solidFill>
              </a:defRPr>
            </a:pPr>
            <a:r>
              <a:rPr sz="1275" b="1" i="0">
                <a:solidFill>
                  <a:srgbClr val="FFFFFF"/>
                </a:solidFill>
              </a:rPr>
              <a:t>Transactional rollback + persistent Reset</a:t>
            </a:r>
          </a:p>
        </p:txBody>
      </p:sp>
      <p:sp>
        <p:nvSpPr>
          <p:cNvPr id="18" name="">
            <a:extLst xmlns:a="http://schemas.openxmlformats.org/drawingml/2006/main">
              <a:ext uri="{FF2B5EF4-FFF2-40B4-BE49-F238E27FC236}">
                <a16:creationId xmlns:a16="http://schemas.microsoft.com/office/drawing/2014/main" id="{CAF3AA87-4D5A-4B42-8F33-05F6EAD35D76}"/>
              </a:ext>
            </a:extLst>
          </p:cNvPr>
          <p:cNvSpPr>
            <a:spLocks xmlns:a="http://schemas.openxmlformats.org/drawingml/2006/main" noGrp="1"/>
          </p:cNvSpPr>
          <p:nvPr/>
        </p:nvSpPr>
        <p:spPr>
          <a:xfrm xmlns:a="http://schemas.openxmlformats.org/drawingml/2006/main">
            <a:off x="4324350" y="495300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66BDF1"/>
                </a:solidFill>
              </a:defRPr>
            </a:pPr>
            <a:r>
              <a:rPr sz="1800" b="1" i="0">
                <a:solidFill>
                  <a:srgbClr val="66BDF1"/>
                </a:solidFill>
              </a:rPr>
              <a:t>⌁</a:t>
            </a:r>
          </a:p>
        </p:txBody>
      </p:sp>
      <p:sp>
        <p:nvSpPr>
          <p:cNvPr id="19" name="">
            <a:extLst xmlns:a="http://schemas.openxmlformats.org/drawingml/2006/main">
              <a:ext uri="{FF2B5EF4-FFF2-40B4-BE49-F238E27FC236}">
                <a16:creationId xmlns:a16="http://schemas.microsoft.com/office/drawing/2014/main" id="{63394630-8D9E-41BD-A88D-9DBB06F6202E}"/>
              </a:ext>
            </a:extLst>
          </p:cNvPr>
          <p:cNvSpPr>
            <a:spLocks xmlns:a="http://schemas.openxmlformats.org/drawingml/2006/main" noGrp="1"/>
          </p:cNvSpPr>
          <p:nvPr/>
        </p:nvSpPr>
        <p:spPr>
          <a:xfrm xmlns:a="http://schemas.openxmlformats.org/drawingml/2006/main">
            <a:off x="4781550" y="48958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FFFFFF"/>
                </a:solidFill>
              </a:defRPr>
            </a:pPr>
            <a:r>
              <a:rPr sz="1275" b="1" i="0">
                <a:solidFill>
                  <a:srgbClr val="FFFFFF"/>
                </a:solidFill>
              </a:rPr>
              <a:t>Stale frame, lens, session and capture context rejected</a:t>
            </a:r>
          </a:p>
        </p:txBody>
      </p:sp>
      <p:sp>
        <p:nvSpPr>
          <p:cNvPr id="20" name="">
            <a:extLst xmlns:a="http://schemas.openxmlformats.org/drawingml/2006/main">
              <a:ext uri="{FF2B5EF4-FFF2-40B4-BE49-F238E27FC236}">
                <a16:creationId xmlns:a16="http://schemas.microsoft.com/office/drawing/2014/main" id="{B26FB562-5F86-4694-861B-3DF958B5B516}"/>
              </a:ext>
            </a:extLst>
          </p:cNvPr>
          <p:cNvSpPr>
            <a:spLocks xmlns:a="http://schemas.openxmlformats.org/drawingml/2006/main" noGrp="1"/>
          </p:cNvSpPr>
          <p:nvPr/>
        </p:nvSpPr>
        <p:spPr>
          <a:xfrm xmlns:a="http://schemas.openxmlformats.org/drawingml/2006/main">
            <a:off x="8039100" y="495300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3BAA7A"/>
                </a:solidFill>
              </a:defRPr>
            </a:pPr>
            <a:r>
              <a:rPr sz="1800" b="1" i="0">
                <a:solidFill>
                  <a:srgbClr val="3BAA7A"/>
                </a:solidFill>
              </a:rPr>
              <a:t>●</a:t>
            </a:r>
          </a:p>
        </p:txBody>
      </p:sp>
      <p:sp>
        <p:nvSpPr>
          <p:cNvPr id="21" name="">
            <a:extLst xmlns:a="http://schemas.openxmlformats.org/drawingml/2006/main">
              <a:ext uri="{FF2B5EF4-FFF2-40B4-BE49-F238E27FC236}">
                <a16:creationId xmlns:a16="http://schemas.microsoft.com/office/drawing/2014/main" id="{C0A290D6-528C-4C01-8CA4-951016D3D294}"/>
              </a:ext>
            </a:extLst>
          </p:cNvPr>
          <p:cNvSpPr>
            <a:spLocks xmlns:a="http://schemas.openxmlformats.org/drawingml/2006/main" noGrp="1"/>
          </p:cNvSpPr>
          <p:nvPr/>
        </p:nvSpPr>
        <p:spPr>
          <a:xfrm xmlns:a="http://schemas.openxmlformats.org/drawingml/2006/main">
            <a:off x="8496300" y="48958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FFFFFF"/>
                </a:solidFill>
              </a:defRPr>
            </a:pPr>
            <a:r>
              <a:rPr sz="1275" b="1" i="0">
                <a:solidFill>
                  <a:srgbClr val="FFFFFF"/>
                </a:solidFill>
              </a:rPr>
              <a:t>Push-to-talk; up to 15 seconds; audio stays local</a:t>
            </a:r>
          </a:p>
        </p:txBody>
      </p:sp>
      <p:sp>
        <p:nvSpPr>
          <p:cNvPr id="22" name="">
            <a:extLst xmlns:a="http://schemas.openxmlformats.org/drawingml/2006/main">
              <a:ext uri="{FF2B5EF4-FFF2-40B4-BE49-F238E27FC236}">
                <a16:creationId xmlns:a16="http://schemas.microsoft.com/office/drawing/2014/main" id="{C8E3D7E2-B712-435A-8DA3-25078825E397}"/>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oundRect">
            <a:avLst>
              <a:gd name="adj" fmla="val 16667"/>
            </a:avLst>
          </a:prstGeom>
          <a:solidFill xmlns:a="http://schemas.openxmlformats.org/drawingml/2006/main">
            <a:srgbClr val="24283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DC107C7-E2AE-4E60-A59A-BB2FEB891F6F}"/>
              </a:ext>
            </a:extLst>
          </p:cNvPr>
          <p:cNvSpPr>
            <a:spLocks xmlns:a="http://schemas.openxmlformats.org/drawingml/2006/main" noGrp="1"/>
          </p:cNvSpPr>
          <p:nvPr/>
        </p:nvSpPr>
        <p:spPr>
          <a:xfrm xmlns:a="http://schemas.openxmlformats.org/drawingml/2006/main">
            <a:off x="819150" y="5962650"/>
            <a:ext cx="10553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i="0">
                <a:solidFill>
                  <a:srgbClr val="D8DDE5"/>
                </a:solidFill>
              </a:defRPr>
            </a:pPr>
            <a:r>
              <a:rPr sz="1125" b="1" i="0">
                <a:solidFill>
                  <a:srgbClr val="D8DDE5"/>
                </a:solidFill>
              </a:rPr>
              <a:t>The evidence supports reliable camera control—not a claim that AI automatically creates better photos.</a:t>
            </a:r>
          </a:p>
        </p:txBody>
      </p:sp>
    </p:spTree>
    <p:extLst>
      <p:ext uri="{BB962C8B-B14F-4D97-AF65-F5344CB8AC3E}">
        <p14:creationId xmlns:p14="http://schemas.microsoft.com/office/powerpoint/2010/main" val="1579673694"/>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24F6B5B-F3B6-4E9A-BA95-1B2CD3925B27}"/>
              </a:ext>
            </a:extLst>
          </p:cNvPr>
          <p:cNvSpPr>
            <a:spLocks xmlns:a="http://schemas.openxmlformats.org/drawingml/2006/main" noGrp="1"/>
          </p:cNvSpPr>
          <p:nvPr/>
        </p:nvSpPr>
        <p:spPr>
          <a:xfrm xmlns:a="http://schemas.openxmlformats.org/drawingml/2006/main">
            <a:off x="609600" y="4000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176A9E"/>
                </a:solidFill>
              </a:defRPr>
            </a:pPr>
            <a:r>
              <a:rPr sz="975" b="1" i="0">
                <a:solidFill>
                  <a:srgbClr val="176A9E"/>
                </a:solidFill>
              </a:rPr>
              <a:t>06</a:t>
            </a:r>
          </a:p>
        </p:txBody>
      </p:sp>
      <p:sp>
        <p:nvSpPr>
          <p:cNvPr id="2" name="">
            <a:extLst xmlns:a="http://schemas.openxmlformats.org/drawingml/2006/main">
              <a:ext uri="{FF2B5EF4-FFF2-40B4-BE49-F238E27FC236}">
                <a16:creationId xmlns:a16="http://schemas.microsoft.com/office/drawing/2014/main" id="{EA72D5A9-9762-456D-860E-B5F6B51B8645}"/>
              </a:ext>
            </a:extLst>
          </p:cNvPr>
          <p:cNvSpPr>
            <a:spLocks xmlns:a="http://schemas.openxmlformats.org/drawingml/2006/main" noGrp="1"/>
          </p:cNvSpPr>
          <p:nvPr/>
        </p:nvSpPr>
        <p:spPr>
          <a:xfrm xmlns:a="http://schemas.openxmlformats.org/drawingml/2006/main">
            <a:off x="1162050" y="4000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E6572"/>
                </a:solidFill>
              </a:defRPr>
            </a:pPr>
            <a:r>
              <a:rPr sz="975" b="1" i="0">
                <a:solidFill>
                  <a:srgbClr val="5E6572"/>
                </a:solidFill>
              </a:rPr>
              <a:t>BUILD APPROACH</a:t>
            </a:r>
          </a:p>
        </p:txBody>
      </p:sp>
      <p:sp>
        <p:nvSpPr>
          <p:cNvPr id="3" name="">
            <a:extLst xmlns:a="http://schemas.openxmlformats.org/drawingml/2006/main">
              <a:ext uri="{FF2B5EF4-FFF2-40B4-BE49-F238E27FC236}">
                <a16:creationId xmlns:a16="http://schemas.microsoft.com/office/drawing/2014/main" id="{4FBF0E2C-C9C8-46F7-A2A6-451CCFAF04AB}"/>
              </a:ext>
            </a:extLst>
          </p:cNvPr>
          <p:cNvSpPr>
            <a:spLocks xmlns:a="http://schemas.openxmlformats.org/drawingml/2006/main" noGrp="1"/>
          </p:cNvSpPr>
          <p:nvPr/>
        </p:nvSpPr>
        <p:spPr>
          <a:xfrm xmlns:a="http://schemas.openxmlformats.org/drawingml/2006/main">
            <a:off x="609600" y="7429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i="0">
                <a:solidFill>
                  <a:srgbClr val="111318"/>
                </a:solidFill>
              </a:defRPr>
            </a:pPr>
            <a:r>
              <a:rPr sz="3150" b="1" i="0">
                <a:solidFill>
                  <a:srgbClr val="111318"/>
                </a:solidFill>
              </a:rPr>
              <a:t>Agents had distinct jobs—and human approval between them.</a:t>
            </a:r>
          </a:p>
        </p:txBody>
      </p:sp>
      <p:sp>
        <p:nvSpPr>
          <p:cNvPr id="4" name="">
            <a:extLst xmlns:a="http://schemas.openxmlformats.org/drawingml/2006/main">
              <a:ext uri="{FF2B5EF4-FFF2-40B4-BE49-F238E27FC236}">
                <a16:creationId xmlns:a16="http://schemas.microsoft.com/office/drawing/2014/main" id="{E32D4DC1-C69D-4C67-A0D3-6EA33C13DB8F}"/>
              </a:ext>
            </a:extLst>
          </p:cNvPr>
          <p:cNvSpPr>
            <a:spLocks xmlns:a="http://schemas.openxmlformats.org/drawingml/2006/main" noGrp="1"/>
          </p:cNvSpPr>
          <p:nvPr/>
        </p:nvSpPr>
        <p:spPr>
          <a:xfrm xmlns:a="http://schemas.openxmlformats.org/drawingml/2006/main">
            <a:off x="1428750" y="2876550"/>
            <a:ext cx="9334500" cy="57150"/>
          </a:xfrm>
          <a:prstGeom xmlns:a="http://schemas.openxmlformats.org/drawingml/2006/main" prst="rect">
            <a:avLst/>
          </a:prstGeom>
          <a:solidFill xmlns:a="http://schemas.openxmlformats.org/drawingml/2006/main">
            <a:srgbClr val="DDE2E8"/>
          </a:solidFill>
          <a:ln xmlns:a="http://schemas.openxmlformats.org/drawingml/2006/main" w="0">
            <a:solidFill>
              <a:srgbClr val="DDE2E8"/>
            </a:solidFill>
            <a:prstDash val="solid"/>
          </a:ln>
        </p:spPr>
      </p:sp>
      <p:sp>
        <p:nvSpPr>
          <p:cNvPr id="5" name="">
            <a:extLst xmlns:a="http://schemas.openxmlformats.org/drawingml/2006/main">
              <a:ext uri="{FF2B5EF4-FFF2-40B4-BE49-F238E27FC236}">
                <a16:creationId xmlns:a16="http://schemas.microsoft.com/office/drawing/2014/main" id="{1AC0F32A-6C47-45A0-96FD-27E9AB01B795}"/>
              </a:ext>
            </a:extLst>
          </p:cNvPr>
          <p:cNvSpPr>
            <a:spLocks xmlns:a="http://schemas.openxmlformats.org/drawingml/2006/main" noGrp="1"/>
          </p:cNvSpPr>
          <p:nvPr/>
        </p:nvSpPr>
        <p:spPr>
          <a:xfrm xmlns:a="http://schemas.openxmlformats.org/drawingml/2006/main">
            <a:off x="1733550" y="2657475"/>
            <a:ext cx="495300" cy="495300"/>
          </a:xfrm>
          <a:prstGeom xmlns:a="http://schemas.openxmlformats.org/drawingml/2006/main" prst="ellipse">
            <a:avLst/>
          </a:prstGeom>
          <a:solidFill xmlns:a="http://schemas.openxmlformats.org/drawingml/2006/main">
            <a:srgbClr val="66BDF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F15824-093B-4CF3-B073-9983D4C2F0EB}"/>
              </a:ext>
            </a:extLst>
          </p:cNvPr>
          <p:cNvSpPr>
            <a:spLocks xmlns:a="http://schemas.openxmlformats.org/drawingml/2006/main" noGrp="1"/>
          </p:cNvSpPr>
          <p:nvPr/>
        </p:nvSpPr>
        <p:spPr>
          <a:xfrm xmlns:a="http://schemas.openxmlformats.org/drawingml/2006/main">
            <a:off x="1733550" y="27813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111318"/>
                </a:solidFill>
              </a:defRPr>
            </a:pPr>
            <a:r>
              <a:rPr sz="1275" b="1" i="0">
                <a:solidFill>
                  <a:srgbClr val="111318"/>
                </a:solidFill>
              </a:rPr>
              <a:t>1</a:t>
            </a:r>
          </a:p>
        </p:txBody>
      </p:sp>
      <p:sp>
        <p:nvSpPr>
          <p:cNvPr id="7" name="">
            <a:extLst xmlns:a="http://schemas.openxmlformats.org/drawingml/2006/main">
              <a:ext uri="{FF2B5EF4-FFF2-40B4-BE49-F238E27FC236}">
                <a16:creationId xmlns:a16="http://schemas.microsoft.com/office/drawing/2014/main" id="{D719CFFC-88DA-4025-B90F-327D00A463BA}"/>
              </a:ext>
            </a:extLst>
          </p:cNvPr>
          <p:cNvSpPr>
            <a:spLocks xmlns:a="http://schemas.openxmlformats.org/drawingml/2006/main" noGrp="1"/>
          </p:cNvSpPr>
          <p:nvPr/>
        </p:nvSpPr>
        <p:spPr>
          <a:xfrm xmlns:a="http://schemas.openxmlformats.org/drawingml/2006/main">
            <a:off x="1047750" y="3314700"/>
            <a:ext cx="2400300" cy="1828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DE2E8"/>
            </a:solidFill>
            <a:prstDash val="solid"/>
          </a:ln>
        </p:spPr>
      </p:sp>
      <p:sp>
        <p:nvSpPr>
          <p:cNvPr id="8" name="">
            <a:extLst xmlns:a="http://schemas.openxmlformats.org/drawingml/2006/main">
              <a:ext uri="{FF2B5EF4-FFF2-40B4-BE49-F238E27FC236}">
                <a16:creationId xmlns:a16="http://schemas.microsoft.com/office/drawing/2014/main" id="{51032CF2-0B35-468E-9BEB-511FC5112C2E}"/>
              </a:ext>
            </a:extLst>
          </p:cNvPr>
          <p:cNvSpPr>
            <a:spLocks xmlns:a="http://schemas.openxmlformats.org/drawingml/2006/main" noGrp="1"/>
          </p:cNvSpPr>
          <p:nvPr/>
        </p:nvSpPr>
        <p:spPr>
          <a:xfrm xmlns:a="http://schemas.openxmlformats.org/drawingml/2006/main">
            <a:off x="1257300" y="35623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66BDF1"/>
                </a:solidFill>
              </a:defRPr>
            </a:pPr>
            <a:r>
              <a:rPr sz="1200" b="1" i="0">
                <a:solidFill>
                  <a:srgbClr val="66BDF1"/>
                </a:solidFill>
              </a:rPr>
              <a:t>CODEX</a:t>
            </a:r>
          </a:p>
        </p:txBody>
      </p:sp>
      <p:sp>
        <p:nvSpPr>
          <p:cNvPr id="9" name="">
            <a:extLst xmlns:a="http://schemas.openxmlformats.org/drawingml/2006/main">
              <a:ext uri="{FF2B5EF4-FFF2-40B4-BE49-F238E27FC236}">
                <a16:creationId xmlns:a16="http://schemas.microsoft.com/office/drawing/2014/main" id="{86FE544C-153B-4264-B2E2-82AF0E13E7E9}"/>
              </a:ext>
            </a:extLst>
          </p:cNvPr>
          <p:cNvSpPr>
            <a:spLocks xmlns:a="http://schemas.openxmlformats.org/drawingml/2006/main" noGrp="1"/>
          </p:cNvSpPr>
          <p:nvPr/>
        </p:nvSpPr>
        <p:spPr>
          <a:xfrm xmlns:a="http://schemas.openxmlformats.org/drawingml/2006/main">
            <a:off x="1257300" y="3981450"/>
            <a:ext cx="1981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11318"/>
                </a:solidFill>
              </a:defRPr>
            </a:pPr>
            <a:r>
              <a:rPr sz="1350" b="1" i="0">
                <a:solidFill>
                  <a:srgbClr val="111318"/>
                </a:solidFill>
              </a:rPr>
              <a:t>Trace failures</a:t>
            </a:r>
          </a:p>
          <a:p xmlns:a="http://schemas.openxmlformats.org/drawingml/2006/main">
            <a:pPr algn="l">
              <a:defRPr sz="1350" b="1" i="0">
                <a:solidFill>
                  <a:srgbClr val="111318"/>
                </a:solidFill>
              </a:defRPr>
            </a:pPr>
            <a:r>
              <a:rPr sz="1350" b="1" i="0">
                <a:solidFill>
                  <a:srgbClr val="111318"/>
                </a:solidFill>
              </a:rPr>
              <a:t>Write regression tests</a:t>
            </a:r>
          </a:p>
          <a:p xmlns:a="http://schemas.openxmlformats.org/drawingml/2006/main">
            <a:pPr algn="l">
              <a:defRPr sz="1350" b="1" i="0">
                <a:solidFill>
                  <a:srgbClr val="111318"/>
                </a:solidFill>
              </a:defRPr>
            </a:pPr>
            <a:r>
              <a:rPr sz="1350" b="1" i="0">
                <a:solidFill>
                  <a:srgbClr val="111318"/>
                </a:solidFill>
              </a:rPr>
              <a:t>Implement focused fixes</a:t>
            </a:r>
          </a:p>
        </p:txBody>
      </p:sp>
      <p:sp>
        <p:nvSpPr>
          <p:cNvPr id="10" name="">
            <a:extLst xmlns:a="http://schemas.openxmlformats.org/drawingml/2006/main">
              <a:ext uri="{FF2B5EF4-FFF2-40B4-BE49-F238E27FC236}">
                <a16:creationId xmlns:a16="http://schemas.microsoft.com/office/drawing/2014/main" id="{947FCE44-C9CA-49E1-A687-04E5B8A8AB72}"/>
              </a:ext>
            </a:extLst>
          </p:cNvPr>
          <p:cNvSpPr>
            <a:spLocks xmlns:a="http://schemas.openxmlformats.org/drawingml/2006/main" noGrp="1"/>
          </p:cNvSpPr>
          <p:nvPr/>
        </p:nvSpPr>
        <p:spPr>
          <a:xfrm xmlns:a="http://schemas.openxmlformats.org/drawingml/2006/main">
            <a:off x="4419600" y="2657475"/>
            <a:ext cx="495300" cy="495300"/>
          </a:xfrm>
          <a:prstGeom xmlns:a="http://schemas.openxmlformats.org/drawingml/2006/main" prst="ellipse">
            <a:avLst/>
          </a:prstGeom>
          <a:solidFill xmlns:a="http://schemas.openxmlformats.org/drawingml/2006/main">
            <a:srgbClr val="E6B1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7AD8F3F-6F2C-4A70-B595-44483B59A2AD}"/>
              </a:ext>
            </a:extLst>
          </p:cNvPr>
          <p:cNvSpPr>
            <a:spLocks xmlns:a="http://schemas.openxmlformats.org/drawingml/2006/main" noGrp="1"/>
          </p:cNvSpPr>
          <p:nvPr/>
        </p:nvSpPr>
        <p:spPr>
          <a:xfrm xmlns:a="http://schemas.openxmlformats.org/drawingml/2006/main">
            <a:off x="4419600" y="27813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111318"/>
                </a:solidFill>
              </a:defRPr>
            </a:pPr>
            <a:r>
              <a:rPr sz="1275" b="1" i="0">
                <a:solidFill>
                  <a:srgbClr val="111318"/>
                </a:solidFill>
              </a:rPr>
              <a:t>2</a:t>
            </a:r>
          </a:p>
        </p:txBody>
      </p:sp>
      <p:sp>
        <p:nvSpPr>
          <p:cNvPr id="12" name="">
            <a:extLst xmlns:a="http://schemas.openxmlformats.org/drawingml/2006/main">
              <a:ext uri="{FF2B5EF4-FFF2-40B4-BE49-F238E27FC236}">
                <a16:creationId xmlns:a16="http://schemas.microsoft.com/office/drawing/2014/main" id="{6D98AB76-E844-4D68-9126-82A799899F7D}"/>
              </a:ext>
            </a:extLst>
          </p:cNvPr>
          <p:cNvSpPr>
            <a:spLocks xmlns:a="http://schemas.openxmlformats.org/drawingml/2006/main" noGrp="1"/>
          </p:cNvSpPr>
          <p:nvPr/>
        </p:nvSpPr>
        <p:spPr>
          <a:xfrm xmlns:a="http://schemas.openxmlformats.org/drawingml/2006/main">
            <a:off x="3733800" y="3314700"/>
            <a:ext cx="2400300" cy="1828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DE2E8"/>
            </a:solidFill>
            <a:prstDash val="solid"/>
          </a:ln>
        </p:spPr>
      </p:sp>
      <p:sp>
        <p:nvSpPr>
          <p:cNvPr id="13" name="">
            <a:extLst xmlns:a="http://schemas.openxmlformats.org/drawingml/2006/main">
              <a:ext uri="{FF2B5EF4-FFF2-40B4-BE49-F238E27FC236}">
                <a16:creationId xmlns:a16="http://schemas.microsoft.com/office/drawing/2014/main" id="{57E17B53-7246-4FC2-9D44-DAB8002B1463}"/>
              </a:ext>
            </a:extLst>
          </p:cNvPr>
          <p:cNvSpPr>
            <a:spLocks xmlns:a="http://schemas.openxmlformats.org/drawingml/2006/main" noGrp="1"/>
          </p:cNvSpPr>
          <p:nvPr/>
        </p:nvSpPr>
        <p:spPr>
          <a:xfrm xmlns:a="http://schemas.openxmlformats.org/drawingml/2006/main">
            <a:off x="3943350" y="35623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E6B15E"/>
                </a:solidFill>
              </a:defRPr>
            </a:pPr>
            <a:r>
              <a:rPr sz="1200" b="1" i="0">
                <a:solidFill>
                  <a:srgbClr val="E6B15E"/>
                </a:solidFill>
              </a:rPr>
              <a:t>WORKBUDDY HY3</a:t>
            </a:r>
          </a:p>
        </p:txBody>
      </p:sp>
      <p:sp>
        <p:nvSpPr>
          <p:cNvPr id="14" name="">
            <a:extLst xmlns:a="http://schemas.openxmlformats.org/drawingml/2006/main">
              <a:ext uri="{FF2B5EF4-FFF2-40B4-BE49-F238E27FC236}">
                <a16:creationId xmlns:a16="http://schemas.microsoft.com/office/drawing/2014/main" id="{65259379-3769-48B6-B5E4-38A035F6FE7D}"/>
              </a:ext>
            </a:extLst>
          </p:cNvPr>
          <p:cNvSpPr>
            <a:spLocks xmlns:a="http://schemas.openxmlformats.org/drawingml/2006/main" noGrp="1"/>
          </p:cNvSpPr>
          <p:nvPr/>
        </p:nvSpPr>
        <p:spPr>
          <a:xfrm xmlns:a="http://schemas.openxmlformats.org/drawingml/2006/main">
            <a:off x="3943350" y="3981450"/>
            <a:ext cx="1981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11318"/>
                </a:solidFill>
              </a:defRPr>
            </a:pPr>
            <a:r>
              <a:rPr sz="1350" b="1" i="0">
                <a:solidFill>
                  <a:srgbClr val="111318"/>
                </a:solidFill>
              </a:rPr>
              <a:t>Repo-scale audit</a:t>
            </a:r>
          </a:p>
          <a:p xmlns:a="http://schemas.openxmlformats.org/drawingml/2006/main">
            <a:pPr algn="l">
              <a:defRPr sz="1350" b="1" i="0">
                <a:solidFill>
                  <a:srgbClr val="111318"/>
                </a:solidFill>
              </a:defRPr>
            </a:pPr>
            <a:r>
              <a:rPr sz="1350" b="1" i="0">
                <a:solidFill>
                  <a:srgbClr val="111318"/>
                </a:solidFill>
              </a:rPr>
              <a:t>Implementation pass</a:t>
            </a:r>
          </a:p>
          <a:p xmlns:a="http://schemas.openxmlformats.org/drawingml/2006/main">
            <a:pPr algn="l">
              <a:defRPr sz="1350" b="1" i="0">
                <a:solidFill>
                  <a:srgbClr val="111318"/>
                </a:solidFill>
              </a:defRPr>
            </a:pPr>
            <a:r>
              <a:rPr sz="1350" b="1" i="0">
                <a:solidFill>
                  <a:srgbClr val="111318"/>
                </a:solidFill>
              </a:rPr>
              <a:t>Device verification</a:t>
            </a:r>
          </a:p>
        </p:txBody>
      </p:sp>
      <p:sp>
        <p:nvSpPr>
          <p:cNvPr id="15" name="">
            <a:extLst xmlns:a="http://schemas.openxmlformats.org/drawingml/2006/main">
              <a:ext uri="{FF2B5EF4-FFF2-40B4-BE49-F238E27FC236}">
                <a16:creationId xmlns:a16="http://schemas.microsoft.com/office/drawing/2014/main" id="{720A851A-774D-4456-89E7-2C34271709B9}"/>
              </a:ext>
            </a:extLst>
          </p:cNvPr>
          <p:cNvSpPr>
            <a:spLocks xmlns:a="http://schemas.openxmlformats.org/drawingml/2006/main" noGrp="1"/>
          </p:cNvSpPr>
          <p:nvPr/>
        </p:nvSpPr>
        <p:spPr>
          <a:xfrm xmlns:a="http://schemas.openxmlformats.org/drawingml/2006/main">
            <a:off x="7105650" y="2657475"/>
            <a:ext cx="495300" cy="495300"/>
          </a:xfrm>
          <a:prstGeom xmlns:a="http://schemas.openxmlformats.org/drawingml/2006/main" prst="ellipse">
            <a:avLst/>
          </a:prstGeom>
          <a:solidFill xmlns:a="http://schemas.openxmlformats.org/drawingml/2006/main">
            <a:srgbClr val="3BAA7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C0F70F3-1683-47F6-84B3-A72132688A2E}"/>
              </a:ext>
            </a:extLst>
          </p:cNvPr>
          <p:cNvSpPr>
            <a:spLocks xmlns:a="http://schemas.openxmlformats.org/drawingml/2006/main" noGrp="1"/>
          </p:cNvSpPr>
          <p:nvPr/>
        </p:nvSpPr>
        <p:spPr>
          <a:xfrm xmlns:a="http://schemas.openxmlformats.org/drawingml/2006/main">
            <a:off x="7105650" y="27813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111318"/>
                </a:solidFill>
              </a:defRPr>
            </a:pPr>
            <a:r>
              <a:rPr sz="1275" b="1" i="0">
                <a:solidFill>
                  <a:srgbClr val="111318"/>
                </a:solidFill>
              </a:rPr>
              <a:t>3</a:t>
            </a:r>
          </a:p>
        </p:txBody>
      </p:sp>
      <p:sp>
        <p:nvSpPr>
          <p:cNvPr id="17" name="">
            <a:extLst xmlns:a="http://schemas.openxmlformats.org/drawingml/2006/main">
              <a:ext uri="{FF2B5EF4-FFF2-40B4-BE49-F238E27FC236}">
                <a16:creationId xmlns:a16="http://schemas.microsoft.com/office/drawing/2014/main" id="{66D054A9-E503-463C-A046-3BAF4EBE9CBB}"/>
              </a:ext>
            </a:extLst>
          </p:cNvPr>
          <p:cNvSpPr>
            <a:spLocks xmlns:a="http://schemas.openxmlformats.org/drawingml/2006/main" noGrp="1"/>
          </p:cNvSpPr>
          <p:nvPr/>
        </p:nvSpPr>
        <p:spPr>
          <a:xfrm xmlns:a="http://schemas.openxmlformats.org/drawingml/2006/main">
            <a:off x="6419850" y="3314700"/>
            <a:ext cx="2400300" cy="1828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DE2E8"/>
            </a:solidFill>
            <a:prstDash val="solid"/>
          </a:ln>
        </p:spPr>
      </p:sp>
      <p:sp>
        <p:nvSpPr>
          <p:cNvPr id="18" name="">
            <a:extLst xmlns:a="http://schemas.openxmlformats.org/drawingml/2006/main">
              <a:ext uri="{FF2B5EF4-FFF2-40B4-BE49-F238E27FC236}">
                <a16:creationId xmlns:a16="http://schemas.microsoft.com/office/drawing/2014/main" id="{FF61E725-9DFD-40E2-9F00-0F4A23A8786A}"/>
              </a:ext>
            </a:extLst>
          </p:cNvPr>
          <p:cNvSpPr>
            <a:spLocks xmlns:a="http://schemas.openxmlformats.org/drawingml/2006/main" noGrp="1"/>
          </p:cNvSpPr>
          <p:nvPr/>
        </p:nvSpPr>
        <p:spPr>
          <a:xfrm xmlns:a="http://schemas.openxmlformats.org/drawingml/2006/main">
            <a:off x="6629400" y="35623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3BAA7A"/>
                </a:solidFill>
              </a:defRPr>
            </a:pPr>
            <a:r>
              <a:rPr sz="1200" b="1" i="0">
                <a:solidFill>
                  <a:srgbClr val="3BAA7A"/>
                </a:solidFill>
              </a:rPr>
              <a:t>KIMI-K3 + UI/UX</a:t>
            </a:r>
          </a:p>
        </p:txBody>
      </p:sp>
      <p:sp>
        <p:nvSpPr>
          <p:cNvPr id="19" name="">
            <a:extLst xmlns:a="http://schemas.openxmlformats.org/drawingml/2006/main">
              <a:ext uri="{FF2B5EF4-FFF2-40B4-BE49-F238E27FC236}">
                <a16:creationId xmlns:a16="http://schemas.microsoft.com/office/drawing/2014/main" id="{EBBF1955-1D55-4784-AE29-F6817EA4E5AC}"/>
              </a:ext>
            </a:extLst>
          </p:cNvPr>
          <p:cNvSpPr>
            <a:spLocks xmlns:a="http://schemas.openxmlformats.org/drawingml/2006/main" noGrp="1"/>
          </p:cNvSpPr>
          <p:nvPr/>
        </p:nvSpPr>
        <p:spPr>
          <a:xfrm xmlns:a="http://schemas.openxmlformats.org/drawingml/2006/main">
            <a:off x="6629400" y="3981450"/>
            <a:ext cx="1981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11318"/>
                </a:solidFill>
              </a:defRPr>
            </a:pPr>
            <a:r>
              <a:rPr sz="1350" b="1" i="0">
                <a:solidFill>
                  <a:srgbClr val="111318"/>
                </a:solidFill>
              </a:rPr>
              <a:t>High-leverage review</a:t>
            </a:r>
          </a:p>
          <a:p xmlns:a="http://schemas.openxmlformats.org/drawingml/2006/main">
            <a:pPr algn="l">
              <a:defRPr sz="1350" b="1" i="0">
                <a:solidFill>
                  <a:srgbClr val="111318"/>
                </a:solidFill>
              </a:defRPr>
            </a:pPr>
            <a:r>
              <a:rPr sz="1350" b="1" i="0">
                <a:solidFill>
                  <a:srgbClr val="111318"/>
                </a:solidFill>
              </a:rPr>
              <a:t>Interaction decisions</a:t>
            </a:r>
          </a:p>
          <a:p xmlns:a="http://schemas.openxmlformats.org/drawingml/2006/main">
            <a:pPr algn="l">
              <a:defRPr sz="1350" b="1" i="0">
                <a:solidFill>
                  <a:srgbClr val="111318"/>
                </a:solidFill>
              </a:defRPr>
            </a:pPr>
            <a:r>
              <a:rPr sz="1350" b="1" i="0">
                <a:solidFill>
                  <a:srgbClr val="111318"/>
                </a:solidFill>
              </a:rPr>
              <a:t>Evidence checks</a:t>
            </a:r>
          </a:p>
        </p:txBody>
      </p:sp>
      <p:sp>
        <p:nvSpPr>
          <p:cNvPr id="20" name="">
            <a:extLst xmlns:a="http://schemas.openxmlformats.org/drawingml/2006/main">
              <a:ext uri="{FF2B5EF4-FFF2-40B4-BE49-F238E27FC236}">
                <a16:creationId xmlns:a16="http://schemas.microsoft.com/office/drawing/2014/main" id="{C026A96B-01D3-4507-9E15-9393077F211F}"/>
              </a:ext>
            </a:extLst>
          </p:cNvPr>
          <p:cNvSpPr>
            <a:spLocks xmlns:a="http://schemas.openxmlformats.org/drawingml/2006/main" noGrp="1"/>
          </p:cNvSpPr>
          <p:nvPr/>
        </p:nvSpPr>
        <p:spPr>
          <a:xfrm xmlns:a="http://schemas.openxmlformats.org/drawingml/2006/main">
            <a:off x="9791700" y="2657475"/>
            <a:ext cx="495300" cy="495300"/>
          </a:xfrm>
          <a:prstGeom xmlns:a="http://schemas.openxmlformats.org/drawingml/2006/main" prst="ellipse">
            <a:avLst/>
          </a:prstGeom>
          <a:solidFill xmlns:a="http://schemas.openxmlformats.org/drawingml/2006/main">
            <a:srgbClr val="11131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167AB75-8FB9-4B42-9026-0301C4ACC098}"/>
              </a:ext>
            </a:extLst>
          </p:cNvPr>
          <p:cNvSpPr>
            <a:spLocks xmlns:a="http://schemas.openxmlformats.org/drawingml/2006/main" noGrp="1"/>
          </p:cNvSpPr>
          <p:nvPr/>
        </p:nvSpPr>
        <p:spPr>
          <a:xfrm xmlns:a="http://schemas.openxmlformats.org/drawingml/2006/main">
            <a:off x="9791700" y="27813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2" name="">
            <a:extLst xmlns:a="http://schemas.openxmlformats.org/drawingml/2006/main">
              <a:ext uri="{FF2B5EF4-FFF2-40B4-BE49-F238E27FC236}">
                <a16:creationId xmlns:a16="http://schemas.microsoft.com/office/drawing/2014/main" id="{45CF1027-8F87-4AFF-9C7E-A5EDD21D7043}"/>
              </a:ext>
            </a:extLst>
          </p:cNvPr>
          <p:cNvSpPr>
            <a:spLocks xmlns:a="http://schemas.openxmlformats.org/drawingml/2006/main" noGrp="1"/>
          </p:cNvSpPr>
          <p:nvPr/>
        </p:nvSpPr>
        <p:spPr>
          <a:xfrm xmlns:a="http://schemas.openxmlformats.org/drawingml/2006/main">
            <a:off x="9105900" y="3314700"/>
            <a:ext cx="2400300" cy="1828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DE2E8"/>
            </a:solidFill>
            <a:prstDash val="solid"/>
          </a:ln>
        </p:spPr>
      </p:sp>
      <p:sp>
        <p:nvSpPr>
          <p:cNvPr id="23" name="">
            <a:extLst xmlns:a="http://schemas.openxmlformats.org/drawingml/2006/main">
              <a:ext uri="{FF2B5EF4-FFF2-40B4-BE49-F238E27FC236}">
                <a16:creationId xmlns:a16="http://schemas.microsoft.com/office/drawing/2014/main" id="{00673D1B-196E-4BA0-BBA8-2AFF6D22075D}"/>
              </a:ext>
            </a:extLst>
          </p:cNvPr>
          <p:cNvSpPr>
            <a:spLocks xmlns:a="http://schemas.openxmlformats.org/drawingml/2006/main" noGrp="1"/>
          </p:cNvSpPr>
          <p:nvPr/>
        </p:nvSpPr>
        <p:spPr>
          <a:xfrm xmlns:a="http://schemas.openxmlformats.org/drawingml/2006/main">
            <a:off x="9315450" y="35623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11318"/>
                </a:solidFill>
              </a:defRPr>
            </a:pPr>
            <a:r>
              <a:rPr sz="1200" b="1" i="0">
                <a:solidFill>
                  <a:srgbClr val="111318"/>
                </a:solidFill>
              </a:rPr>
              <a:t>HUMAN APPROVAL</a:t>
            </a:r>
          </a:p>
        </p:txBody>
      </p:sp>
      <p:sp>
        <p:nvSpPr>
          <p:cNvPr id="24" name="">
            <a:extLst xmlns:a="http://schemas.openxmlformats.org/drawingml/2006/main">
              <a:ext uri="{FF2B5EF4-FFF2-40B4-BE49-F238E27FC236}">
                <a16:creationId xmlns:a16="http://schemas.microsoft.com/office/drawing/2014/main" id="{0478BAF5-FAE8-45D3-85F3-554F0AFE09AC}"/>
              </a:ext>
            </a:extLst>
          </p:cNvPr>
          <p:cNvSpPr>
            <a:spLocks xmlns:a="http://schemas.openxmlformats.org/drawingml/2006/main" noGrp="1"/>
          </p:cNvSpPr>
          <p:nvPr/>
        </p:nvSpPr>
        <p:spPr>
          <a:xfrm xmlns:a="http://schemas.openxmlformats.org/drawingml/2006/main">
            <a:off x="9315450" y="3981450"/>
            <a:ext cx="1981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11318"/>
                </a:solidFill>
              </a:defRPr>
            </a:pPr>
            <a:r>
              <a:rPr sz="1350" b="1" i="0">
                <a:solidFill>
                  <a:srgbClr val="111318"/>
                </a:solidFill>
              </a:rPr>
              <a:t>Resolve tradeoffs</a:t>
            </a:r>
          </a:p>
          <a:p xmlns:a="http://schemas.openxmlformats.org/drawingml/2006/main">
            <a:pPr algn="l">
              <a:defRPr sz="1350" b="1" i="0">
                <a:solidFill>
                  <a:srgbClr val="111318"/>
                </a:solidFill>
              </a:defRPr>
            </a:pPr>
            <a:r>
              <a:rPr sz="1350" b="1" i="0">
                <a:solidFill>
                  <a:srgbClr val="111318"/>
                </a:solidFill>
              </a:rPr>
              <a:t>Run the phone demo</a:t>
            </a:r>
          </a:p>
          <a:p xmlns:a="http://schemas.openxmlformats.org/drawingml/2006/main">
            <a:pPr algn="l">
              <a:defRPr sz="1350" b="1" i="0">
                <a:solidFill>
                  <a:srgbClr val="111318"/>
                </a:solidFill>
              </a:defRPr>
            </a:pPr>
            <a:r>
              <a:rPr sz="1350" b="1" i="0">
                <a:solidFill>
                  <a:srgbClr val="111318"/>
                </a:solidFill>
              </a:rPr>
              <a:t>Accept shipped behavior</a:t>
            </a:r>
          </a:p>
        </p:txBody>
      </p:sp>
      <p:sp>
        <p:nvSpPr>
          <p:cNvPr id="25" name="">
            <a:extLst xmlns:a="http://schemas.openxmlformats.org/drawingml/2006/main">
              <a:ext uri="{FF2B5EF4-FFF2-40B4-BE49-F238E27FC236}">
                <a16:creationId xmlns:a16="http://schemas.microsoft.com/office/drawing/2014/main" id="{C71CB347-811B-4884-95F6-76B066E94D56}"/>
              </a:ext>
            </a:extLst>
          </p:cNvPr>
          <p:cNvSpPr>
            <a:spLocks xmlns:a="http://schemas.openxmlformats.org/drawingml/2006/main" noGrp="1"/>
          </p:cNvSpPr>
          <p:nvPr/>
        </p:nvSpPr>
        <p:spPr>
          <a:xfrm xmlns:a="http://schemas.openxmlformats.org/drawingml/2006/main">
            <a:off x="1047750" y="5486400"/>
            <a:ext cx="10458450" cy="742950"/>
          </a:xfrm>
          <a:prstGeom xmlns:a="http://schemas.openxmlformats.org/drawingml/2006/main" prst="roundRect">
            <a:avLst>
              <a:gd name="adj" fmla="val 15385"/>
            </a:avLst>
          </a:prstGeom>
          <a:solidFill xmlns:a="http://schemas.openxmlformats.org/drawingml/2006/main">
            <a:srgbClr val="11131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1F26B3A-8F3A-43E2-AF7A-4BA3D8299A01}"/>
              </a:ext>
            </a:extLst>
          </p:cNvPr>
          <p:cNvSpPr>
            <a:spLocks xmlns:a="http://schemas.openxmlformats.org/drawingml/2006/main" noGrp="1"/>
          </p:cNvSpPr>
          <p:nvPr/>
        </p:nvSpPr>
        <p:spPr>
          <a:xfrm xmlns:a="http://schemas.openxmlformats.org/drawingml/2006/main">
            <a:off x="1352550" y="5695950"/>
            <a:ext cx="1504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66BDF1"/>
                </a:solidFill>
              </a:defRPr>
            </a:pPr>
            <a:r>
              <a:rPr sz="1125" b="1" i="0">
                <a:solidFill>
                  <a:srgbClr val="66BDF1"/>
                </a:solidFill>
              </a:rPr>
              <a:t>Shipped outcome</a:t>
            </a:r>
          </a:p>
        </p:txBody>
      </p:sp>
      <p:sp>
        <p:nvSpPr>
          <p:cNvPr id="27" name="">
            <a:extLst xmlns:a="http://schemas.openxmlformats.org/drawingml/2006/main">
              <a:ext uri="{FF2B5EF4-FFF2-40B4-BE49-F238E27FC236}">
                <a16:creationId xmlns:a16="http://schemas.microsoft.com/office/drawing/2014/main" id="{70F3E34D-3D1C-4169-854B-DB2E802D80AA}"/>
              </a:ext>
            </a:extLst>
          </p:cNvPr>
          <p:cNvSpPr>
            <a:spLocks xmlns:a="http://schemas.openxmlformats.org/drawingml/2006/main" noGrp="1"/>
          </p:cNvSpPr>
          <p:nvPr/>
        </p:nvSpPr>
        <p:spPr>
          <a:xfrm xmlns:a="http://schemas.openxmlformats.org/drawingml/2006/main">
            <a:off x="2952750" y="5676900"/>
            <a:ext cx="824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FFFFFF"/>
                </a:solidFill>
              </a:defRPr>
            </a:pPr>
            <a:r>
              <a:rPr sz="1500" b="1" i="0">
                <a:solidFill>
                  <a:srgbClr val="FFFFFF"/>
                </a:solidFill>
              </a:rPr>
              <a:t>Clear square Stop guidance · Persistent right-aligned Reset · 57/57 final device tests</a:t>
            </a:r>
          </a:p>
        </p:txBody>
      </p:sp>
      <p:sp>
        <p:nvSpPr>
          <p:cNvPr id="28" name="">
            <a:extLst xmlns:a="http://schemas.openxmlformats.org/drawingml/2006/main">
              <a:ext uri="{FF2B5EF4-FFF2-40B4-BE49-F238E27FC236}">
                <a16:creationId xmlns:a16="http://schemas.microsoft.com/office/drawing/2014/main" id="{E4FF51EA-0068-4382-8884-C6652B862146}"/>
              </a:ext>
            </a:extLst>
          </p:cNvPr>
          <p:cNvSpPr>
            <a:spLocks xmlns:a="http://schemas.openxmlformats.org/drawingml/2006/main" noGrp="1"/>
          </p:cNvSpPr>
          <p:nvPr/>
        </p:nvSpPr>
        <p:spPr>
          <a:xfrm xmlns:a="http://schemas.openxmlformats.org/drawingml/2006/main">
            <a:off x="609600" y="6496050"/>
            <a:ext cx="10972800" cy="9525"/>
          </a:xfrm>
          <a:prstGeom xmlns:a="http://schemas.openxmlformats.org/drawingml/2006/main" prst="rect">
            <a:avLst/>
          </a:prstGeom>
          <a:solidFill xmlns:a="http://schemas.openxmlformats.org/drawingml/2006/main">
            <a:srgbClr val="DDE2E8"/>
          </a:solidFill>
          <a:ln xmlns:a="http://schemas.openxmlformats.org/drawingml/2006/main" w="0">
            <a:solidFill>
              <a:srgbClr val="DDE2E8"/>
            </a:solidFill>
            <a:prstDash val="solid"/>
          </a:ln>
        </p:spPr>
      </p:sp>
      <p:sp>
        <p:nvSpPr>
          <p:cNvPr id="29" name="">
            <a:extLst xmlns:a="http://schemas.openxmlformats.org/drawingml/2006/main">
              <a:ext uri="{FF2B5EF4-FFF2-40B4-BE49-F238E27FC236}">
                <a16:creationId xmlns:a16="http://schemas.microsoft.com/office/drawing/2014/main" id="{74B70CBF-431A-4B8F-9CEB-DE7A36794A7A}"/>
              </a:ext>
            </a:extLst>
          </p:cNvPr>
          <p:cNvSpPr>
            <a:spLocks xmlns:a="http://schemas.openxmlformats.org/drawingml/2006/main" noGrp="1"/>
          </p:cNvSpPr>
          <p:nvPr/>
        </p:nvSpPr>
        <p:spPr>
          <a:xfrm xmlns:a="http://schemas.openxmlformats.org/drawingml/2006/main">
            <a:off x="609600" y="65722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i="0">
                <a:solidFill>
                  <a:srgbClr val="8A919E"/>
                </a:solidFill>
              </a:defRPr>
            </a:pPr>
            <a:r>
              <a:rPr sz="750" b="1" i="0">
                <a:solidFill>
                  <a:srgbClr val="8A919E"/>
                </a:solidFill>
              </a:rPr>
              <a:t>PHOTO HELPER · FIVE­CENT</a:t>
            </a:r>
          </a:p>
        </p:txBody>
      </p:sp>
    </p:spTree>
    <p:extLst>
      <p:ext uri="{BB962C8B-B14F-4D97-AF65-F5344CB8AC3E}">
        <p14:creationId xmlns:p14="http://schemas.microsoft.com/office/powerpoint/2010/main" val="9846342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7CE396D-F00F-4177-8378-13554DBFB9AA}"/>
              </a:ext>
            </a:extLst>
          </p:cNvPr>
          <p:cNvSpPr>
            <a:spLocks xmlns:a="http://schemas.openxmlformats.org/drawingml/2006/main" noGrp="1"/>
          </p:cNvSpPr>
          <p:nvPr/>
        </p:nvSpPr>
        <p:spPr>
          <a:xfrm xmlns:a="http://schemas.openxmlformats.org/drawingml/2006/main">
            <a:off x="9525000" y="0"/>
            <a:ext cx="2667000" cy="2667000"/>
          </a:xfrm>
          <a:prstGeom xmlns:a="http://schemas.openxmlformats.org/drawingml/2006/main" prst="ellipse">
            <a:avLst/>
          </a:prstGeom>
          <a:solidFill xmlns:a="http://schemas.openxmlformats.org/drawingml/2006/main">
            <a:srgbClr val="FFF4E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6AB5FB-3E42-4411-843A-83A72BD89976}"/>
              </a:ext>
            </a:extLst>
          </p:cNvPr>
          <p:cNvSpPr>
            <a:spLocks xmlns:a="http://schemas.openxmlformats.org/drawingml/2006/main" noGrp="1"/>
          </p:cNvSpPr>
          <p:nvPr/>
        </p:nvSpPr>
        <p:spPr>
          <a:xfrm xmlns:a="http://schemas.openxmlformats.org/drawingml/2006/main">
            <a:off x="10287000" y="228600"/>
            <a:ext cx="1905000" cy="1905000"/>
          </a:xfrm>
          <a:prstGeom xmlns:a="http://schemas.openxmlformats.org/drawingml/2006/main" prst="ellipse">
            <a:avLst/>
          </a:prstGeom>
          <a:solidFill xmlns:a="http://schemas.openxmlformats.org/drawingml/2006/main">
            <a:srgbClr val="EAF6F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0A5840-8BE8-4947-B337-3696C8B657DD}"/>
              </a:ext>
            </a:extLst>
          </p:cNvPr>
          <p:cNvSpPr>
            <a:spLocks xmlns:a="http://schemas.openxmlformats.org/drawingml/2006/main" noGrp="1"/>
          </p:cNvSpPr>
          <p:nvPr/>
        </p:nvSpPr>
        <p:spPr>
          <a:xfrm xmlns:a="http://schemas.openxmlformats.org/drawingml/2006/main">
            <a:off x="609600" y="5524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176A9E"/>
                </a:solidFill>
              </a:defRPr>
            </a:pPr>
            <a:r>
              <a:rPr sz="1125" b="1" i="0">
                <a:solidFill>
                  <a:srgbClr val="176A9E"/>
                </a:solidFill>
              </a:rPr>
              <a:t>PHOTO HELPER</a:t>
            </a:r>
          </a:p>
        </p:txBody>
      </p:sp>
      <p:sp>
        <p:nvSpPr>
          <p:cNvPr id="4" name="">
            <a:extLst xmlns:a="http://schemas.openxmlformats.org/drawingml/2006/main">
              <a:ext uri="{FF2B5EF4-FFF2-40B4-BE49-F238E27FC236}">
                <a16:creationId xmlns:a16="http://schemas.microsoft.com/office/drawing/2014/main" id="{489A8626-4BCC-4EA2-8D3E-EFB6C3FF86B7}"/>
              </a:ext>
            </a:extLst>
          </p:cNvPr>
          <p:cNvSpPr>
            <a:spLocks xmlns:a="http://schemas.openxmlformats.org/drawingml/2006/main" noGrp="1"/>
          </p:cNvSpPr>
          <p:nvPr/>
        </p:nvSpPr>
        <p:spPr>
          <a:xfrm xmlns:a="http://schemas.openxmlformats.org/drawingml/2006/main">
            <a:off x="609600" y="1390650"/>
            <a:ext cx="8858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i="0">
                <a:solidFill>
                  <a:srgbClr val="111318"/>
                </a:solidFill>
              </a:defRPr>
            </a:pPr>
            <a:r>
              <a:rPr sz="4350" b="1" i="0">
                <a:solidFill>
                  <a:srgbClr val="111318"/>
                </a:solidFill>
              </a:rPr>
              <a:t>Speak in outcomes,</a:t>
            </a:r>
          </a:p>
          <a:p xmlns:a="http://schemas.openxmlformats.org/drawingml/2006/main">
            <a:pPr algn="l">
              <a:defRPr sz="4350" b="1" i="0">
                <a:solidFill>
                  <a:srgbClr val="111318"/>
                </a:solidFill>
              </a:defRPr>
            </a:pPr>
            <a:r>
              <a:rPr sz="4350" b="1" i="0">
                <a:solidFill>
                  <a:srgbClr val="111318"/>
                </a:solidFill>
              </a:rPr>
              <a:t>not camera settings.</a:t>
            </a:r>
          </a:p>
        </p:txBody>
      </p:sp>
      <p:sp>
        <p:nvSpPr>
          <p:cNvPr id="5" name="">
            <a:extLst xmlns:a="http://schemas.openxmlformats.org/drawingml/2006/main">
              <a:ext uri="{FF2B5EF4-FFF2-40B4-BE49-F238E27FC236}">
                <a16:creationId xmlns:a16="http://schemas.microsoft.com/office/drawing/2014/main" id="{448FE341-D4FA-4A3F-AE63-887E59987FD5}"/>
              </a:ext>
            </a:extLst>
          </p:cNvPr>
          <p:cNvSpPr>
            <a:spLocks xmlns:a="http://schemas.openxmlformats.org/drawingml/2006/main" noGrp="1"/>
          </p:cNvSpPr>
          <p:nvPr/>
        </p:nvSpPr>
        <p:spPr>
          <a:xfrm xmlns:a="http://schemas.openxmlformats.org/drawingml/2006/main">
            <a:off x="647700" y="3543300"/>
            <a:ext cx="762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5E6572"/>
                </a:solidFill>
              </a:defRPr>
            </a:pPr>
            <a:r>
              <a:rPr sz="1800" b="0" i="0">
                <a:solidFill>
                  <a:srgbClr val="5E6572"/>
                </a:solidFill>
              </a:rPr>
              <a:t>A trustworthy voice-to-camera translator for everyday family photography.</a:t>
            </a:r>
          </a:p>
        </p:txBody>
      </p:sp>
      <p:sp>
        <p:nvSpPr>
          <p:cNvPr id="6" name="">
            <a:extLst xmlns:a="http://schemas.openxmlformats.org/drawingml/2006/main">
              <a:ext uri="{FF2B5EF4-FFF2-40B4-BE49-F238E27FC236}">
                <a16:creationId xmlns:a16="http://schemas.microsoft.com/office/drawing/2014/main" id="{2D9EA688-AA2B-4B06-9455-38A19D90139F}"/>
              </a:ext>
            </a:extLst>
          </p:cNvPr>
          <p:cNvSpPr>
            <a:spLocks xmlns:a="http://schemas.openxmlformats.org/drawingml/2006/main" noGrp="1"/>
          </p:cNvSpPr>
          <p:nvPr/>
        </p:nvSpPr>
        <p:spPr>
          <a:xfrm xmlns:a="http://schemas.openxmlformats.org/drawingml/2006/main">
            <a:off x="609600" y="4667250"/>
            <a:ext cx="5105400" cy="990600"/>
          </a:xfrm>
          <a:prstGeom xmlns:a="http://schemas.openxmlformats.org/drawingml/2006/main" prst="roundRect">
            <a:avLst>
              <a:gd name="adj" fmla="val 11538"/>
            </a:avLst>
          </a:prstGeom>
          <a:solidFill xmlns:a="http://schemas.openxmlformats.org/drawingml/2006/main">
            <a:srgbClr val="11131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61D0DE4-DED7-44C0-B271-60146EA8266F}"/>
              </a:ext>
            </a:extLst>
          </p:cNvPr>
          <p:cNvSpPr>
            <a:spLocks xmlns:a="http://schemas.openxmlformats.org/drawingml/2006/main" noGrp="1"/>
          </p:cNvSpPr>
          <p:nvPr/>
        </p:nvSpPr>
        <p:spPr>
          <a:xfrm xmlns:a="http://schemas.openxmlformats.org/drawingml/2006/main">
            <a:off x="876300" y="48768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66BDF1"/>
                </a:solidFill>
              </a:defRPr>
            </a:pPr>
            <a:r>
              <a:rPr sz="975" b="1" i="0">
                <a:solidFill>
                  <a:srgbClr val="66BDF1"/>
                </a:solidFill>
              </a:rPr>
              <a:t>NOW</a:t>
            </a:r>
          </a:p>
        </p:txBody>
      </p:sp>
      <p:sp>
        <p:nvSpPr>
          <p:cNvPr id="8" name="">
            <a:extLst xmlns:a="http://schemas.openxmlformats.org/drawingml/2006/main">
              <a:ext uri="{FF2B5EF4-FFF2-40B4-BE49-F238E27FC236}">
                <a16:creationId xmlns:a16="http://schemas.microsoft.com/office/drawing/2014/main" id="{50A9B829-A758-4F3F-B333-832604B9A88B}"/>
              </a:ext>
            </a:extLst>
          </p:cNvPr>
          <p:cNvSpPr>
            <a:spLocks xmlns:a="http://schemas.openxmlformats.org/drawingml/2006/main" noGrp="1"/>
          </p:cNvSpPr>
          <p:nvPr/>
        </p:nvSpPr>
        <p:spPr>
          <a:xfrm xmlns:a="http://schemas.openxmlformats.org/drawingml/2006/main">
            <a:off x="876300" y="5181600"/>
            <a:ext cx="445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FFFFFF"/>
                </a:solidFill>
              </a:defRPr>
            </a:pPr>
            <a:r>
              <a:rPr sz="1650" b="1" i="0">
                <a:solidFill>
                  <a:srgbClr val="FFFFFF"/>
                </a:solidFill>
              </a:rPr>
              <a:t>Consumer family camera utility</a:t>
            </a:r>
          </a:p>
        </p:txBody>
      </p:sp>
      <p:sp>
        <p:nvSpPr>
          <p:cNvPr id="9" name="">
            <a:extLst xmlns:a="http://schemas.openxmlformats.org/drawingml/2006/main">
              <a:ext uri="{FF2B5EF4-FFF2-40B4-BE49-F238E27FC236}">
                <a16:creationId xmlns:a16="http://schemas.microsoft.com/office/drawing/2014/main" id="{18582754-7BC8-406B-92C9-D0BE42021D55}"/>
              </a:ext>
            </a:extLst>
          </p:cNvPr>
          <p:cNvSpPr>
            <a:spLocks xmlns:a="http://schemas.openxmlformats.org/drawingml/2006/main" noGrp="1"/>
          </p:cNvSpPr>
          <p:nvPr/>
        </p:nvSpPr>
        <p:spPr>
          <a:xfrm xmlns:a="http://schemas.openxmlformats.org/drawingml/2006/main">
            <a:off x="5943600" y="4667250"/>
            <a:ext cx="5638800" cy="990600"/>
          </a:xfrm>
          <a:prstGeom xmlns:a="http://schemas.openxmlformats.org/drawingml/2006/main" prst="roundRect">
            <a:avLst>
              <a:gd name="adj" fmla="val 11538"/>
            </a:avLst>
          </a:prstGeom>
          <a:solidFill xmlns:a="http://schemas.openxmlformats.org/drawingml/2006/main">
            <a:srgbClr val="EAF6F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5674CB5-7795-42FB-840A-4752CC634D33}"/>
              </a:ext>
            </a:extLst>
          </p:cNvPr>
          <p:cNvSpPr>
            <a:spLocks xmlns:a="http://schemas.openxmlformats.org/drawingml/2006/main" noGrp="1"/>
          </p:cNvSpPr>
          <p:nvPr/>
        </p:nvSpPr>
        <p:spPr>
          <a:xfrm xmlns:a="http://schemas.openxmlformats.org/drawingml/2006/main">
            <a:off x="6210300" y="48768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176A9E"/>
                </a:solidFill>
              </a:defRPr>
            </a:pPr>
            <a:r>
              <a:rPr sz="975" b="1" i="0">
                <a:solidFill>
                  <a:srgbClr val="176A9E"/>
                </a:solidFill>
              </a:rPr>
              <a:t>NEXT</a:t>
            </a:r>
          </a:p>
        </p:txBody>
      </p:sp>
      <p:sp>
        <p:nvSpPr>
          <p:cNvPr id="11" name="">
            <a:extLst xmlns:a="http://schemas.openxmlformats.org/drawingml/2006/main">
              <a:ext uri="{FF2B5EF4-FFF2-40B4-BE49-F238E27FC236}">
                <a16:creationId xmlns:a16="http://schemas.microsoft.com/office/drawing/2014/main" id="{AE77D67B-6DB8-441C-9FF3-3C084BABA75D}"/>
              </a:ext>
            </a:extLst>
          </p:cNvPr>
          <p:cNvSpPr>
            <a:spLocks xmlns:a="http://schemas.openxmlformats.org/drawingml/2006/main" noGrp="1"/>
          </p:cNvSpPr>
          <p:nvPr/>
        </p:nvSpPr>
        <p:spPr>
          <a:xfrm xmlns:a="http://schemas.openxmlformats.org/drawingml/2006/main">
            <a:off x="6210300" y="5181600"/>
            <a:ext cx="499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11318"/>
                </a:solidFill>
              </a:defRPr>
            </a:pPr>
            <a:r>
              <a:rPr sz="1650" b="1" i="0">
                <a:solidFill>
                  <a:srgbClr val="111318"/>
                </a:solidFill>
              </a:rPr>
              <a:t>Partner with phone makers or camera apps</a:t>
            </a:r>
          </a:p>
        </p:txBody>
      </p:sp>
      <p:sp>
        <p:nvSpPr>
          <p:cNvPr id="12" name="">
            <a:extLst xmlns:a="http://schemas.openxmlformats.org/drawingml/2006/main">
              <a:ext uri="{FF2B5EF4-FFF2-40B4-BE49-F238E27FC236}">
                <a16:creationId xmlns:a16="http://schemas.microsoft.com/office/drawing/2014/main" id="{48703786-7A9C-4D03-966C-34DA0BF18F23}"/>
              </a:ext>
            </a:extLst>
          </p:cNvPr>
          <p:cNvSpPr>
            <a:spLocks xmlns:a="http://schemas.openxmlformats.org/drawingml/2006/main" noGrp="1"/>
          </p:cNvSpPr>
          <p:nvPr/>
        </p:nvSpPr>
        <p:spPr>
          <a:xfrm xmlns:a="http://schemas.openxmlformats.org/drawingml/2006/main">
            <a:off x="647700" y="6019800"/>
            <a:ext cx="10934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5E6572"/>
                </a:solidFill>
              </a:defRPr>
            </a:pPr>
            <a:r>
              <a:rPr sz="1200" b="1" i="0">
                <a:solidFill>
                  <a:srgbClr val="5E6572"/>
                </a:solidFill>
              </a:rPr>
              <a:t>Pilot metrics: successful capture · time-to-capture · manual interactions · retakes · confidence</a:t>
            </a:r>
          </a:p>
        </p:txBody>
      </p:sp>
      <p:sp>
        <p:nvSpPr>
          <p:cNvPr id="13" name="">
            <a:extLst xmlns:a="http://schemas.openxmlformats.org/drawingml/2006/main">
              <a:ext uri="{FF2B5EF4-FFF2-40B4-BE49-F238E27FC236}">
                <a16:creationId xmlns:a16="http://schemas.microsoft.com/office/drawing/2014/main" id="{B8B7A133-4ACB-4B2E-A562-52B896601C54}"/>
              </a:ext>
            </a:extLst>
          </p:cNvPr>
          <p:cNvSpPr>
            <a:spLocks xmlns:a="http://schemas.openxmlformats.org/drawingml/2006/main" noGrp="1"/>
          </p:cNvSpPr>
          <p:nvPr/>
        </p:nvSpPr>
        <p:spPr>
          <a:xfrm xmlns:a="http://schemas.openxmlformats.org/drawingml/2006/main">
            <a:off x="609600" y="6496050"/>
            <a:ext cx="10972800" cy="9525"/>
          </a:xfrm>
          <a:prstGeom xmlns:a="http://schemas.openxmlformats.org/drawingml/2006/main" prst="rect">
            <a:avLst/>
          </a:prstGeom>
          <a:solidFill xmlns:a="http://schemas.openxmlformats.org/drawingml/2006/main">
            <a:srgbClr val="DDE2E8"/>
          </a:solidFill>
          <a:ln xmlns:a="http://schemas.openxmlformats.org/drawingml/2006/main" w="0">
            <a:solidFill>
              <a:srgbClr val="DDE2E8"/>
            </a:solidFill>
            <a:prstDash val="solid"/>
          </a:ln>
        </p:spPr>
      </p:sp>
      <p:sp>
        <p:nvSpPr>
          <p:cNvPr id="14" name="">
            <a:extLst xmlns:a="http://schemas.openxmlformats.org/drawingml/2006/main">
              <a:ext uri="{FF2B5EF4-FFF2-40B4-BE49-F238E27FC236}">
                <a16:creationId xmlns:a16="http://schemas.microsoft.com/office/drawing/2014/main" id="{8A08D6E3-49CB-450A-9DDE-DEAABBD0CDA0}"/>
              </a:ext>
            </a:extLst>
          </p:cNvPr>
          <p:cNvSpPr>
            <a:spLocks xmlns:a="http://schemas.openxmlformats.org/drawingml/2006/main" noGrp="1"/>
          </p:cNvSpPr>
          <p:nvPr/>
        </p:nvSpPr>
        <p:spPr>
          <a:xfrm xmlns:a="http://schemas.openxmlformats.org/drawingml/2006/main">
            <a:off x="609600" y="65722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i="0">
                <a:solidFill>
                  <a:srgbClr val="8A919E"/>
                </a:solidFill>
              </a:defRPr>
            </a:pPr>
            <a:r>
              <a:rPr sz="750" b="1" i="0">
                <a:solidFill>
                  <a:srgbClr val="8A919E"/>
                </a:solidFill>
              </a:rPr>
              <a:t>FIVECENT · LU BOLIN · ETHAN YAP · NATHANAEL LEONG</a:t>
            </a:r>
          </a:p>
        </p:txBody>
      </p:sp>
    </p:spTree>
    <p:extLst>
      <p:ext uri="{BB962C8B-B14F-4D97-AF65-F5344CB8AC3E}">
        <p14:creationId xmlns:p14="http://schemas.microsoft.com/office/powerpoint/2010/main" val="7891511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2026-08-14T04:04:49.6840000Z</dcterms:created>
  <dcterms:modified xsi:type="dcterms:W3CDTF">2026-08-14T04:04:49.6840000Z</dcterms:modified>
</coreProperties>
</file>