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1146" autoAdjust="0"/>
  </p:normalViewPr>
  <p:slideViewPr>
    <p:cSldViewPr snapToGrid="0">
      <p:cViewPr varScale="1">
        <p:scale>
          <a:sx n="56" d="100"/>
          <a:sy n="56" d="100"/>
        </p:scale>
        <p:origin x="212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0:00–0:35</a:t>
            </a:r>
          </a:p>
          <a:p>
            <a:endParaRPr/>
          </a:p>
          <a:p>
            <a:r>
              <a:t>Say:</a:t>
            </a:r>
          </a:p>
          <a:p>
            <a:r>
              <a:t>Good afternoon. We’re Team Fivecent—Lu Bolin, Ethan Yap, and Nathanael Leong—and we built Photo Helper.</a:t>
            </a:r>
          </a:p>
          <a:p>
            <a:endParaRPr/>
          </a:p>
          <a:p>
            <a:r>
              <a:t>People usually know the result they want: a brighter image, focus on the right subject, or enough time to join the picture. The difficult part is translating that intention into camera controls.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0:35–1:30</a:t>
            </a:r>
          </a:p>
          <a:p>
            <a:endParaRPr dirty="0"/>
          </a:p>
          <a:p>
            <a:r>
              <a:rPr dirty="0"/>
              <a:t>Say:</a:t>
            </a:r>
          </a:p>
          <a:p>
            <a:r>
              <a:rPr dirty="0"/>
              <a:t>Photo Helper is a voice-first camera agent designed for mobile phones; our current prototype runs natively on Android. The app captures speech on the phone, then combines the transcription with a reduced frame from the live scene and the camera’s current capabilities.</a:t>
            </a:r>
          </a:p>
          <a:p>
            <a:endParaRPr lang="en-US" dirty="0"/>
          </a:p>
          <a:p>
            <a:r>
              <a:rPr lang="en-US" dirty="0"/>
              <a:t>To achieve this goal, we rely on a multimodal </a:t>
            </a:r>
            <a:r>
              <a:rPr lang="en-US" altLang="zh-CN" dirty="0"/>
              <a:t>model. The model we chose is </a:t>
            </a:r>
            <a:r>
              <a:rPr lang="en-US" altLang="zh-CN" dirty="0" err="1"/>
              <a:t>qwen</a:t>
            </a:r>
            <a:r>
              <a:rPr lang="en-US" altLang="zh-CN" dirty="0"/>
              <a:t> </a:t>
            </a:r>
            <a:r>
              <a:rPr lang="en-US" altLang="zh-CN"/>
              <a:t>3.7 flash.</a:t>
            </a:r>
            <a:endParaRPr lang="en-US" dirty="0"/>
          </a:p>
          <a:p>
            <a:endParaRPr dirty="0"/>
          </a:p>
          <a:p>
            <a:r>
              <a:rPr dirty="0"/>
              <a:t>Qwen turns those inputs into a small, ordered plan using supported actions such as brightness, zoom, white balance, focus, timer, and capture. Android remains the execution layer: it validates each step against the device, applies supported actions through the camera APIs, and preserves Reset whenever a change can be reversed.</a:t>
            </a:r>
          </a:p>
          <a:p>
            <a:endParaRPr dirty="0"/>
          </a:p>
          <a:p>
            <a:r>
              <a:rPr dirty="0"/>
              <a:t>Users can state an exact outcome, or tap Smart Mode to make a one-step request: “Make this shot look nicer.” It uses the same bounded planning and validation path. Let me show you the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1:30–2:30</a:t>
            </a:r>
          </a:p>
          <a:p>
            <a:endParaRPr/>
          </a:p>
          <a:p>
            <a:r>
              <a:t>Alt-tab to the prepared one-minute demo footage. Protect the recorded command and the final three countdown beats. Narrate only over processing or silent footage.</a:t>
            </a:r>
          </a:p>
          <a:p>
            <a:endParaRPr/>
          </a:p>
          <a:p>
            <a:r>
              <a:t>Opening: This is the working prototype on a real phone. I am giving it one request that combines an adjustment, a visual focus target, and a timed capture.</a:t>
            </a:r>
          </a:p>
          <a:p>
            <a:endParaRPr/>
          </a:p>
          <a:p>
            <a:r>
              <a:t>Recorded command: Make the picture brighter, focus on the panda, and take a photo in five seconds.</a:t>
            </a:r>
          </a:p>
          <a:p>
            <a:endParaRPr/>
          </a:p>
          <a:p>
            <a:r>
              <a:t>During processing: The transcript, scene frame, and camera context produce the ordered plan you see here. Android validates each step, then executes the sequence: increase brightness, focus on the panda, run the countdown, and capture the photo.</a:t>
            </a:r>
          </a:p>
          <a:p>
            <a:endParaRPr/>
          </a:p>
          <a:p>
            <a:r>
              <a:t>Closing: That entire flow came from one spoken request. The second clip shows Smart Mode using the same system when the user simply asks the camera to make the shot look nicer.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2:30–3:10</a:t>
            </a:r>
          </a:p>
          <a:p>
            <a:endParaRPr/>
          </a:p>
          <a:p>
            <a:r>
              <a:t>Say:</a:t>
            </a:r>
          </a:p>
          <a:p>
            <a:r>
              <a:t>That is the user experience. I also want to explain how WorkBuddy helped us move from an end-to-end prototype to this polished flow.</a:t>
            </a:r>
          </a:p>
          <a:p>
            <a:endParaRPr/>
          </a:p>
          <a:p>
            <a:r>
              <a:t>We did not use WorkBuddy as a one-shot code generator. Early development required fast build-and-debug loops. Once the complete camera journey worked, we used WorkBuddy as an independent product-quality team. Its expert system let us pair different models with specialist perspectives and give each review a clear responsibility.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3:10–4:30</a:t>
            </a:r>
          </a:p>
          <a:p>
            <a:endParaRPr/>
          </a:p>
          <a:p>
            <a:r>
              <a:t>Say:</a:t>
            </a:r>
          </a:p>
          <a:p>
            <a:r>
              <a:t>First, HY3 worked with the Mobile Application Developer expert. We supplied the Android workspace, product documents, screenshots, tests, and intended journey. It traced the experience from onboarding and permissions through voice input, AI planning, camera actions, and failure recovery. For every issue, it had to explain user impact, point to implementation evidence, and recommend the smallest credible fix.</a:t>
            </a:r>
          </a:p>
          <a:p>
            <a:endParaRPr/>
          </a:p>
          <a:p>
            <a:r>
              <a:t>Next, Kimi-K3 worked with the UI Designer expert as a fresh pair of eyes. This review focused on comprehension, accessibility, and recovery. It helped us align the listening guidance with the compact square Stop button and keep Reset available whenever an adjustment could still be reversed.</a:t>
            </a:r>
          </a:p>
          <a:p>
            <a:endParaRPr/>
          </a:p>
          <a:p>
            <a:r>
              <a:t>Finally, HY3 returned with the Software Workshop expert. It implemented the selected changes, rebuilt and installed the APK, and verified the result on a physical OnePlus phone.</a:t>
            </a:r>
          </a:p>
          <a:p>
            <a:endParaRPr/>
          </a:p>
          <a:p>
            <a:r>
              <a:t>So WorkBuddy gave us more than suggestions. It created a repeatable loop—investigate, challenge, implement, and verify—with each specialist focused on where it added the most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4:30–5:00</a:t>
            </a:r>
          </a:p>
          <a:p>
            <a:endParaRPr/>
          </a:p>
          <a:p>
            <a:r>
              <a:t>Say:</a:t>
            </a:r>
          </a:p>
          <a:p>
            <a:r>
              <a:t>Three gaps define the next version. For focus, replace the grid with an object mask. For speed, move commands on-device and accelerate image understanding. For aesthetics, capture a rapid burst with several safe configurations and let the user choose the best result. That choice becomes the preferred example; the alternatives become rejected examples for post-training. Across many choices, Smart Mode learns a shared baseline, then personalizes its ranking for each user. Precise, responsive, personal. Thank you.</a:t>
            </a:r>
          </a:p>
          <a:p>
            <a:endParaRPr/>
          </a:p>
          <a:p>
            <a:r>
              <a:t>Post-training detail for Q&amp;A:</a:t>
            </a:r>
          </a:p>
          <a:p>
            <a:r>
              <a:t>Smart Mode proposes a small set of bounded camera configurations. Where the device supports rapid control changes, capture them as a short burst after locking focus; otherwise capture a high-quality burst and render the variations computationally so exposure and white balance do not need to settle between every frame. The user selects the best result. Store the selected result as preferred and the alternatives as rejected examples, then use preference optimization to improve the shared Smart Mode ranker. A lightweight personal preference profile can re-rank future candidates from that user's prior selections; this is more practical than fine-tuning the full model after every choice. Do not promise exactly five photos per second until the rate has been benchmarked across target phones. The system learns recurring preferences, not a universal definition of beauty.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cover-eyebrow">
            <a:extLst>
              <a:ext uri="{FF2B5EF4-FFF2-40B4-BE49-F238E27FC236}">
                <a16:creationId xmlns:a16="http://schemas.microsoft.com/office/drawing/2014/main" id="{7AA14522-7D6B-4828-878E-783812F35C1E}"/>
              </a:ext>
            </a:extLst>
          </p:cNvPr>
          <p:cNvSpPr>
            <a:spLocks noGrp="1"/>
          </p:cNvSpPr>
          <p:nvPr/>
        </p:nvSpPr>
        <p:spPr>
          <a:xfrm>
            <a:off x="609600" y="457200"/>
            <a:ext cx="5143500" cy="247650"/>
          </a:xfrm>
          <a:prstGeom prst="rect">
            <a:avLst/>
          </a:prstGeom>
          <a:noFill/>
          <a:ln w="0">
            <a:noFill/>
            <a:prstDash val="solid"/>
          </a:ln>
        </p:spPr>
        <p:txBody>
          <a:bodyPr wrap="square" lIns="0" tIns="0" rIns="0" bIns="0" anchor="t">
            <a:norm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AI TINKERERS × TENCENT CLOUD · LIFE AGENT</a:t>
            </a:r>
          </a:p>
        </p:txBody>
      </p:sp>
      <p:sp>
        <p:nvSpPr>
          <p:cNvPr id="2" name="cover-title">
            <a:extLst>
              <a:ext uri="{FF2B5EF4-FFF2-40B4-BE49-F238E27FC236}">
                <a16:creationId xmlns:a16="http://schemas.microsoft.com/office/drawing/2014/main" id="{DDE7DC9C-8BB5-460F-A594-72CA0154E559}"/>
              </a:ext>
            </a:extLst>
          </p:cNvPr>
          <p:cNvSpPr>
            <a:spLocks noGrp="1"/>
          </p:cNvSpPr>
          <p:nvPr/>
        </p:nvSpPr>
        <p:spPr>
          <a:xfrm>
            <a:off x="609600" y="1143000"/>
            <a:ext cx="4953000" cy="857250"/>
          </a:xfrm>
          <a:prstGeom prst="rect">
            <a:avLst/>
          </a:prstGeom>
          <a:noFill/>
          <a:ln w="0">
            <a:noFill/>
            <a:prstDash val="solid"/>
          </a:ln>
        </p:spPr>
        <p:txBody>
          <a:bodyPr wrap="square" lIns="0" tIns="0" rIns="0" bIns="0" anchor="t">
            <a:normAutofit/>
          </a:bodyPr>
          <a:lstStyle/>
          <a:p>
            <a:pPr algn="l">
              <a:defRPr sz="4500" b="1">
                <a:solidFill>
                  <a:srgbClr val="101114"/>
                </a:solidFill>
                <a:latin typeface="Arial"/>
                <a:ea typeface="Arial"/>
                <a:cs typeface="Arial"/>
              </a:defRPr>
            </a:pPr>
            <a:r>
              <a:rPr sz="4500" b="1">
                <a:solidFill>
                  <a:srgbClr val="101114"/>
                </a:solidFill>
                <a:latin typeface="Arial"/>
                <a:ea typeface="Arial"/>
                <a:cs typeface="Arial"/>
              </a:rPr>
              <a:t>PHOTO HELPER</a:t>
            </a:r>
          </a:p>
        </p:txBody>
      </p:sp>
      <p:sp>
        <p:nvSpPr>
          <p:cNvPr id="3" name="cover-promise">
            <a:extLst>
              <a:ext uri="{FF2B5EF4-FFF2-40B4-BE49-F238E27FC236}">
                <a16:creationId xmlns:a16="http://schemas.microsoft.com/office/drawing/2014/main" id="{60C966FA-8AD5-4E1C-9877-061D1DE69DC0}"/>
              </a:ext>
            </a:extLst>
          </p:cNvPr>
          <p:cNvSpPr>
            <a:spLocks noGrp="1"/>
          </p:cNvSpPr>
          <p:nvPr/>
        </p:nvSpPr>
        <p:spPr>
          <a:xfrm>
            <a:off x="609600" y="2190750"/>
            <a:ext cx="4953000" cy="1009650"/>
          </a:xfrm>
          <a:prstGeom prst="rect">
            <a:avLst/>
          </a:prstGeom>
          <a:noFill/>
          <a:ln w="0">
            <a:noFill/>
            <a:prstDash val="solid"/>
          </a:ln>
        </p:spPr>
        <p:txBody>
          <a:bodyPr wrap="square" lIns="0" tIns="0" rIns="0" bIns="0" anchor="t">
            <a:normAutofit/>
          </a:bodyPr>
          <a:lstStyle/>
          <a:p>
            <a:pPr algn="l">
              <a:lnSpc>
                <a:spcPct val="105000"/>
              </a:lnSpc>
              <a:buNone/>
              <a:defRPr sz="2625" b="1">
                <a:solidFill>
                  <a:srgbClr val="101114"/>
                </a:solidFill>
                <a:latin typeface="Arial"/>
                <a:ea typeface="Arial"/>
                <a:cs typeface="Arial"/>
              </a:defRPr>
            </a:pPr>
            <a:r>
              <a:rPr sz="2625" b="1">
                <a:solidFill>
                  <a:srgbClr val="101114"/>
                </a:solidFill>
                <a:latin typeface="Arial"/>
                <a:ea typeface="Arial"/>
                <a:cs typeface="Arial"/>
              </a:rPr>
              <a:t>Speak in outcomes,</a:t>
            </a:r>
          </a:p>
          <a:p>
            <a:pPr algn="l">
              <a:lnSpc>
                <a:spcPct val="105000"/>
              </a:lnSpc>
              <a:buNone/>
              <a:defRPr sz="2625" b="1">
                <a:solidFill>
                  <a:srgbClr val="101114"/>
                </a:solidFill>
                <a:latin typeface="Arial"/>
                <a:ea typeface="Arial"/>
                <a:cs typeface="Arial"/>
              </a:defRPr>
            </a:pPr>
            <a:r>
              <a:rPr sz="2625" b="1">
                <a:solidFill>
                  <a:srgbClr val="101114"/>
                </a:solidFill>
                <a:latin typeface="Arial"/>
                <a:ea typeface="Arial"/>
                <a:cs typeface="Arial"/>
              </a:rPr>
              <a:t>not camera settings.</a:t>
            </a:r>
          </a:p>
        </p:txBody>
      </p:sp>
      <p:sp>
        <p:nvSpPr>
          <p:cNvPr id="4" name="cover-accent">
            <a:extLst>
              <a:ext uri="{FF2B5EF4-FFF2-40B4-BE49-F238E27FC236}">
                <a16:creationId xmlns:a16="http://schemas.microsoft.com/office/drawing/2014/main" id="{38C5783B-07FB-46A7-B52B-3E18FDD1BCBD}"/>
              </a:ext>
            </a:extLst>
          </p:cNvPr>
          <p:cNvSpPr>
            <a:spLocks noGrp="1"/>
          </p:cNvSpPr>
          <p:nvPr/>
        </p:nvSpPr>
        <p:spPr>
          <a:xfrm>
            <a:off x="609600" y="3476625"/>
            <a:ext cx="1143000" cy="66675"/>
          </a:xfrm>
          <a:prstGeom prst="rect">
            <a:avLst/>
          </a:prstGeom>
          <a:solidFill>
            <a:srgbClr val="3D8DFF"/>
          </a:solidFill>
          <a:ln w="0">
            <a:noFill/>
            <a:prstDash val="solid"/>
          </a:ln>
        </p:spPr>
        <p:txBody>
          <a:bodyPr/>
          <a:lstStyle/>
          <a:p>
            <a:endParaRPr lang="en-US"/>
          </a:p>
        </p:txBody>
      </p:sp>
      <p:sp>
        <p:nvSpPr>
          <p:cNvPr id="5" name="cover-examples">
            <a:extLst>
              <a:ext uri="{FF2B5EF4-FFF2-40B4-BE49-F238E27FC236}">
                <a16:creationId xmlns:a16="http://schemas.microsoft.com/office/drawing/2014/main" id="{D46D58D6-2A4B-4DC9-A70C-1CDE8D4EFDD3}"/>
              </a:ext>
            </a:extLst>
          </p:cNvPr>
          <p:cNvSpPr>
            <a:spLocks noGrp="1"/>
          </p:cNvSpPr>
          <p:nvPr/>
        </p:nvSpPr>
        <p:spPr>
          <a:xfrm>
            <a:off x="609600" y="3857625"/>
            <a:ext cx="4857750" cy="1257300"/>
          </a:xfrm>
          <a:prstGeom prst="rect">
            <a:avLst/>
          </a:prstGeom>
          <a:noFill/>
          <a:ln w="0">
            <a:noFill/>
            <a:prstDash val="solid"/>
          </a:ln>
        </p:spPr>
        <p:txBody>
          <a:bodyPr wrap="square" lIns="0" tIns="0" rIns="0" bIns="0" anchor="t">
            <a:normAutofit/>
          </a:bodyPr>
          <a:lstStyle/>
          <a:p>
            <a:pPr algn="l">
              <a:lnSpc>
                <a:spcPct val="110000"/>
              </a:lnSpc>
              <a:buNone/>
              <a:defRPr sz="1875" b="0">
                <a:solidFill>
                  <a:srgbClr val="60656F"/>
                </a:solidFill>
                <a:latin typeface="Arial"/>
                <a:ea typeface="Arial"/>
                <a:cs typeface="Arial"/>
              </a:defRPr>
            </a:pPr>
            <a:r>
              <a:rPr sz="1875" b="0">
                <a:solidFill>
                  <a:srgbClr val="60656F"/>
                </a:solidFill>
                <a:latin typeface="Arial"/>
                <a:ea typeface="Arial"/>
                <a:cs typeface="Arial"/>
              </a:rPr>
              <a:t>“Make it brighter.”</a:t>
            </a:r>
          </a:p>
          <a:p>
            <a:pPr algn="l">
              <a:lnSpc>
                <a:spcPct val="110000"/>
              </a:lnSpc>
              <a:buNone/>
              <a:defRPr sz="1875" b="0">
                <a:solidFill>
                  <a:srgbClr val="60656F"/>
                </a:solidFill>
                <a:latin typeface="Arial"/>
                <a:ea typeface="Arial"/>
                <a:cs typeface="Arial"/>
              </a:defRPr>
            </a:pPr>
            <a:r>
              <a:rPr sz="1875" b="0">
                <a:solidFill>
                  <a:srgbClr val="60656F"/>
                </a:solidFill>
                <a:latin typeface="Arial"/>
                <a:ea typeface="Arial"/>
                <a:cs typeface="Arial"/>
              </a:rPr>
              <a:t>“Focus on the panda.”</a:t>
            </a:r>
          </a:p>
          <a:p>
            <a:pPr algn="l">
              <a:lnSpc>
                <a:spcPct val="110000"/>
              </a:lnSpc>
              <a:buNone/>
              <a:defRPr sz="1875" b="0">
                <a:solidFill>
                  <a:srgbClr val="60656F"/>
                </a:solidFill>
                <a:latin typeface="Arial"/>
                <a:ea typeface="Arial"/>
                <a:cs typeface="Arial"/>
              </a:defRPr>
            </a:pPr>
            <a:r>
              <a:rPr sz="1875" b="0">
                <a:solidFill>
                  <a:srgbClr val="60656F"/>
                </a:solidFill>
                <a:latin typeface="Arial"/>
                <a:ea typeface="Arial"/>
                <a:cs typeface="Arial"/>
              </a:rPr>
              <a:t>“Take a photo in five seconds.”</a:t>
            </a:r>
          </a:p>
        </p:txBody>
      </p:sp>
      <p:sp>
        <p:nvSpPr>
          <p:cNvPr id="6" name="cover-team">
            <a:extLst>
              <a:ext uri="{FF2B5EF4-FFF2-40B4-BE49-F238E27FC236}">
                <a16:creationId xmlns:a16="http://schemas.microsoft.com/office/drawing/2014/main" id="{868DDC8A-A05C-4EA3-B239-3C190677F94C}"/>
              </a:ext>
            </a:extLst>
          </p:cNvPr>
          <p:cNvSpPr>
            <a:spLocks noGrp="1"/>
          </p:cNvSpPr>
          <p:nvPr/>
        </p:nvSpPr>
        <p:spPr>
          <a:xfrm>
            <a:off x="609600" y="6115050"/>
            <a:ext cx="5238750" cy="209550"/>
          </a:xfrm>
          <a:prstGeom prst="rect">
            <a:avLst/>
          </a:prstGeom>
          <a:noFill/>
          <a:ln w="0">
            <a:noFill/>
            <a:prstDash val="solid"/>
          </a:ln>
        </p:spPr>
        <p:txBody>
          <a:bodyPr wrap="square" lIns="0" tIns="0" rIns="0" bIns="0" anchor="t">
            <a:normAutofit/>
          </a:bodyPr>
          <a:lstStyle/>
          <a:p>
            <a:pPr algn="l">
              <a:defRPr sz="900" b="1">
                <a:solidFill>
                  <a:srgbClr val="60656F"/>
                </a:solidFill>
                <a:latin typeface="Arial"/>
                <a:ea typeface="Arial"/>
                <a:cs typeface="Arial"/>
              </a:defRPr>
            </a:pPr>
            <a:r>
              <a:rPr sz="900" b="1">
                <a:solidFill>
                  <a:srgbClr val="60656F"/>
                </a:solidFill>
                <a:latin typeface="Arial"/>
                <a:ea typeface="Arial"/>
                <a:cs typeface="Arial"/>
              </a:rPr>
              <a:t>FIVECENT · LU BOLIN · ETHAN YAP · NATHANAEL LEONG</a:t>
            </a:r>
          </a:p>
        </p:txBody>
      </p:sp>
      <p:sp>
        <p:nvSpPr>
          <p:cNvPr id="7" name="cover-image-backing">
            <a:extLst>
              <a:ext uri="{FF2B5EF4-FFF2-40B4-BE49-F238E27FC236}">
                <a16:creationId xmlns:a16="http://schemas.microsoft.com/office/drawing/2014/main" id="{A86F0C98-6AD5-489B-9F75-C0DCE85346E6}"/>
              </a:ext>
            </a:extLst>
          </p:cNvPr>
          <p:cNvSpPr>
            <a:spLocks noGrp="1"/>
          </p:cNvSpPr>
          <p:nvPr/>
        </p:nvSpPr>
        <p:spPr>
          <a:xfrm>
            <a:off x="6267450" y="400050"/>
            <a:ext cx="5543550" cy="5600700"/>
          </a:xfrm>
          <a:prstGeom prst="roundRect">
            <a:avLst>
              <a:gd name="adj" fmla="val 3093"/>
            </a:avLst>
          </a:prstGeom>
          <a:solidFill>
            <a:srgbClr val="EAF5FB"/>
          </a:solidFill>
          <a:ln w="9525">
            <a:solidFill>
              <a:srgbClr val="B8BCC4"/>
            </a:solidFill>
            <a:prstDash val="solid"/>
          </a:ln>
        </p:spPr>
        <p:txBody>
          <a:bodyPr/>
          <a:lstStyle/>
          <a:p>
            <a:endParaRPr lang="en-US"/>
          </a:p>
        </p:txBody>
      </p:sp>
      <p:pic>
        <p:nvPicPr>
          <p:cNvPr id="16" name="Picture 15"/>
          <p:cNvPicPr>
            <a:picLocks noChangeAspect="1"/>
          </p:cNvPicPr>
          <p:nvPr/>
        </p:nvPicPr>
        <p:blipFill>
          <a:blip r:embed="rId3"/>
          <a:srcRect l="25485" r="25485"/>
          <a:stretch>
            <a:fillRect/>
          </a:stretch>
        </p:blipFill>
        <p:spPr>
          <a:xfrm>
            <a:off x="6267450" y="400050"/>
            <a:ext cx="5543550" cy="5600700"/>
          </a:xfrm>
          <a:prstGeom prst="roundRect">
            <a:avLst>
              <a:gd name="adj" fmla="val 3093"/>
            </a:avLst>
          </a:prstGeom>
        </p:spPr>
      </p:pic>
    </p:spTree>
    <p:extLst>
      <p:ext uri="{BB962C8B-B14F-4D97-AF65-F5344CB8AC3E}">
        <p14:creationId xmlns:p14="http://schemas.microsoft.com/office/powerpoint/2010/main" val="50873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stage-index-2">
            <a:extLst>
              <a:ext uri="{FF2B5EF4-FFF2-40B4-BE49-F238E27FC236}">
                <a16:creationId xmlns:a16="http://schemas.microsoft.com/office/drawing/2014/main" id="{A8B0E962-B51C-4145-A83C-2CAB41A879D2}"/>
              </a:ext>
            </a:extLst>
          </p:cNvPr>
          <p:cNvSpPr>
            <a:spLocks noGrp="1"/>
          </p:cNvSpPr>
          <p:nvPr/>
        </p:nvSpPr>
        <p:spPr>
          <a:xfrm>
            <a:off x="609600" y="400050"/>
            <a:ext cx="438150" cy="2286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02</a:t>
            </a:r>
          </a:p>
        </p:txBody>
      </p:sp>
      <p:sp>
        <p:nvSpPr>
          <p:cNvPr id="2" name="stage-section-2">
            <a:extLst>
              <a:ext uri="{FF2B5EF4-FFF2-40B4-BE49-F238E27FC236}">
                <a16:creationId xmlns:a16="http://schemas.microsoft.com/office/drawing/2014/main" id="{52114F0A-D248-4FE0-9186-39F544FEB0F1}"/>
              </a:ext>
            </a:extLst>
          </p:cNvPr>
          <p:cNvSpPr>
            <a:spLocks noGrp="1"/>
          </p:cNvSpPr>
          <p:nvPr/>
        </p:nvSpPr>
        <p:spPr>
          <a:xfrm>
            <a:off x="1162050" y="400050"/>
            <a:ext cx="5905500" cy="228600"/>
          </a:xfrm>
          <a:prstGeom prst="rect">
            <a:avLst/>
          </a:prstGeom>
          <a:noFill/>
          <a:ln w="0">
            <a:noFill/>
            <a:prstDash val="solid"/>
          </a:ln>
        </p:spPr>
        <p:txBody>
          <a:bodyPr wrap="square" lIns="0" tIns="0" rIns="0" bIns="0" anchor="t">
            <a:normAutofit/>
          </a:bodyPr>
          <a:lstStyle/>
          <a:p>
            <a:pPr algn="l">
              <a:defRPr sz="1200" b="1">
                <a:solidFill>
                  <a:srgbClr val="60656F"/>
                </a:solidFill>
                <a:latin typeface="Arial"/>
                <a:ea typeface="Arial"/>
                <a:cs typeface="Arial"/>
              </a:defRPr>
            </a:pPr>
            <a:r>
              <a:rPr sz="1200" b="1">
                <a:solidFill>
                  <a:srgbClr val="60656F"/>
                </a:solidFill>
                <a:latin typeface="Arial"/>
                <a:ea typeface="Arial"/>
                <a:cs typeface="Arial"/>
              </a:rPr>
              <a:t>THE PRODUCT</a:t>
            </a:r>
          </a:p>
        </p:txBody>
      </p:sp>
      <p:sp>
        <p:nvSpPr>
          <p:cNvPr id="3" name="product-title">
            <a:extLst>
              <a:ext uri="{FF2B5EF4-FFF2-40B4-BE49-F238E27FC236}">
                <a16:creationId xmlns:a16="http://schemas.microsoft.com/office/drawing/2014/main" id="{5D6BF332-FAD7-40BF-86F6-DAE3CC379B89}"/>
              </a:ext>
            </a:extLst>
          </p:cNvPr>
          <p:cNvSpPr>
            <a:spLocks noGrp="1"/>
          </p:cNvSpPr>
          <p:nvPr/>
        </p:nvSpPr>
        <p:spPr>
          <a:xfrm>
            <a:off x="609600" y="876300"/>
            <a:ext cx="10972800" cy="685800"/>
          </a:xfrm>
          <a:prstGeom prst="rect">
            <a:avLst/>
          </a:prstGeom>
          <a:noFill/>
          <a:ln w="0">
            <a:noFill/>
            <a:prstDash val="solid"/>
          </a:ln>
        </p:spPr>
        <p:txBody>
          <a:bodyPr wrap="square" lIns="0" tIns="0" rIns="0" bIns="0" anchor="t">
            <a:normAutofit/>
          </a:bodyPr>
          <a:lstStyle/>
          <a:p>
            <a:pPr algn="l">
              <a:defRPr sz="3150" b="1">
                <a:solidFill>
                  <a:srgbClr val="101114"/>
                </a:solidFill>
                <a:latin typeface="Arial"/>
                <a:ea typeface="Arial"/>
                <a:cs typeface="Arial"/>
              </a:defRPr>
            </a:pPr>
            <a:r>
              <a:rPr sz="3150" b="1">
                <a:solidFill>
                  <a:srgbClr val="101114"/>
                </a:solidFill>
                <a:latin typeface="Arial"/>
                <a:ea typeface="Arial"/>
                <a:cs typeface="Arial"/>
              </a:rPr>
              <a:t>One request becomes a safe camera plan.</a:t>
            </a:r>
          </a:p>
        </p:txBody>
      </p:sp>
      <p:sp>
        <p:nvSpPr>
          <p:cNvPr id="4" name="product-big-message">
            <a:extLst>
              <a:ext uri="{FF2B5EF4-FFF2-40B4-BE49-F238E27FC236}">
                <a16:creationId xmlns:a16="http://schemas.microsoft.com/office/drawing/2014/main" id="{F801A4FF-4D1E-4A49-91BD-EF1DEE0E6166}"/>
              </a:ext>
            </a:extLst>
          </p:cNvPr>
          <p:cNvSpPr>
            <a:spLocks noGrp="1"/>
          </p:cNvSpPr>
          <p:nvPr/>
        </p:nvSpPr>
        <p:spPr>
          <a:xfrm>
            <a:off x="609600" y="2000250"/>
            <a:ext cx="4476750" cy="2381250"/>
          </a:xfrm>
          <a:prstGeom prst="rect">
            <a:avLst/>
          </a:prstGeom>
          <a:noFill/>
          <a:ln w="0">
            <a:noFill/>
            <a:prstDash val="solid"/>
          </a:ln>
        </p:spPr>
        <p:txBody>
          <a:bodyPr wrap="square" lIns="0" tIns="0" rIns="0" bIns="0" anchor="t">
            <a:normAutofit/>
          </a:bodyPr>
          <a:lstStyle/>
          <a:p>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ONE REQUEST.</a:t>
            </a:r>
          </a:p>
          <a:p>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THREE ACTIONS.</a:t>
            </a:r>
          </a:p>
          <a:p>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ONE PHOTO.</a:t>
            </a:r>
          </a:p>
        </p:txBody>
      </p:sp>
      <p:sp>
        <p:nvSpPr>
          <p:cNvPr id="5" name="product-request">
            <a:extLst>
              <a:ext uri="{FF2B5EF4-FFF2-40B4-BE49-F238E27FC236}">
                <a16:creationId xmlns:a16="http://schemas.microsoft.com/office/drawing/2014/main" id="{732F0DDC-0405-44AB-81C3-CEE540CF988A}"/>
              </a:ext>
            </a:extLst>
          </p:cNvPr>
          <p:cNvSpPr>
            <a:spLocks noGrp="1"/>
          </p:cNvSpPr>
          <p:nvPr/>
        </p:nvSpPr>
        <p:spPr>
          <a:xfrm>
            <a:off x="609600" y="4762500"/>
            <a:ext cx="4476750" cy="952500"/>
          </a:xfrm>
          <a:prstGeom prst="rect">
            <a:avLst/>
          </a:prstGeom>
          <a:noFill/>
          <a:ln w="0">
            <a:noFill/>
            <a:prstDash val="solid"/>
          </a:ln>
        </p:spPr>
        <p:txBody>
          <a:bodyPr wrap="square" lIns="0" tIns="0" rIns="0" bIns="0" anchor="t">
            <a:normAutofit/>
          </a:bodyPr>
          <a:lstStyle/>
          <a:p>
            <a:pPr algn="l">
              <a:defRPr sz="1650" b="0">
                <a:solidFill>
                  <a:srgbClr val="60656F"/>
                </a:solidFill>
                <a:latin typeface="Arial"/>
                <a:ea typeface="Arial"/>
                <a:cs typeface="Arial"/>
              </a:defRPr>
            </a:pPr>
            <a:r>
              <a:rPr sz="1650" b="0">
                <a:solidFill>
                  <a:srgbClr val="60656F"/>
                </a:solidFill>
                <a:latin typeface="Arial"/>
                <a:ea typeface="Arial"/>
                <a:cs typeface="Arial"/>
              </a:rPr>
              <a:t>“Make the picture brighter, focus on the panda, and take a photo in five seconds.”</a:t>
            </a:r>
          </a:p>
        </p:txBody>
      </p:sp>
      <p:sp>
        <p:nvSpPr>
          <p:cNvPr id="6" name="step-rule-0">
            <a:extLst>
              <a:ext uri="{FF2B5EF4-FFF2-40B4-BE49-F238E27FC236}">
                <a16:creationId xmlns:a16="http://schemas.microsoft.com/office/drawing/2014/main" id="{3B6E0FA8-E540-4DD6-BA34-53CF4576698B}"/>
              </a:ext>
            </a:extLst>
          </p:cNvPr>
          <p:cNvSpPr>
            <a:spLocks noGrp="1"/>
          </p:cNvSpPr>
          <p:nvPr/>
        </p:nvSpPr>
        <p:spPr>
          <a:xfrm>
            <a:off x="5810250" y="2705100"/>
            <a:ext cx="5429250" cy="9525"/>
          </a:xfrm>
          <a:prstGeom prst="rect">
            <a:avLst/>
          </a:prstGeom>
          <a:solidFill>
            <a:srgbClr val="B8BCC4"/>
          </a:solidFill>
          <a:ln w="0">
            <a:noFill/>
            <a:prstDash val="solid"/>
          </a:ln>
        </p:spPr>
        <p:txBody>
          <a:bodyPr/>
          <a:lstStyle/>
          <a:p>
            <a:endParaRPr lang="en-US"/>
          </a:p>
        </p:txBody>
      </p:sp>
      <p:sp>
        <p:nvSpPr>
          <p:cNvPr id="7" name="step-no-0">
            <a:extLst>
              <a:ext uri="{FF2B5EF4-FFF2-40B4-BE49-F238E27FC236}">
                <a16:creationId xmlns:a16="http://schemas.microsoft.com/office/drawing/2014/main" id="{5B4CA6E3-7F6C-4FBB-A2CD-904E636E1229}"/>
              </a:ext>
            </a:extLst>
          </p:cNvPr>
          <p:cNvSpPr>
            <a:spLocks noGrp="1"/>
          </p:cNvSpPr>
          <p:nvPr/>
        </p:nvSpPr>
        <p:spPr>
          <a:xfrm>
            <a:off x="5810250" y="1981200"/>
            <a:ext cx="495300" cy="304800"/>
          </a:xfrm>
          <a:prstGeom prst="rect">
            <a:avLst/>
          </a:prstGeom>
          <a:noFill/>
          <a:ln w="0">
            <a:noFill/>
            <a:prstDash val="solid"/>
          </a:ln>
        </p:spPr>
        <p:txBody>
          <a:bodyPr wrap="square" lIns="0" tIns="0" rIns="0" bIns="0" anchor="t">
            <a:normAutofit/>
          </a:bodyPr>
          <a:lstStyle/>
          <a:p>
            <a:pPr algn="l">
              <a:defRPr sz="1350" b="1">
                <a:solidFill>
                  <a:srgbClr val="3D8DFF"/>
                </a:solidFill>
                <a:latin typeface="Arial"/>
                <a:ea typeface="Arial"/>
                <a:cs typeface="Arial"/>
              </a:defRPr>
            </a:pPr>
            <a:r>
              <a:rPr sz="1350" b="1">
                <a:solidFill>
                  <a:srgbClr val="3D8DFF"/>
                </a:solidFill>
                <a:latin typeface="Arial"/>
                <a:ea typeface="Arial"/>
                <a:cs typeface="Arial"/>
              </a:rPr>
              <a:t>01</a:t>
            </a:r>
          </a:p>
        </p:txBody>
      </p:sp>
      <p:sp>
        <p:nvSpPr>
          <p:cNvPr id="8" name="step-label-0">
            <a:extLst>
              <a:ext uri="{FF2B5EF4-FFF2-40B4-BE49-F238E27FC236}">
                <a16:creationId xmlns:a16="http://schemas.microsoft.com/office/drawing/2014/main" id="{F3F245BA-F6D3-4F92-A5F2-6AAE38E194CA}"/>
              </a:ext>
            </a:extLst>
          </p:cNvPr>
          <p:cNvSpPr>
            <a:spLocks noGrp="1"/>
          </p:cNvSpPr>
          <p:nvPr/>
        </p:nvSpPr>
        <p:spPr>
          <a:xfrm>
            <a:off x="6496050" y="1981200"/>
            <a:ext cx="1524000" cy="304800"/>
          </a:xfrm>
          <a:prstGeom prst="rect">
            <a:avLst/>
          </a:prstGeom>
          <a:noFill/>
          <a:ln w="0">
            <a:noFill/>
            <a:prstDash val="solid"/>
          </a:ln>
        </p:spPr>
        <p:txBody>
          <a:bodyPr wrap="square" lIns="0" tIns="0" rIns="0" bIns="0" anchor="t">
            <a:normAutofit/>
          </a:bodyPr>
          <a:lstStyle/>
          <a:p>
            <a:pPr algn="l">
              <a:defRPr sz="1350" b="1">
                <a:solidFill>
                  <a:srgbClr val="101114"/>
                </a:solidFill>
                <a:latin typeface="Arial"/>
                <a:ea typeface="Arial"/>
                <a:cs typeface="Arial"/>
              </a:defRPr>
            </a:pPr>
            <a:r>
              <a:rPr sz="1350" b="1">
                <a:solidFill>
                  <a:srgbClr val="101114"/>
                </a:solidFill>
                <a:latin typeface="Arial"/>
                <a:ea typeface="Arial"/>
                <a:cs typeface="Arial"/>
              </a:rPr>
              <a:t>UNDERSTAND</a:t>
            </a:r>
          </a:p>
        </p:txBody>
      </p:sp>
      <p:sp>
        <p:nvSpPr>
          <p:cNvPr id="9" name="step-body-0">
            <a:extLst>
              <a:ext uri="{FF2B5EF4-FFF2-40B4-BE49-F238E27FC236}">
                <a16:creationId xmlns:a16="http://schemas.microsoft.com/office/drawing/2014/main" id="{B1CC911D-6776-45A6-BA92-6DA75F5BA17C}"/>
              </a:ext>
            </a:extLst>
          </p:cNvPr>
          <p:cNvSpPr>
            <a:spLocks noGrp="1"/>
          </p:cNvSpPr>
          <p:nvPr/>
        </p:nvSpPr>
        <p:spPr>
          <a:xfrm>
            <a:off x="8020050" y="1981200"/>
            <a:ext cx="3219450" cy="514350"/>
          </a:xfrm>
          <a:prstGeom prst="rect">
            <a:avLst/>
          </a:prstGeom>
          <a:noFill/>
          <a:ln w="0">
            <a:noFill/>
            <a:prstDash val="solid"/>
          </a:ln>
        </p:spPr>
        <p:txBody>
          <a:bodyPr wrap="square" lIns="0" tIns="0" rIns="0" bIns="0" anchor="t">
            <a:normAutofit/>
          </a:bodyPr>
          <a:lstStyle/>
          <a:p>
            <a:pPr algn="l">
              <a:defRPr sz="1425" b="0">
                <a:solidFill>
                  <a:srgbClr val="60656F"/>
                </a:solidFill>
                <a:latin typeface="Arial"/>
                <a:ea typeface="Arial"/>
                <a:cs typeface="Arial"/>
              </a:defRPr>
            </a:pPr>
            <a:r>
              <a:rPr sz="1425" b="0">
                <a:solidFill>
                  <a:srgbClr val="60656F"/>
                </a:solidFill>
                <a:latin typeface="Arial"/>
                <a:ea typeface="Arial"/>
                <a:cs typeface="Arial"/>
              </a:rPr>
              <a:t>Voice + live scene + camera context</a:t>
            </a:r>
          </a:p>
        </p:txBody>
      </p:sp>
      <p:sp>
        <p:nvSpPr>
          <p:cNvPr id="10" name="step-rule-1">
            <a:extLst>
              <a:ext uri="{FF2B5EF4-FFF2-40B4-BE49-F238E27FC236}">
                <a16:creationId xmlns:a16="http://schemas.microsoft.com/office/drawing/2014/main" id="{4269EF7C-C2C6-4669-86F4-5968A9D36381}"/>
              </a:ext>
            </a:extLst>
          </p:cNvPr>
          <p:cNvSpPr>
            <a:spLocks noGrp="1"/>
          </p:cNvSpPr>
          <p:nvPr/>
        </p:nvSpPr>
        <p:spPr>
          <a:xfrm>
            <a:off x="5810250" y="3638550"/>
            <a:ext cx="5429250" cy="9525"/>
          </a:xfrm>
          <a:prstGeom prst="rect">
            <a:avLst/>
          </a:prstGeom>
          <a:solidFill>
            <a:srgbClr val="B8BCC4"/>
          </a:solidFill>
          <a:ln w="0">
            <a:noFill/>
            <a:prstDash val="solid"/>
          </a:ln>
        </p:spPr>
        <p:txBody>
          <a:bodyPr/>
          <a:lstStyle/>
          <a:p>
            <a:endParaRPr lang="en-US"/>
          </a:p>
        </p:txBody>
      </p:sp>
      <p:sp>
        <p:nvSpPr>
          <p:cNvPr id="11" name="step-no-1">
            <a:extLst>
              <a:ext uri="{FF2B5EF4-FFF2-40B4-BE49-F238E27FC236}">
                <a16:creationId xmlns:a16="http://schemas.microsoft.com/office/drawing/2014/main" id="{50157E49-CF34-4CE6-9B07-C5E4E03D5993}"/>
              </a:ext>
            </a:extLst>
          </p:cNvPr>
          <p:cNvSpPr>
            <a:spLocks noGrp="1"/>
          </p:cNvSpPr>
          <p:nvPr/>
        </p:nvSpPr>
        <p:spPr>
          <a:xfrm>
            <a:off x="5810250" y="2914650"/>
            <a:ext cx="495300" cy="304800"/>
          </a:xfrm>
          <a:prstGeom prst="rect">
            <a:avLst/>
          </a:prstGeom>
          <a:noFill/>
          <a:ln w="0">
            <a:noFill/>
            <a:prstDash val="solid"/>
          </a:ln>
        </p:spPr>
        <p:txBody>
          <a:bodyPr wrap="square" lIns="0" tIns="0" rIns="0" bIns="0" anchor="t">
            <a:normAutofit/>
          </a:bodyPr>
          <a:lstStyle/>
          <a:p>
            <a:pPr algn="l">
              <a:defRPr sz="1350" b="1">
                <a:solidFill>
                  <a:srgbClr val="3D8DFF"/>
                </a:solidFill>
                <a:latin typeface="Arial"/>
                <a:ea typeface="Arial"/>
                <a:cs typeface="Arial"/>
              </a:defRPr>
            </a:pPr>
            <a:r>
              <a:rPr sz="1350" b="1">
                <a:solidFill>
                  <a:srgbClr val="3D8DFF"/>
                </a:solidFill>
                <a:latin typeface="Arial"/>
                <a:ea typeface="Arial"/>
                <a:cs typeface="Arial"/>
              </a:rPr>
              <a:t>02</a:t>
            </a:r>
          </a:p>
        </p:txBody>
      </p:sp>
      <p:sp>
        <p:nvSpPr>
          <p:cNvPr id="12" name="step-label-1">
            <a:extLst>
              <a:ext uri="{FF2B5EF4-FFF2-40B4-BE49-F238E27FC236}">
                <a16:creationId xmlns:a16="http://schemas.microsoft.com/office/drawing/2014/main" id="{DB68F6A7-8B43-4885-85B7-C82CF50DB1B7}"/>
              </a:ext>
            </a:extLst>
          </p:cNvPr>
          <p:cNvSpPr>
            <a:spLocks noGrp="1"/>
          </p:cNvSpPr>
          <p:nvPr/>
        </p:nvSpPr>
        <p:spPr>
          <a:xfrm>
            <a:off x="6496050" y="2914650"/>
            <a:ext cx="1524000" cy="304800"/>
          </a:xfrm>
          <a:prstGeom prst="rect">
            <a:avLst/>
          </a:prstGeom>
          <a:noFill/>
          <a:ln w="0">
            <a:noFill/>
            <a:prstDash val="solid"/>
          </a:ln>
        </p:spPr>
        <p:txBody>
          <a:bodyPr wrap="square" lIns="0" tIns="0" rIns="0" bIns="0" anchor="t">
            <a:normAutofit/>
          </a:bodyPr>
          <a:lstStyle/>
          <a:p>
            <a:pPr algn="l">
              <a:defRPr sz="1350" b="1">
                <a:solidFill>
                  <a:srgbClr val="101114"/>
                </a:solidFill>
                <a:latin typeface="Arial"/>
                <a:ea typeface="Arial"/>
                <a:cs typeface="Arial"/>
              </a:defRPr>
            </a:pPr>
            <a:r>
              <a:rPr sz="1350" b="1">
                <a:solidFill>
                  <a:srgbClr val="101114"/>
                </a:solidFill>
                <a:latin typeface="Arial"/>
                <a:ea typeface="Arial"/>
                <a:cs typeface="Arial"/>
              </a:rPr>
              <a:t>PLAN</a:t>
            </a:r>
          </a:p>
        </p:txBody>
      </p:sp>
      <p:sp>
        <p:nvSpPr>
          <p:cNvPr id="13" name="step-body-1">
            <a:extLst>
              <a:ext uri="{FF2B5EF4-FFF2-40B4-BE49-F238E27FC236}">
                <a16:creationId xmlns:a16="http://schemas.microsoft.com/office/drawing/2014/main" id="{853305E3-4220-4904-8650-69DAB0EB3AE2}"/>
              </a:ext>
            </a:extLst>
          </p:cNvPr>
          <p:cNvSpPr>
            <a:spLocks noGrp="1"/>
          </p:cNvSpPr>
          <p:nvPr/>
        </p:nvSpPr>
        <p:spPr>
          <a:xfrm>
            <a:off x="8020050" y="2914650"/>
            <a:ext cx="3219450" cy="514350"/>
          </a:xfrm>
          <a:prstGeom prst="rect">
            <a:avLst/>
          </a:prstGeom>
          <a:noFill/>
          <a:ln w="0">
            <a:noFill/>
            <a:prstDash val="solid"/>
          </a:ln>
        </p:spPr>
        <p:txBody>
          <a:bodyPr wrap="square" lIns="0" tIns="0" rIns="0" bIns="0" anchor="t">
            <a:normAutofit/>
          </a:bodyPr>
          <a:lstStyle/>
          <a:p>
            <a:pPr algn="l">
              <a:defRPr sz="1425" b="0">
                <a:solidFill>
                  <a:srgbClr val="60656F"/>
                </a:solidFill>
                <a:latin typeface="Arial"/>
                <a:ea typeface="Arial"/>
                <a:cs typeface="Arial"/>
              </a:defRPr>
            </a:pPr>
            <a:r>
              <a:rPr sz="1425" b="0">
                <a:solidFill>
                  <a:srgbClr val="60656F"/>
                </a:solidFill>
                <a:latin typeface="Arial"/>
                <a:ea typeface="Arial"/>
                <a:cs typeface="Arial"/>
              </a:rPr>
              <a:t>Qwen creates ordered semantic actions</a:t>
            </a:r>
          </a:p>
        </p:txBody>
      </p:sp>
      <p:sp>
        <p:nvSpPr>
          <p:cNvPr id="14" name="step-rule-2">
            <a:extLst>
              <a:ext uri="{FF2B5EF4-FFF2-40B4-BE49-F238E27FC236}">
                <a16:creationId xmlns:a16="http://schemas.microsoft.com/office/drawing/2014/main" id="{BC5EA644-E2AF-4CF2-BF27-6B9CEC28A2F4}"/>
              </a:ext>
            </a:extLst>
          </p:cNvPr>
          <p:cNvSpPr>
            <a:spLocks noGrp="1"/>
          </p:cNvSpPr>
          <p:nvPr/>
        </p:nvSpPr>
        <p:spPr>
          <a:xfrm>
            <a:off x="5810250" y="4572000"/>
            <a:ext cx="5429250" cy="9525"/>
          </a:xfrm>
          <a:prstGeom prst="rect">
            <a:avLst/>
          </a:prstGeom>
          <a:solidFill>
            <a:srgbClr val="B8BCC4"/>
          </a:solidFill>
          <a:ln w="0">
            <a:noFill/>
            <a:prstDash val="solid"/>
          </a:ln>
        </p:spPr>
        <p:txBody>
          <a:bodyPr/>
          <a:lstStyle/>
          <a:p>
            <a:endParaRPr lang="en-US"/>
          </a:p>
        </p:txBody>
      </p:sp>
      <p:sp>
        <p:nvSpPr>
          <p:cNvPr id="15" name="step-no-2">
            <a:extLst>
              <a:ext uri="{FF2B5EF4-FFF2-40B4-BE49-F238E27FC236}">
                <a16:creationId xmlns:a16="http://schemas.microsoft.com/office/drawing/2014/main" id="{3389865B-6A5E-4CB1-A60C-5F85F45AE4D1}"/>
              </a:ext>
            </a:extLst>
          </p:cNvPr>
          <p:cNvSpPr>
            <a:spLocks noGrp="1"/>
          </p:cNvSpPr>
          <p:nvPr/>
        </p:nvSpPr>
        <p:spPr>
          <a:xfrm>
            <a:off x="5810250" y="3848100"/>
            <a:ext cx="495300" cy="304800"/>
          </a:xfrm>
          <a:prstGeom prst="rect">
            <a:avLst/>
          </a:prstGeom>
          <a:noFill/>
          <a:ln w="0">
            <a:noFill/>
            <a:prstDash val="solid"/>
          </a:ln>
        </p:spPr>
        <p:txBody>
          <a:bodyPr wrap="square" lIns="0" tIns="0" rIns="0" bIns="0" anchor="t">
            <a:normAutofit/>
          </a:bodyPr>
          <a:lstStyle/>
          <a:p>
            <a:pPr algn="l">
              <a:defRPr sz="1350" b="1">
                <a:solidFill>
                  <a:srgbClr val="3D8DFF"/>
                </a:solidFill>
                <a:latin typeface="Arial"/>
                <a:ea typeface="Arial"/>
                <a:cs typeface="Arial"/>
              </a:defRPr>
            </a:pPr>
            <a:r>
              <a:rPr sz="1350" b="1">
                <a:solidFill>
                  <a:srgbClr val="3D8DFF"/>
                </a:solidFill>
                <a:latin typeface="Arial"/>
                <a:ea typeface="Arial"/>
                <a:cs typeface="Arial"/>
              </a:rPr>
              <a:t>03</a:t>
            </a:r>
          </a:p>
        </p:txBody>
      </p:sp>
      <p:sp>
        <p:nvSpPr>
          <p:cNvPr id="16" name="step-label-2">
            <a:extLst>
              <a:ext uri="{FF2B5EF4-FFF2-40B4-BE49-F238E27FC236}">
                <a16:creationId xmlns:a16="http://schemas.microsoft.com/office/drawing/2014/main" id="{56A478B8-937D-4C6D-9EB3-6D06F405D956}"/>
              </a:ext>
            </a:extLst>
          </p:cNvPr>
          <p:cNvSpPr>
            <a:spLocks noGrp="1"/>
          </p:cNvSpPr>
          <p:nvPr/>
        </p:nvSpPr>
        <p:spPr>
          <a:xfrm>
            <a:off x="6496050" y="3848100"/>
            <a:ext cx="1524000" cy="304800"/>
          </a:xfrm>
          <a:prstGeom prst="rect">
            <a:avLst/>
          </a:prstGeom>
          <a:noFill/>
          <a:ln w="0">
            <a:noFill/>
            <a:prstDash val="solid"/>
          </a:ln>
        </p:spPr>
        <p:txBody>
          <a:bodyPr wrap="square" lIns="0" tIns="0" rIns="0" bIns="0" anchor="t">
            <a:normAutofit/>
          </a:bodyPr>
          <a:lstStyle/>
          <a:p>
            <a:pPr algn="l">
              <a:defRPr sz="1350" b="1">
                <a:solidFill>
                  <a:srgbClr val="101114"/>
                </a:solidFill>
                <a:latin typeface="Arial"/>
                <a:ea typeface="Arial"/>
                <a:cs typeface="Arial"/>
              </a:defRPr>
            </a:pPr>
            <a:r>
              <a:rPr sz="1350" b="1">
                <a:solidFill>
                  <a:srgbClr val="101114"/>
                </a:solidFill>
                <a:latin typeface="Arial"/>
                <a:ea typeface="Arial"/>
                <a:cs typeface="Arial"/>
              </a:rPr>
              <a:t>CHECK</a:t>
            </a:r>
          </a:p>
        </p:txBody>
      </p:sp>
      <p:sp>
        <p:nvSpPr>
          <p:cNvPr id="17" name="step-body-2">
            <a:extLst>
              <a:ext uri="{FF2B5EF4-FFF2-40B4-BE49-F238E27FC236}">
                <a16:creationId xmlns:a16="http://schemas.microsoft.com/office/drawing/2014/main" id="{EC03BEAC-CBCB-465F-A914-4D6E00383154}"/>
              </a:ext>
            </a:extLst>
          </p:cNvPr>
          <p:cNvSpPr>
            <a:spLocks noGrp="1"/>
          </p:cNvSpPr>
          <p:nvPr/>
        </p:nvSpPr>
        <p:spPr>
          <a:xfrm>
            <a:off x="8020050" y="3848100"/>
            <a:ext cx="3219450" cy="514350"/>
          </a:xfrm>
          <a:prstGeom prst="rect">
            <a:avLst/>
          </a:prstGeom>
          <a:noFill/>
          <a:ln w="0">
            <a:noFill/>
            <a:prstDash val="solid"/>
          </a:ln>
        </p:spPr>
        <p:txBody>
          <a:bodyPr wrap="square" lIns="0" tIns="0" rIns="0" bIns="0" anchor="t">
            <a:normAutofit/>
          </a:bodyPr>
          <a:lstStyle/>
          <a:p>
            <a:pPr algn="l">
              <a:defRPr sz="1425" b="0">
                <a:solidFill>
                  <a:srgbClr val="60656F"/>
                </a:solidFill>
                <a:latin typeface="Arial"/>
                <a:ea typeface="Arial"/>
                <a:cs typeface="Arial"/>
              </a:defRPr>
            </a:pPr>
            <a:r>
              <a:rPr sz="1425" b="0">
                <a:solidFill>
                  <a:srgbClr val="60656F"/>
                </a:solidFill>
                <a:latin typeface="Arial"/>
                <a:ea typeface="Arial"/>
                <a:cs typeface="Arial"/>
              </a:rPr>
              <a:t>Android validates against real capabilities</a:t>
            </a:r>
          </a:p>
        </p:txBody>
      </p:sp>
      <p:sp>
        <p:nvSpPr>
          <p:cNvPr id="18" name="step-rule-3">
            <a:extLst>
              <a:ext uri="{FF2B5EF4-FFF2-40B4-BE49-F238E27FC236}">
                <a16:creationId xmlns:a16="http://schemas.microsoft.com/office/drawing/2014/main" id="{D581F3F1-0DF5-43B0-BE25-C454E2276E4A}"/>
              </a:ext>
            </a:extLst>
          </p:cNvPr>
          <p:cNvSpPr>
            <a:spLocks noGrp="1"/>
          </p:cNvSpPr>
          <p:nvPr/>
        </p:nvSpPr>
        <p:spPr>
          <a:xfrm>
            <a:off x="5810250" y="5505450"/>
            <a:ext cx="5429250" cy="9525"/>
          </a:xfrm>
          <a:prstGeom prst="rect">
            <a:avLst/>
          </a:prstGeom>
          <a:solidFill>
            <a:srgbClr val="B8BCC4"/>
          </a:solidFill>
          <a:ln w="0">
            <a:noFill/>
            <a:prstDash val="solid"/>
          </a:ln>
        </p:spPr>
        <p:txBody>
          <a:bodyPr/>
          <a:lstStyle/>
          <a:p>
            <a:endParaRPr lang="en-US"/>
          </a:p>
        </p:txBody>
      </p:sp>
      <p:sp>
        <p:nvSpPr>
          <p:cNvPr id="19" name="step-no-3">
            <a:extLst>
              <a:ext uri="{FF2B5EF4-FFF2-40B4-BE49-F238E27FC236}">
                <a16:creationId xmlns:a16="http://schemas.microsoft.com/office/drawing/2014/main" id="{6CA44364-EA17-4B2F-AEC8-5DE66E8BA722}"/>
              </a:ext>
            </a:extLst>
          </p:cNvPr>
          <p:cNvSpPr>
            <a:spLocks noGrp="1"/>
          </p:cNvSpPr>
          <p:nvPr/>
        </p:nvSpPr>
        <p:spPr>
          <a:xfrm>
            <a:off x="5810250" y="4781550"/>
            <a:ext cx="495300" cy="304800"/>
          </a:xfrm>
          <a:prstGeom prst="rect">
            <a:avLst/>
          </a:prstGeom>
          <a:noFill/>
          <a:ln w="0">
            <a:noFill/>
            <a:prstDash val="solid"/>
          </a:ln>
        </p:spPr>
        <p:txBody>
          <a:bodyPr wrap="square" lIns="0" tIns="0" rIns="0" bIns="0" anchor="t">
            <a:normAutofit/>
          </a:bodyPr>
          <a:lstStyle/>
          <a:p>
            <a:pPr algn="l">
              <a:defRPr sz="1350" b="1">
                <a:solidFill>
                  <a:srgbClr val="3D8DFF"/>
                </a:solidFill>
                <a:latin typeface="Arial"/>
                <a:ea typeface="Arial"/>
                <a:cs typeface="Arial"/>
              </a:defRPr>
            </a:pPr>
            <a:r>
              <a:rPr sz="1350" b="1">
                <a:solidFill>
                  <a:srgbClr val="3D8DFF"/>
                </a:solidFill>
                <a:latin typeface="Arial"/>
                <a:ea typeface="Arial"/>
                <a:cs typeface="Arial"/>
              </a:rPr>
              <a:t>04</a:t>
            </a:r>
          </a:p>
        </p:txBody>
      </p:sp>
      <p:sp>
        <p:nvSpPr>
          <p:cNvPr id="20" name="step-label-3">
            <a:extLst>
              <a:ext uri="{FF2B5EF4-FFF2-40B4-BE49-F238E27FC236}">
                <a16:creationId xmlns:a16="http://schemas.microsoft.com/office/drawing/2014/main" id="{8AAE64BA-A7B3-4329-9570-9342DBA9147D}"/>
              </a:ext>
            </a:extLst>
          </p:cNvPr>
          <p:cNvSpPr>
            <a:spLocks noGrp="1"/>
          </p:cNvSpPr>
          <p:nvPr/>
        </p:nvSpPr>
        <p:spPr>
          <a:xfrm>
            <a:off x="6496050" y="4781550"/>
            <a:ext cx="1524000" cy="304800"/>
          </a:xfrm>
          <a:prstGeom prst="rect">
            <a:avLst/>
          </a:prstGeom>
          <a:noFill/>
          <a:ln w="0">
            <a:noFill/>
            <a:prstDash val="solid"/>
          </a:ln>
        </p:spPr>
        <p:txBody>
          <a:bodyPr wrap="square" lIns="0" tIns="0" rIns="0" bIns="0" anchor="t">
            <a:normAutofit/>
          </a:bodyPr>
          <a:lstStyle/>
          <a:p>
            <a:pPr algn="l">
              <a:defRPr sz="1350" b="1">
                <a:solidFill>
                  <a:srgbClr val="101114"/>
                </a:solidFill>
                <a:latin typeface="Arial"/>
                <a:ea typeface="Arial"/>
                <a:cs typeface="Arial"/>
              </a:defRPr>
            </a:pPr>
            <a:r>
              <a:rPr sz="1350" b="1">
                <a:solidFill>
                  <a:srgbClr val="101114"/>
                </a:solidFill>
                <a:latin typeface="Arial"/>
                <a:ea typeface="Arial"/>
                <a:cs typeface="Arial"/>
              </a:rPr>
              <a:t>ACT</a:t>
            </a:r>
          </a:p>
        </p:txBody>
      </p:sp>
      <p:sp>
        <p:nvSpPr>
          <p:cNvPr id="21" name="step-body-3">
            <a:extLst>
              <a:ext uri="{FF2B5EF4-FFF2-40B4-BE49-F238E27FC236}">
                <a16:creationId xmlns:a16="http://schemas.microsoft.com/office/drawing/2014/main" id="{CA0E4715-A7F1-43B3-A433-06574BDD1ED1}"/>
              </a:ext>
            </a:extLst>
          </p:cNvPr>
          <p:cNvSpPr>
            <a:spLocks noGrp="1"/>
          </p:cNvSpPr>
          <p:nvPr/>
        </p:nvSpPr>
        <p:spPr>
          <a:xfrm>
            <a:off x="8020050" y="4781550"/>
            <a:ext cx="3219450" cy="514350"/>
          </a:xfrm>
          <a:prstGeom prst="rect">
            <a:avLst/>
          </a:prstGeom>
          <a:noFill/>
          <a:ln w="0">
            <a:noFill/>
            <a:prstDash val="solid"/>
          </a:ln>
        </p:spPr>
        <p:txBody>
          <a:bodyPr wrap="square" lIns="0" tIns="0" rIns="0" bIns="0" anchor="t">
            <a:normAutofit/>
          </a:bodyPr>
          <a:lstStyle/>
          <a:p>
            <a:pPr algn="l">
              <a:defRPr sz="1425" b="0">
                <a:solidFill>
                  <a:srgbClr val="60656F"/>
                </a:solidFill>
                <a:latin typeface="Arial"/>
                <a:ea typeface="Arial"/>
                <a:cs typeface="Arial"/>
              </a:defRPr>
            </a:pPr>
            <a:r>
              <a:rPr sz="1425" b="0">
                <a:solidFill>
                  <a:srgbClr val="60656F"/>
                </a:solidFill>
                <a:latin typeface="Arial"/>
                <a:ea typeface="Arial"/>
                <a:cs typeface="Arial"/>
              </a:rPr>
              <a:t>Brightness · focus · timer · capture</a:t>
            </a:r>
          </a:p>
        </p:txBody>
      </p:sp>
      <p:sp>
        <p:nvSpPr>
          <p:cNvPr id="22" name="product-boundary">
            <a:extLst>
              <a:ext uri="{FF2B5EF4-FFF2-40B4-BE49-F238E27FC236}">
                <a16:creationId xmlns:a16="http://schemas.microsoft.com/office/drawing/2014/main" id="{689ED351-4E8E-4A47-A287-6F5CC5AF6A23}"/>
              </a:ext>
            </a:extLst>
          </p:cNvPr>
          <p:cNvSpPr>
            <a:spLocks noGrp="1"/>
          </p:cNvSpPr>
          <p:nvPr/>
        </p:nvSpPr>
        <p:spPr>
          <a:xfrm>
            <a:off x="5810250" y="5753100"/>
            <a:ext cx="5429250" cy="457200"/>
          </a:xfrm>
          <a:prstGeom prst="roundRect">
            <a:avLst>
              <a:gd name="adj" fmla="val 16667"/>
            </a:avLst>
          </a:prstGeom>
          <a:solidFill>
            <a:srgbClr val="0A2D55"/>
          </a:solidFill>
          <a:ln w="0">
            <a:noFill/>
            <a:prstDash val="solid"/>
          </a:ln>
        </p:spPr>
        <p:txBody>
          <a:bodyPr/>
          <a:lstStyle/>
          <a:p>
            <a:endParaRPr lang="en-US"/>
          </a:p>
        </p:txBody>
      </p:sp>
      <p:sp>
        <p:nvSpPr>
          <p:cNvPr id="23" name="product-boundary-text">
            <a:extLst>
              <a:ext uri="{FF2B5EF4-FFF2-40B4-BE49-F238E27FC236}">
                <a16:creationId xmlns:a16="http://schemas.microsoft.com/office/drawing/2014/main" id="{3BDE3B70-94FA-4A7F-B1FE-086566855314}"/>
              </a:ext>
            </a:extLst>
          </p:cNvPr>
          <p:cNvSpPr>
            <a:spLocks noGrp="1"/>
          </p:cNvSpPr>
          <p:nvPr/>
        </p:nvSpPr>
        <p:spPr>
          <a:xfrm>
            <a:off x="6000750" y="5895975"/>
            <a:ext cx="5048250" cy="209550"/>
          </a:xfrm>
          <a:prstGeom prst="rect">
            <a:avLst/>
          </a:prstGeom>
          <a:noFill/>
          <a:ln w="0">
            <a:noFill/>
            <a:prstDash val="solid"/>
          </a:ln>
        </p:spPr>
        <p:txBody>
          <a:bodyPr wrap="square" lIns="0" tIns="0" rIns="0" bIns="0" anchor="t">
            <a:normAutofit/>
          </a:bodyPr>
          <a:lstStyle/>
          <a:p>
            <a:pPr algn="ctr">
              <a:defRPr sz="1050" b="1">
                <a:solidFill>
                  <a:srgbClr val="FFFFFF"/>
                </a:solidFill>
                <a:latin typeface="Arial"/>
                <a:ea typeface="Arial"/>
                <a:cs typeface="Arial"/>
              </a:defRPr>
            </a:pPr>
            <a:r>
              <a:rPr sz="1050" b="1">
                <a:solidFill>
                  <a:srgbClr val="FFFFFF"/>
                </a:solidFill>
                <a:latin typeface="Arial"/>
                <a:ea typeface="Arial"/>
                <a:cs typeface="Arial"/>
              </a:rPr>
              <a:t>QWEN INTERPRETS · ANDROID VALIDATES · CAMERAX EXECUTES</a:t>
            </a:r>
          </a:p>
        </p:txBody>
      </p:sp>
      <p:sp>
        <p:nvSpPr>
          <p:cNvPr id="24" name="footer-rule-2">
            <a:extLst>
              <a:ext uri="{FF2B5EF4-FFF2-40B4-BE49-F238E27FC236}">
                <a16:creationId xmlns:a16="http://schemas.microsoft.com/office/drawing/2014/main" id="{DBE71395-DE3C-48DD-A7C3-EEC0FA6BAB1B}"/>
              </a:ext>
            </a:extLst>
          </p:cNvPr>
          <p:cNvSpPr>
            <a:spLocks noGrp="1"/>
          </p:cNvSpPr>
          <p:nvPr/>
        </p:nvSpPr>
        <p:spPr>
          <a:xfrm>
            <a:off x="609600" y="6486525"/>
            <a:ext cx="10972800" cy="9525"/>
          </a:xfrm>
          <a:prstGeom prst="rect">
            <a:avLst/>
          </a:prstGeom>
          <a:solidFill>
            <a:srgbClr val="B8BCC4"/>
          </a:solidFill>
          <a:ln w="0">
            <a:noFill/>
            <a:prstDash val="solid"/>
          </a:ln>
        </p:spPr>
        <p:txBody>
          <a:bodyPr/>
          <a:lstStyle/>
          <a:p>
            <a:endParaRPr lang="en-US"/>
          </a:p>
        </p:txBody>
      </p:sp>
      <p:sp>
        <p:nvSpPr>
          <p:cNvPr id="25" name="footer-left-2">
            <a:extLst>
              <a:ext uri="{FF2B5EF4-FFF2-40B4-BE49-F238E27FC236}">
                <a16:creationId xmlns:a16="http://schemas.microsoft.com/office/drawing/2014/main" id="{80804EDC-A860-4F7A-AB00-9191A4922C35}"/>
              </a:ext>
            </a:extLst>
          </p:cNvPr>
          <p:cNvSpPr>
            <a:spLocks noGrp="1"/>
          </p:cNvSpPr>
          <p:nvPr/>
        </p:nvSpPr>
        <p:spPr>
          <a:xfrm>
            <a:off x="609600" y="6572250"/>
            <a:ext cx="4953000" cy="171450"/>
          </a:xfrm>
          <a:prstGeom prst="rect">
            <a:avLst/>
          </a:prstGeom>
          <a:noFill/>
          <a:ln w="0">
            <a:noFill/>
            <a:prstDash val="solid"/>
          </a:ln>
        </p:spPr>
        <p:txBody>
          <a:bodyPr wrap="square" lIns="0" tIns="0" rIns="0" bIns="0" anchor="t">
            <a:normAutofit/>
          </a:bodyPr>
          <a:lstStyle/>
          <a:p>
            <a:pPr algn="l">
              <a:defRPr sz="900" b="1">
                <a:solidFill>
                  <a:srgbClr val="60656F"/>
                </a:solidFill>
                <a:latin typeface="Arial"/>
                <a:ea typeface="Arial"/>
                <a:cs typeface="Arial"/>
              </a:defRPr>
            </a:pPr>
            <a:r>
              <a:rPr sz="900" b="1">
                <a:solidFill>
                  <a:srgbClr val="60656F"/>
                </a:solidFill>
                <a:latin typeface="Arial"/>
                <a:ea typeface="Arial"/>
                <a:cs typeface="Arial"/>
              </a:rPr>
              <a:t>PHOTO HELPER · FIVECENT</a:t>
            </a:r>
          </a:p>
        </p:txBody>
      </p:sp>
      <p:sp>
        <p:nvSpPr>
          <p:cNvPr id="26" name="footer-number-2">
            <a:extLst>
              <a:ext uri="{FF2B5EF4-FFF2-40B4-BE49-F238E27FC236}">
                <a16:creationId xmlns:a16="http://schemas.microsoft.com/office/drawing/2014/main" id="{1FF038C7-7F7A-4010-9DF9-EE948A070E9F}"/>
              </a:ext>
            </a:extLst>
          </p:cNvPr>
          <p:cNvSpPr>
            <a:spLocks noGrp="1"/>
          </p:cNvSpPr>
          <p:nvPr/>
        </p:nvSpPr>
        <p:spPr>
          <a:xfrm>
            <a:off x="11144250" y="6562725"/>
            <a:ext cx="438150" cy="171450"/>
          </a:xfrm>
          <a:prstGeom prst="rect">
            <a:avLst/>
          </a:prstGeom>
          <a:noFill/>
          <a:ln w="0">
            <a:noFill/>
            <a:prstDash val="solid"/>
          </a:ln>
        </p:spPr>
        <p:txBody>
          <a:bodyPr wrap="square" lIns="0" tIns="0" rIns="0" bIns="0" anchor="t">
            <a:normAutofit/>
          </a:bodyPr>
          <a:lstStyle/>
          <a:p>
            <a:pPr algn="r">
              <a:defRPr sz="900" b="1">
                <a:solidFill>
                  <a:srgbClr val="60656F"/>
                </a:solidFill>
                <a:latin typeface="Arial"/>
                <a:ea typeface="Arial"/>
                <a:cs typeface="Arial"/>
              </a:defRPr>
            </a:pPr>
            <a:r>
              <a:rPr sz="900" b="1">
                <a:solidFill>
                  <a:srgbClr val="60656F"/>
                </a:solidFill>
                <a:latin typeface="Arial"/>
                <a:ea typeface="Arial"/>
                <a:cs typeface="Arial"/>
              </a:rPr>
              <a:t>02</a:t>
            </a:r>
          </a:p>
        </p:txBody>
      </p:sp>
    </p:spTree>
    <p:extLst>
      <p:ext uri="{BB962C8B-B14F-4D97-AF65-F5344CB8AC3E}">
        <p14:creationId xmlns:p14="http://schemas.microsoft.com/office/powerpoint/2010/main" val="1539742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D8DFF"/>
        </a:solidFill>
        <a:effectLst/>
      </p:bgPr>
    </p:bg>
    <p:spTree>
      <p:nvGrpSpPr>
        <p:cNvPr id="1" name=""/>
        <p:cNvGrpSpPr/>
        <p:nvPr/>
      </p:nvGrpSpPr>
      <p:grpSpPr>
        <a:xfrm>
          <a:off x="0" y="0"/>
          <a:ext cx="0" cy="0"/>
          <a:chOff x="0" y="0"/>
          <a:chExt cx="0" cy="0"/>
        </a:xfrm>
      </p:grpSpPr>
      <p:sp>
        <p:nvSpPr>
          <p:cNvPr id="2" name="demo-title">
            <a:extLst>
              <a:ext uri="{FF2B5EF4-FFF2-40B4-BE49-F238E27FC236}">
                <a16:creationId xmlns:a16="http://schemas.microsoft.com/office/drawing/2014/main" id="{FF2F5654-E83B-4910-95DF-8A5EBA0312E8}"/>
              </a:ext>
            </a:extLst>
          </p:cNvPr>
          <p:cNvSpPr>
            <a:spLocks noGrp="1"/>
          </p:cNvSpPr>
          <p:nvPr/>
        </p:nvSpPr>
        <p:spPr>
          <a:xfrm>
            <a:off x="952500" y="2333625"/>
            <a:ext cx="10287000" cy="1714500"/>
          </a:xfrm>
          <a:prstGeom prst="rect">
            <a:avLst/>
          </a:prstGeom>
          <a:noFill/>
          <a:ln w="0">
            <a:noFill/>
            <a:prstDash val="solid"/>
          </a:ln>
        </p:spPr>
        <p:txBody>
          <a:bodyPr wrap="square" lIns="0" tIns="0" rIns="0" bIns="0" anchor="ctr">
            <a:normAutofit/>
          </a:bodyPr>
          <a:lstStyle/>
          <a:p>
            <a:pPr algn="ctr">
              <a:defRPr sz="7500" b="1">
                <a:solidFill>
                  <a:srgbClr val="FFFFFF"/>
                </a:solidFill>
                <a:latin typeface="Arial"/>
                <a:ea typeface="Arial"/>
                <a:cs typeface="Arial"/>
              </a:defRPr>
            </a:pPr>
            <a:r>
              <a:rPr sz="7500" b="1">
                <a:solidFill>
                  <a:srgbClr val="FFFFFF"/>
                </a:solidFill>
                <a:latin typeface="Arial"/>
                <a:ea typeface="Arial"/>
                <a:cs typeface="Arial"/>
              </a:rPr>
              <a:t>DEMO</a:t>
            </a:r>
          </a:p>
        </p:txBody>
      </p:sp>
    </p:spTree>
    <p:extLst>
      <p:ext uri="{BB962C8B-B14F-4D97-AF65-F5344CB8AC3E}">
        <p14:creationId xmlns:p14="http://schemas.microsoft.com/office/powerpoint/2010/main" val="1865040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tage-index-4">
            <a:extLst>
              <a:ext uri="{FF2B5EF4-FFF2-40B4-BE49-F238E27FC236}">
                <a16:creationId xmlns:a16="http://schemas.microsoft.com/office/drawing/2014/main" id="{44EBC784-8876-47F8-A4C6-5BB8D7409845}"/>
              </a:ext>
            </a:extLst>
          </p:cNvPr>
          <p:cNvSpPr>
            <a:spLocks noGrp="1"/>
          </p:cNvSpPr>
          <p:nvPr/>
        </p:nvSpPr>
        <p:spPr>
          <a:xfrm>
            <a:off x="609600" y="400050"/>
            <a:ext cx="438150" cy="2286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04</a:t>
            </a:r>
          </a:p>
        </p:txBody>
      </p:sp>
      <p:sp>
        <p:nvSpPr>
          <p:cNvPr id="2" name="stage-section-4">
            <a:extLst>
              <a:ext uri="{FF2B5EF4-FFF2-40B4-BE49-F238E27FC236}">
                <a16:creationId xmlns:a16="http://schemas.microsoft.com/office/drawing/2014/main" id="{786A9672-A19F-43A6-8B97-DF060AE8E84E}"/>
              </a:ext>
            </a:extLst>
          </p:cNvPr>
          <p:cNvSpPr>
            <a:spLocks noGrp="1"/>
          </p:cNvSpPr>
          <p:nvPr/>
        </p:nvSpPr>
        <p:spPr>
          <a:xfrm>
            <a:off x="1162050" y="400050"/>
            <a:ext cx="5905500" cy="228600"/>
          </a:xfrm>
          <a:prstGeom prst="rect">
            <a:avLst/>
          </a:prstGeom>
          <a:noFill/>
          <a:ln w="0">
            <a:noFill/>
            <a:prstDash val="solid"/>
          </a:ln>
        </p:spPr>
        <p:txBody>
          <a:bodyPr wrap="square" lIns="0" tIns="0" rIns="0" bIns="0" anchor="t">
            <a:normAutofit/>
          </a:bodyPr>
          <a:lstStyle/>
          <a:p>
            <a:pPr algn="l">
              <a:defRPr sz="1200" b="1">
                <a:solidFill>
                  <a:srgbClr val="60656F"/>
                </a:solidFill>
                <a:latin typeface="Arial"/>
                <a:ea typeface="Arial"/>
                <a:cs typeface="Arial"/>
              </a:defRPr>
            </a:pPr>
            <a:r>
              <a:rPr sz="1200" b="1">
                <a:solidFill>
                  <a:srgbClr val="60656F"/>
                </a:solidFill>
                <a:latin typeface="Arial"/>
                <a:ea typeface="Arial"/>
                <a:cs typeface="Arial"/>
              </a:rPr>
              <a:t>WHY WORKBUDDY</a:t>
            </a:r>
          </a:p>
        </p:txBody>
      </p:sp>
      <p:sp>
        <p:nvSpPr>
          <p:cNvPr id="3" name="workbuddy-title">
            <a:extLst>
              <a:ext uri="{FF2B5EF4-FFF2-40B4-BE49-F238E27FC236}">
                <a16:creationId xmlns:a16="http://schemas.microsoft.com/office/drawing/2014/main" id="{8452C794-3C29-43A3-BE1D-53826ECC0CA4}"/>
              </a:ext>
            </a:extLst>
          </p:cNvPr>
          <p:cNvSpPr>
            <a:spLocks noGrp="1"/>
          </p:cNvSpPr>
          <p:nvPr/>
        </p:nvSpPr>
        <p:spPr>
          <a:xfrm>
            <a:off x="609600" y="876300"/>
            <a:ext cx="10972800" cy="685800"/>
          </a:xfrm>
          <a:prstGeom prst="rect">
            <a:avLst/>
          </a:prstGeom>
          <a:noFill/>
          <a:ln w="0">
            <a:noFill/>
            <a:prstDash val="solid"/>
          </a:ln>
        </p:spPr>
        <p:txBody>
          <a:bodyPr wrap="square" lIns="0" tIns="0" rIns="0" bIns="0" anchor="t">
            <a:normAutofit/>
          </a:bodyPr>
          <a:lstStyle/>
          <a:p>
            <a:pPr algn="l">
              <a:defRPr sz="3150" b="1">
                <a:solidFill>
                  <a:srgbClr val="101114"/>
                </a:solidFill>
                <a:latin typeface="Arial"/>
                <a:ea typeface="Arial"/>
                <a:cs typeface="Arial"/>
              </a:defRPr>
            </a:pPr>
            <a:r>
              <a:rPr sz="3150" b="1">
                <a:solidFill>
                  <a:srgbClr val="101114"/>
                </a:solidFill>
                <a:latin typeface="Arial"/>
                <a:ea typeface="Arial"/>
                <a:cs typeface="Arial"/>
              </a:rPr>
              <a:t>WorkBuddy became our product-quality team.</a:t>
            </a:r>
          </a:p>
        </p:txBody>
      </p:sp>
      <p:sp>
        <p:nvSpPr>
          <p:cNvPr id="4" name="workbuddy-big-message">
            <a:extLst>
              <a:ext uri="{FF2B5EF4-FFF2-40B4-BE49-F238E27FC236}">
                <a16:creationId xmlns:a16="http://schemas.microsoft.com/office/drawing/2014/main" id="{19C42FE9-DF66-4483-8B22-34F87D74B31E}"/>
              </a:ext>
            </a:extLst>
          </p:cNvPr>
          <p:cNvSpPr>
            <a:spLocks noGrp="1"/>
          </p:cNvSpPr>
          <p:nvPr/>
        </p:nvSpPr>
        <p:spPr>
          <a:xfrm>
            <a:off x="609600" y="1952625"/>
            <a:ext cx="4572000" cy="3429000"/>
          </a:xfrm>
          <a:prstGeom prst="rect">
            <a:avLst/>
          </a:prstGeom>
          <a:noFill/>
          <a:ln w="0">
            <a:noFill/>
            <a:prstDash val="solid"/>
          </a:ln>
        </p:spPr>
        <p:txBody>
          <a:bodyPr wrap="square" lIns="0" tIns="0" rIns="0" bIns="0" anchor="t">
            <a:normAutofit/>
          </a:bodyPr>
          <a:lstStyle/>
          <a:p>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FAST LOOPS</a:t>
            </a:r>
          </a:p>
          <a:p>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BUILD.</a:t>
            </a:r>
          </a:p>
          <a:p>
            <a:endParaRPr sz="3450" b="1">
              <a:solidFill>
                <a:srgbClr val="101114"/>
              </a:solidFill>
              <a:latin typeface="Arial"/>
              <a:ea typeface="Arial"/>
              <a:cs typeface="Arial"/>
            </a:endParaRPr>
          </a:p>
          <a:p>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EXPERT PASSES</a:t>
            </a:r>
          </a:p>
          <a:p>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REFINE.</a:t>
            </a:r>
          </a:p>
        </p:txBody>
      </p:sp>
      <p:sp>
        <p:nvSpPr>
          <p:cNvPr id="5" name="workbuddy-divider">
            <a:extLst>
              <a:ext uri="{FF2B5EF4-FFF2-40B4-BE49-F238E27FC236}">
                <a16:creationId xmlns:a16="http://schemas.microsoft.com/office/drawing/2014/main" id="{7F146714-0BAD-45C2-BECC-9CB2A7EE350D}"/>
              </a:ext>
            </a:extLst>
          </p:cNvPr>
          <p:cNvSpPr>
            <a:spLocks noGrp="1"/>
          </p:cNvSpPr>
          <p:nvPr/>
        </p:nvSpPr>
        <p:spPr>
          <a:xfrm>
            <a:off x="5619750" y="2000250"/>
            <a:ext cx="19050" cy="3619500"/>
          </a:xfrm>
          <a:prstGeom prst="rect">
            <a:avLst/>
          </a:prstGeom>
          <a:solidFill>
            <a:srgbClr val="B8BCC4"/>
          </a:solidFill>
          <a:ln w="0">
            <a:noFill/>
            <a:prstDash val="solid"/>
          </a:ln>
        </p:spPr>
        <p:txBody>
          <a:bodyPr/>
          <a:lstStyle/>
          <a:p>
            <a:endParaRPr lang="en-US"/>
          </a:p>
        </p:txBody>
      </p:sp>
      <p:sp>
        <p:nvSpPr>
          <p:cNvPr id="6" name="definition-key-0">
            <a:extLst>
              <a:ext uri="{FF2B5EF4-FFF2-40B4-BE49-F238E27FC236}">
                <a16:creationId xmlns:a16="http://schemas.microsoft.com/office/drawing/2014/main" id="{4C4F4E00-1878-4059-B734-4C24A9F3C6A9}"/>
              </a:ext>
            </a:extLst>
          </p:cNvPr>
          <p:cNvSpPr>
            <a:spLocks noGrp="1"/>
          </p:cNvSpPr>
          <p:nvPr/>
        </p:nvSpPr>
        <p:spPr>
          <a:xfrm>
            <a:off x="6191250" y="2047875"/>
            <a:ext cx="1524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MODEL</a:t>
            </a:r>
          </a:p>
        </p:txBody>
      </p:sp>
      <p:sp>
        <p:nvSpPr>
          <p:cNvPr id="7" name="definition-value-0">
            <a:extLst>
              <a:ext uri="{FF2B5EF4-FFF2-40B4-BE49-F238E27FC236}">
                <a16:creationId xmlns:a16="http://schemas.microsoft.com/office/drawing/2014/main" id="{E79FBB49-58FC-4456-92C7-BAEC32BE2194}"/>
              </a:ext>
            </a:extLst>
          </p:cNvPr>
          <p:cNvSpPr>
            <a:spLocks noGrp="1"/>
          </p:cNvSpPr>
          <p:nvPr/>
        </p:nvSpPr>
        <p:spPr>
          <a:xfrm>
            <a:off x="6191250" y="2352675"/>
            <a:ext cx="4762500" cy="419100"/>
          </a:xfrm>
          <a:prstGeom prst="rect">
            <a:avLst/>
          </a:prstGeom>
          <a:noFill/>
          <a:ln w="0">
            <a:noFill/>
            <a:prstDash val="solid"/>
          </a:ln>
        </p:spPr>
        <p:txBody>
          <a:bodyPr wrap="square" lIns="0" tIns="0" rIns="0" bIns="0" anchor="t">
            <a:normAutofit/>
          </a:bodyPr>
          <a:lstStyle/>
          <a:p>
            <a:pPr algn="l">
              <a:defRPr sz="1875" b="0">
                <a:solidFill>
                  <a:srgbClr val="101114"/>
                </a:solidFill>
                <a:latin typeface="Arial"/>
                <a:ea typeface="Arial"/>
                <a:cs typeface="Arial"/>
              </a:defRPr>
            </a:pPr>
            <a:r>
              <a:rPr sz="1875" b="0">
                <a:solidFill>
                  <a:srgbClr val="101114"/>
                </a:solidFill>
                <a:latin typeface="Arial"/>
                <a:ea typeface="Arial"/>
                <a:cs typeface="Arial"/>
              </a:rPr>
              <a:t>Reasoning engine</a:t>
            </a:r>
          </a:p>
        </p:txBody>
      </p:sp>
      <p:sp>
        <p:nvSpPr>
          <p:cNvPr id="8" name="definition-key-1">
            <a:extLst>
              <a:ext uri="{FF2B5EF4-FFF2-40B4-BE49-F238E27FC236}">
                <a16:creationId xmlns:a16="http://schemas.microsoft.com/office/drawing/2014/main" id="{1F49A984-27C0-489E-8EBB-49B28861FA37}"/>
              </a:ext>
            </a:extLst>
          </p:cNvPr>
          <p:cNvSpPr>
            <a:spLocks noGrp="1"/>
          </p:cNvSpPr>
          <p:nvPr/>
        </p:nvSpPr>
        <p:spPr>
          <a:xfrm>
            <a:off x="6191250" y="2924175"/>
            <a:ext cx="1524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EXPERT</a:t>
            </a:r>
          </a:p>
        </p:txBody>
      </p:sp>
      <p:sp>
        <p:nvSpPr>
          <p:cNvPr id="9" name="definition-value-1">
            <a:extLst>
              <a:ext uri="{FF2B5EF4-FFF2-40B4-BE49-F238E27FC236}">
                <a16:creationId xmlns:a16="http://schemas.microsoft.com/office/drawing/2014/main" id="{F97A8CB8-AC01-4B40-82EC-122E932CEFD1}"/>
              </a:ext>
            </a:extLst>
          </p:cNvPr>
          <p:cNvSpPr>
            <a:spLocks noGrp="1"/>
          </p:cNvSpPr>
          <p:nvPr/>
        </p:nvSpPr>
        <p:spPr>
          <a:xfrm>
            <a:off x="6191250" y="3228975"/>
            <a:ext cx="4762500" cy="419100"/>
          </a:xfrm>
          <a:prstGeom prst="rect">
            <a:avLst/>
          </a:prstGeom>
          <a:noFill/>
          <a:ln w="0">
            <a:noFill/>
            <a:prstDash val="solid"/>
          </a:ln>
        </p:spPr>
        <p:txBody>
          <a:bodyPr wrap="square" lIns="0" tIns="0" rIns="0" bIns="0" anchor="t">
            <a:normAutofit/>
          </a:bodyPr>
          <a:lstStyle/>
          <a:p>
            <a:pPr algn="l">
              <a:defRPr sz="1875" b="1">
                <a:solidFill>
                  <a:srgbClr val="101114"/>
                </a:solidFill>
                <a:latin typeface="Arial"/>
                <a:ea typeface="Arial"/>
                <a:cs typeface="Arial"/>
              </a:defRPr>
            </a:pPr>
            <a:r>
              <a:rPr sz="1875" b="1">
                <a:solidFill>
                  <a:srgbClr val="101114"/>
                </a:solidFill>
                <a:latin typeface="Arial"/>
                <a:ea typeface="Arial"/>
                <a:cs typeface="Arial"/>
              </a:rPr>
              <a:t>Specialist role + domain framing</a:t>
            </a:r>
          </a:p>
        </p:txBody>
      </p:sp>
      <p:sp>
        <p:nvSpPr>
          <p:cNvPr id="10" name="definition-key-2">
            <a:extLst>
              <a:ext uri="{FF2B5EF4-FFF2-40B4-BE49-F238E27FC236}">
                <a16:creationId xmlns:a16="http://schemas.microsoft.com/office/drawing/2014/main" id="{BD02F390-BFC2-4313-86A9-9C7F3B392405}"/>
              </a:ext>
            </a:extLst>
          </p:cNvPr>
          <p:cNvSpPr>
            <a:spLocks noGrp="1"/>
          </p:cNvSpPr>
          <p:nvPr/>
        </p:nvSpPr>
        <p:spPr>
          <a:xfrm>
            <a:off x="6191250" y="3800475"/>
            <a:ext cx="1524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TEAM</a:t>
            </a:r>
          </a:p>
        </p:txBody>
      </p:sp>
      <p:sp>
        <p:nvSpPr>
          <p:cNvPr id="11" name="definition-value-2">
            <a:extLst>
              <a:ext uri="{FF2B5EF4-FFF2-40B4-BE49-F238E27FC236}">
                <a16:creationId xmlns:a16="http://schemas.microsoft.com/office/drawing/2014/main" id="{93972944-B685-46BB-81D0-68C009C78607}"/>
              </a:ext>
            </a:extLst>
          </p:cNvPr>
          <p:cNvSpPr>
            <a:spLocks noGrp="1"/>
          </p:cNvSpPr>
          <p:nvPr/>
        </p:nvSpPr>
        <p:spPr>
          <a:xfrm>
            <a:off x="6191250" y="4105275"/>
            <a:ext cx="4762500" cy="419100"/>
          </a:xfrm>
          <a:prstGeom prst="rect">
            <a:avLst/>
          </a:prstGeom>
          <a:noFill/>
          <a:ln w="0">
            <a:noFill/>
            <a:prstDash val="solid"/>
          </a:ln>
        </p:spPr>
        <p:txBody>
          <a:bodyPr wrap="square" lIns="0" tIns="0" rIns="0" bIns="0" anchor="t">
            <a:normAutofit/>
          </a:bodyPr>
          <a:lstStyle/>
          <a:p>
            <a:pPr algn="l">
              <a:defRPr sz="1875" b="0">
                <a:solidFill>
                  <a:srgbClr val="101114"/>
                </a:solidFill>
                <a:latin typeface="Arial"/>
                <a:ea typeface="Arial"/>
                <a:cs typeface="Arial"/>
              </a:defRPr>
            </a:pPr>
            <a:r>
              <a:rPr sz="1875" b="0">
                <a:solidFill>
                  <a:srgbClr val="101114"/>
                </a:solidFill>
                <a:latin typeface="Arial"/>
                <a:ea typeface="Arial"/>
                <a:cs typeface="Arial"/>
              </a:rPr>
              <a:t>Divide work + cross-check</a:t>
            </a:r>
          </a:p>
        </p:txBody>
      </p:sp>
      <p:sp>
        <p:nvSpPr>
          <p:cNvPr id="12" name="definition-key-3">
            <a:extLst>
              <a:ext uri="{FF2B5EF4-FFF2-40B4-BE49-F238E27FC236}">
                <a16:creationId xmlns:a16="http://schemas.microsoft.com/office/drawing/2014/main" id="{19DAD854-AFFB-4EE7-816A-0223A8F06494}"/>
              </a:ext>
            </a:extLst>
          </p:cNvPr>
          <p:cNvSpPr>
            <a:spLocks noGrp="1"/>
          </p:cNvSpPr>
          <p:nvPr/>
        </p:nvSpPr>
        <p:spPr>
          <a:xfrm>
            <a:off x="6191250" y="4676775"/>
            <a:ext cx="1524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WORKSPACE</a:t>
            </a:r>
          </a:p>
        </p:txBody>
      </p:sp>
      <p:sp>
        <p:nvSpPr>
          <p:cNvPr id="13" name="definition-value-3">
            <a:extLst>
              <a:ext uri="{FF2B5EF4-FFF2-40B4-BE49-F238E27FC236}">
                <a16:creationId xmlns:a16="http://schemas.microsoft.com/office/drawing/2014/main" id="{1C9AC488-9FC3-4B01-9B8A-19A42B7653FA}"/>
              </a:ext>
            </a:extLst>
          </p:cNvPr>
          <p:cNvSpPr>
            <a:spLocks noGrp="1"/>
          </p:cNvSpPr>
          <p:nvPr/>
        </p:nvSpPr>
        <p:spPr>
          <a:xfrm>
            <a:off x="6191250" y="4981575"/>
            <a:ext cx="4762500" cy="419100"/>
          </a:xfrm>
          <a:prstGeom prst="rect">
            <a:avLst/>
          </a:prstGeom>
          <a:noFill/>
          <a:ln w="0">
            <a:noFill/>
            <a:prstDash val="solid"/>
          </a:ln>
        </p:spPr>
        <p:txBody>
          <a:bodyPr wrap="square" lIns="0" tIns="0" rIns="0" bIns="0" anchor="t">
            <a:normAutofit/>
          </a:bodyPr>
          <a:lstStyle/>
          <a:p>
            <a:pPr algn="l">
              <a:defRPr sz="1875" b="0">
                <a:solidFill>
                  <a:srgbClr val="101114"/>
                </a:solidFill>
                <a:latin typeface="Arial"/>
                <a:ea typeface="Arial"/>
                <a:cs typeface="Arial"/>
              </a:defRPr>
            </a:pPr>
            <a:r>
              <a:rPr sz="1875" b="0">
                <a:solidFill>
                  <a:srgbClr val="101114"/>
                </a:solidFill>
                <a:latin typeface="Arial"/>
                <a:ea typeface="Arial"/>
                <a:cs typeface="Arial"/>
              </a:rPr>
              <a:t>Review connects to implementation</a:t>
            </a:r>
          </a:p>
        </p:txBody>
      </p:sp>
      <p:sp>
        <p:nvSpPr>
          <p:cNvPr id="14" name="workbuddy-callout">
            <a:extLst>
              <a:ext uri="{FF2B5EF4-FFF2-40B4-BE49-F238E27FC236}">
                <a16:creationId xmlns:a16="http://schemas.microsoft.com/office/drawing/2014/main" id="{2ACDC00A-AD4B-4946-9CE9-AE869CE9A3B4}"/>
              </a:ext>
            </a:extLst>
          </p:cNvPr>
          <p:cNvSpPr>
            <a:spLocks noGrp="1"/>
          </p:cNvSpPr>
          <p:nvPr/>
        </p:nvSpPr>
        <p:spPr>
          <a:xfrm>
            <a:off x="6191250" y="5638800"/>
            <a:ext cx="4762500" cy="552450"/>
          </a:xfrm>
          <a:prstGeom prst="roundRect">
            <a:avLst>
              <a:gd name="adj" fmla="val 13793"/>
            </a:avLst>
          </a:prstGeom>
          <a:solidFill>
            <a:srgbClr val="EAF5FB"/>
          </a:solidFill>
          <a:ln w="0">
            <a:noFill/>
            <a:prstDash val="solid"/>
          </a:ln>
        </p:spPr>
        <p:txBody>
          <a:bodyPr/>
          <a:lstStyle/>
          <a:p>
            <a:endParaRPr lang="en-US"/>
          </a:p>
        </p:txBody>
      </p:sp>
      <p:sp>
        <p:nvSpPr>
          <p:cNvPr id="15" name="workbuddy-callout-text">
            <a:extLst>
              <a:ext uri="{FF2B5EF4-FFF2-40B4-BE49-F238E27FC236}">
                <a16:creationId xmlns:a16="http://schemas.microsoft.com/office/drawing/2014/main" id="{90F2478C-35FD-4FD5-BEFE-998D2586377B}"/>
              </a:ext>
            </a:extLst>
          </p:cNvPr>
          <p:cNvSpPr>
            <a:spLocks noGrp="1"/>
          </p:cNvSpPr>
          <p:nvPr/>
        </p:nvSpPr>
        <p:spPr>
          <a:xfrm>
            <a:off x="6419850" y="5810250"/>
            <a:ext cx="4305300" cy="247650"/>
          </a:xfrm>
          <a:prstGeom prst="rect">
            <a:avLst/>
          </a:prstGeom>
          <a:noFill/>
          <a:ln w="0">
            <a:noFill/>
            <a:prstDash val="solid"/>
          </a:ln>
        </p:spPr>
        <p:txBody>
          <a:bodyPr wrap="square" lIns="0" tIns="0" rIns="0" bIns="0" anchor="t">
            <a:normAutofit/>
          </a:bodyPr>
          <a:lstStyle/>
          <a:p>
            <a:pPr algn="ctr">
              <a:defRPr sz="1350" b="1">
                <a:solidFill>
                  <a:srgbClr val="0A2D55"/>
                </a:solidFill>
                <a:latin typeface="Arial"/>
                <a:ea typeface="Arial"/>
                <a:cs typeface="Arial"/>
              </a:defRPr>
            </a:pPr>
            <a:r>
              <a:rPr sz="1350" b="1">
                <a:solidFill>
                  <a:srgbClr val="0A2D55"/>
                </a:solidFill>
                <a:latin typeface="Arial"/>
                <a:ea typeface="Arial"/>
                <a:cs typeface="Arial"/>
              </a:rPr>
              <a:t>Deeper judgment where it had the most leverage.</a:t>
            </a:r>
          </a:p>
        </p:txBody>
      </p:sp>
      <p:sp>
        <p:nvSpPr>
          <p:cNvPr id="16" name="footer-rule-4">
            <a:extLst>
              <a:ext uri="{FF2B5EF4-FFF2-40B4-BE49-F238E27FC236}">
                <a16:creationId xmlns:a16="http://schemas.microsoft.com/office/drawing/2014/main" id="{73134F73-A45E-415C-9EF1-515DDB60C867}"/>
              </a:ext>
            </a:extLst>
          </p:cNvPr>
          <p:cNvSpPr>
            <a:spLocks noGrp="1"/>
          </p:cNvSpPr>
          <p:nvPr/>
        </p:nvSpPr>
        <p:spPr>
          <a:xfrm>
            <a:off x="609600" y="6486525"/>
            <a:ext cx="10972800" cy="9525"/>
          </a:xfrm>
          <a:prstGeom prst="rect">
            <a:avLst/>
          </a:prstGeom>
          <a:solidFill>
            <a:srgbClr val="B8BCC4"/>
          </a:solidFill>
          <a:ln w="0">
            <a:noFill/>
            <a:prstDash val="solid"/>
          </a:ln>
        </p:spPr>
        <p:txBody>
          <a:bodyPr/>
          <a:lstStyle/>
          <a:p>
            <a:endParaRPr lang="en-US"/>
          </a:p>
        </p:txBody>
      </p:sp>
      <p:sp>
        <p:nvSpPr>
          <p:cNvPr id="17" name="footer-left-4">
            <a:extLst>
              <a:ext uri="{FF2B5EF4-FFF2-40B4-BE49-F238E27FC236}">
                <a16:creationId xmlns:a16="http://schemas.microsoft.com/office/drawing/2014/main" id="{AB458CB3-E0ED-493A-A443-C0EAB173CF1A}"/>
              </a:ext>
            </a:extLst>
          </p:cNvPr>
          <p:cNvSpPr>
            <a:spLocks noGrp="1"/>
          </p:cNvSpPr>
          <p:nvPr/>
        </p:nvSpPr>
        <p:spPr>
          <a:xfrm>
            <a:off x="609600" y="6572250"/>
            <a:ext cx="4953000" cy="171450"/>
          </a:xfrm>
          <a:prstGeom prst="rect">
            <a:avLst/>
          </a:prstGeom>
          <a:noFill/>
          <a:ln w="0">
            <a:noFill/>
            <a:prstDash val="solid"/>
          </a:ln>
        </p:spPr>
        <p:txBody>
          <a:bodyPr wrap="square" lIns="0" tIns="0" rIns="0" bIns="0" anchor="t">
            <a:normAutofit/>
          </a:bodyPr>
          <a:lstStyle/>
          <a:p>
            <a:pPr algn="l">
              <a:defRPr sz="900" b="1">
                <a:solidFill>
                  <a:srgbClr val="60656F"/>
                </a:solidFill>
                <a:latin typeface="Arial"/>
                <a:ea typeface="Arial"/>
                <a:cs typeface="Arial"/>
              </a:defRPr>
            </a:pPr>
            <a:r>
              <a:rPr sz="900" b="1">
                <a:solidFill>
                  <a:srgbClr val="60656F"/>
                </a:solidFill>
                <a:latin typeface="Arial"/>
                <a:ea typeface="Arial"/>
                <a:cs typeface="Arial"/>
              </a:rPr>
              <a:t>PHOTO HELPER · FIVECENT</a:t>
            </a:r>
          </a:p>
        </p:txBody>
      </p:sp>
      <p:sp>
        <p:nvSpPr>
          <p:cNvPr id="18" name="footer-number-4">
            <a:extLst>
              <a:ext uri="{FF2B5EF4-FFF2-40B4-BE49-F238E27FC236}">
                <a16:creationId xmlns:a16="http://schemas.microsoft.com/office/drawing/2014/main" id="{73EF0698-71F0-4FC7-8525-DA2E3F00DDB5}"/>
              </a:ext>
            </a:extLst>
          </p:cNvPr>
          <p:cNvSpPr>
            <a:spLocks noGrp="1"/>
          </p:cNvSpPr>
          <p:nvPr/>
        </p:nvSpPr>
        <p:spPr>
          <a:xfrm>
            <a:off x="11144250" y="6562725"/>
            <a:ext cx="438150" cy="171450"/>
          </a:xfrm>
          <a:prstGeom prst="rect">
            <a:avLst/>
          </a:prstGeom>
          <a:noFill/>
          <a:ln w="0">
            <a:noFill/>
            <a:prstDash val="solid"/>
          </a:ln>
        </p:spPr>
        <p:txBody>
          <a:bodyPr wrap="square" lIns="0" tIns="0" rIns="0" bIns="0" anchor="t">
            <a:normAutofit/>
          </a:bodyPr>
          <a:lstStyle/>
          <a:p>
            <a:pPr algn="r">
              <a:defRPr sz="900" b="1">
                <a:solidFill>
                  <a:srgbClr val="60656F"/>
                </a:solidFill>
                <a:latin typeface="Arial"/>
                <a:ea typeface="Arial"/>
                <a:cs typeface="Arial"/>
              </a:defRPr>
            </a:pPr>
            <a:r>
              <a:rPr sz="900" b="1">
                <a:solidFill>
                  <a:srgbClr val="60656F"/>
                </a:solidFill>
                <a:latin typeface="Arial"/>
                <a:ea typeface="Arial"/>
                <a:cs typeface="Arial"/>
              </a:rPr>
              <a:t>04</a:t>
            </a:r>
          </a:p>
        </p:txBody>
      </p:sp>
    </p:spTree>
    <p:extLst>
      <p:ext uri="{BB962C8B-B14F-4D97-AF65-F5344CB8AC3E}">
        <p14:creationId xmlns:p14="http://schemas.microsoft.com/office/powerpoint/2010/main" val="2006217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tage-index-5">
            <a:extLst>
              <a:ext uri="{FF2B5EF4-FFF2-40B4-BE49-F238E27FC236}">
                <a16:creationId xmlns:a16="http://schemas.microsoft.com/office/drawing/2014/main" id="{F2891078-B6BE-4D74-B025-4C86E4867208}"/>
              </a:ext>
            </a:extLst>
          </p:cNvPr>
          <p:cNvSpPr>
            <a:spLocks noGrp="1"/>
          </p:cNvSpPr>
          <p:nvPr/>
        </p:nvSpPr>
        <p:spPr>
          <a:xfrm>
            <a:off x="609600" y="400050"/>
            <a:ext cx="438150" cy="2286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05</a:t>
            </a:r>
          </a:p>
        </p:txBody>
      </p:sp>
      <p:sp>
        <p:nvSpPr>
          <p:cNvPr id="2" name="stage-section-5">
            <a:extLst>
              <a:ext uri="{FF2B5EF4-FFF2-40B4-BE49-F238E27FC236}">
                <a16:creationId xmlns:a16="http://schemas.microsoft.com/office/drawing/2014/main" id="{0248C0E7-337F-4991-8086-16EDB2EE7A99}"/>
              </a:ext>
            </a:extLst>
          </p:cNvPr>
          <p:cNvSpPr>
            <a:spLocks noGrp="1"/>
          </p:cNvSpPr>
          <p:nvPr/>
        </p:nvSpPr>
        <p:spPr>
          <a:xfrm>
            <a:off x="1162050" y="400050"/>
            <a:ext cx="5905500" cy="228600"/>
          </a:xfrm>
          <a:prstGeom prst="rect">
            <a:avLst/>
          </a:prstGeom>
          <a:noFill/>
          <a:ln w="0">
            <a:noFill/>
            <a:prstDash val="solid"/>
          </a:ln>
        </p:spPr>
        <p:txBody>
          <a:bodyPr wrap="square" lIns="0" tIns="0" rIns="0" bIns="0" anchor="t">
            <a:normAutofit/>
          </a:bodyPr>
          <a:lstStyle/>
          <a:p>
            <a:pPr algn="l">
              <a:defRPr sz="1200" b="1">
                <a:solidFill>
                  <a:srgbClr val="60656F"/>
                </a:solidFill>
                <a:latin typeface="Arial"/>
                <a:ea typeface="Arial"/>
                <a:cs typeface="Arial"/>
              </a:defRPr>
            </a:pPr>
            <a:r>
              <a:rPr sz="1200" b="1">
                <a:solidFill>
                  <a:srgbClr val="60656F"/>
                </a:solidFill>
                <a:latin typeface="Arial"/>
                <a:ea typeface="Arial"/>
                <a:cs typeface="Arial"/>
              </a:rPr>
              <a:t>WORKBUDDY WORKFLOW</a:t>
            </a:r>
          </a:p>
        </p:txBody>
      </p:sp>
      <p:sp>
        <p:nvSpPr>
          <p:cNvPr id="3" name="workflow-title">
            <a:extLst>
              <a:ext uri="{FF2B5EF4-FFF2-40B4-BE49-F238E27FC236}">
                <a16:creationId xmlns:a16="http://schemas.microsoft.com/office/drawing/2014/main" id="{F22A2F65-5ABB-4D8E-BA2A-7F20CC024CFE}"/>
              </a:ext>
            </a:extLst>
          </p:cNvPr>
          <p:cNvSpPr>
            <a:spLocks noGrp="1"/>
          </p:cNvSpPr>
          <p:nvPr/>
        </p:nvSpPr>
        <p:spPr>
          <a:xfrm>
            <a:off x="609600" y="876300"/>
            <a:ext cx="10972800" cy="685800"/>
          </a:xfrm>
          <a:prstGeom prst="rect">
            <a:avLst/>
          </a:prstGeom>
          <a:noFill/>
          <a:ln w="0">
            <a:noFill/>
            <a:prstDash val="solid"/>
          </a:ln>
        </p:spPr>
        <p:txBody>
          <a:bodyPr wrap="square" lIns="0" tIns="0" rIns="0" bIns="0" anchor="t">
            <a:normAutofit/>
          </a:bodyPr>
          <a:lstStyle/>
          <a:p>
            <a:pPr algn="l">
              <a:defRPr sz="3150" b="1">
                <a:solidFill>
                  <a:srgbClr val="101114"/>
                </a:solidFill>
                <a:latin typeface="Arial"/>
                <a:ea typeface="Arial"/>
                <a:cs typeface="Arial"/>
              </a:defRPr>
            </a:pPr>
            <a:r>
              <a:rPr sz="3150" b="1">
                <a:solidFill>
                  <a:srgbClr val="101114"/>
                </a:solidFill>
                <a:latin typeface="Arial"/>
                <a:ea typeface="Arial"/>
                <a:cs typeface="Arial"/>
              </a:rPr>
              <a:t>Three specialist passes made the product stronger.</a:t>
            </a:r>
          </a:p>
        </p:txBody>
      </p:sp>
      <p:sp>
        <p:nvSpPr>
          <p:cNvPr id="4" name="workflow-line">
            <a:extLst>
              <a:ext uri="{FF2B5EF4-FFF2-40B4-BE49-F238E27FC236}">
                <a16:creationId xmlns:a16="http://schemas.microsoft.com/office/drawing/2014/main" id="{FE524EE0-80A2-4253-8641-A2729E438F91}"/>
              </a:ext>
            </a:extLst>
          </p:cNvPr>
          <p:cNvSpPr>
            <a:spLocks noGrp="1"/>
          </p:cNvSpPr>
          <p:nvPr/>
        </p:nvSpPr>
        <p:spPr>
          <a:xfrm>
            <a:off x="952500" y="3219450"/>
            <a:ext cx="10287000" cy="19050"/>
          </a:xfrm>
          <a:prstGeom prst="rect">
            <a:avLst/>
          </a:prstGeom>
          <a:solidFill>
            <a:srgbClr val="101114"/>
          </a:solidFill>
          <a:ln w="0">
            <a:noFill/>
            <a:prstDash val="solid"/>
          </a:ln>
        </p:spPr>
        <p:txBody>
          <a:bodyPr/>
          <a:lstStyle/>
          <a:p>
            <a:endParaRPr lang="en-US"/>
          </a:p>
        </p:txBody>
      </p:sp>
      <p:sp>
        <p:nvSpPr>
          <p:cNvPr id="5" name="workflow-no-0">
            <a:extLst>
              <a:ext uri="{FF2B5EF4-FFF2-40B4-BE49-F238E27FC236}">
                <a16:creationId xmlns:a16="http://schemas.microsoft.com/office/drawing/2014/main" id="{17D62603-3B5D-4E3B-AB2D-96674E972538}"/>
              </a:ext>
            </a:extLst>
          </p:cNvPr>
          <p:cNvSpPr>
            <a:spLocks noGrp="1"/>
          </p:cNvSpPr>
          <p:nvPr/>
        </p:nvSpPr>
        <p:spPr>
          <a:xfrm>
            <a:off x="952500" y="2095500"/>
            <a:ext cx="4572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01</a:t>
            </a:r>
          </a:p>
        </p:txBody>
      </p:sp>
      <p:sp>
        <p:nvSpPr>
          <p:cNvPr id="6" name="workflow-model-0">
            <a:extLst>
              <a:ext uri="{FF2B5EF4-FFF2-40B4-BE49-F238E27FC236}">
                <a16:creationId xmlns:a16="http://schemas.microsoft.com/office/drawing/2014/main" id="{9B2DA7FF-3D3C-477E-A8B9-29C992A30A5D}"/>
              </a:ext>
            </a:extLst>
          </p:cNvPr>
          <p:cNvSpPr>
            <a:spLocks noGrp="1"/>
          </p:cNvSpPr>
          <p:nvPr/>
        </p:nvSpPr>
        <p:spPr>
          <a:xfrm>
            <a:off x="952500" y="2400300"/>
            <a:ext cx="2667000" cy="457200"/>
          </a:xfrm>
          <a:prstGeom prst="rect">
            <a:avLst/>
          </a:prstGeom>
          <a:noFill/>
          <a:ln w="0">
            <a:noFill/>
            <a:prstDash val="solid"/>
          </a:ln>
        </p:spPr>
        <p:txBody>
          <a:bodyPr wrap="square" lIns="0" tIns="0" rIns="0" bIns="0" anchor="t">
            <a:normAutofit/>
          </a:bodyPr>
          <a:lstStyle/>
          <a:p>
            <a:pPr algn="l">
              <a:defRPr sz="2250" b="1">
                <a:solidFill>
                  <a:srgbClr val="101114"/>
                </a:solidFill>
                <a:latin typeface="Arial"/>
                <a:ea typeface="Arial"/>
                <a:cs typeface="Arial"/>
              </a:defRPr>
            </a:pPr>
            <a:r>
              <a:rPr sz="2250" b="1">
                <a:solidFill>
                  <a:srgbClr val="101114"/>
                </a:solidFill>
                <a:latin typeface="Arial"/>
                <a:ea typeface="Arial"/>
                <a:cs typeface="Arial"/>
              </a:rPr>
              <a:t>HY3</a:t>
            </a:r>
          </a:p>
        </p:txBody>
      </p:sp>
      <p:sp>
        <p:nvSpPr>
          <p:cNvPr id="7" name="workflow-expert-0">
            <a:extLst>
              <a:ext uri="{FF2B5EF4-FFF2-40B4-BE49-F238E27FC236}">
                <a16:creationId xmlns:a16="http://schemas.microsoft.com/office/drawing/2014/main" id="{CA6B072C-9F5E-4148-A911-FE8FEF6B7FAC}"/>
              </a:ext>
            </a:extLst>
          </p:cNvPr>
          <p:cNvSpPr>
            <a:spLocks noGrp="1"/>
          </p:cNvSpPr>
          <p:nvPr/>
        </p:nvSpPr>
        <p:spPr>
          <a:xfrm>
            <a:off x="952500" y="2857500"/>
            <a:ext cx="2762250" cy="514350"/>
          </a:xfrm>
          <a:prstGeom prst="rect">
            <a:avLst/>
          </a:prstGeom>
          <a:noFill/>
          <a:ln w="0">
            <a:noFill/>
            <a:prstDash val="solid"/>
          </a:ln>
        </p:spPr>
        <p:txBody>
          <a:bodyPr wrap="square" lIns="0" tIns="0" rIns="0" bIns="0" anchor="t">
            <a:normAutofit/>
          </a:bodyPr>
          <a:lstStyle/>
          <a:p>
            <a:pPr algn="l">
              <a:defRPr sz="1125" b="1">
                <a:solidFill>
                  <a:srgbClr val="60656F"/>
                </a:solidFill>
                <a:latin typeface="Arial"/>
                <a:ea typeface="Arial"/>
                <a:cs typeface="Arial"/>
              </a:defRPr>
            </a:pPr>
            <a:r>
              <a:rPr sz="1125" b="1">
                <a:solidFill>
                  <a:srgbClr val="60656F"/>
                </a:solidFill>
                <a:latin typeface="Arial"/>
                <a:ea typeface="Arial"/>
                <a:cs typeface="Arial"/>
              </a:rPr>
              <a:t>MOBILE APPLICATION</a:t>
            </a:r>
          </a:p>
          <a:p>
            <a:pPr algn="l">
              <a:defRPr sz="1125" b="1">
                <a:solidFill>
                  <a:srgbClr val="60656F"/>
                </a:solidFill>
                <a:latin typeface="Arial"/>
                <a:ea typeface="Arial"/>
                <a:cs typeface="Arial"/>
              </a:defRPr>
            </a:pPr>
            <a:r>
              <a:rPr sz="1125" b="1">
                <a:solidFill>
                  <a:srgbClr val="60656F"/>
                </a:solidFill>
                <a:latin typeface="Arial"/>
                <a:ea typeface="Arial"/>
                <a:cs typeface="Arial"/>
              </a:rPr>
              <a:t>DEVELOPER</a:t>
            </a:r>
          </a:p>
        </p:txBody>
      </p:sp>
      <p:sp>
        <p:nvSpPr>
          <p:cNvPr id="8" name="workflow-dot-0">
            <a:extLst>
              <a:ext uri="{FF2B5EF4-FFF2-40B4-BE49-F238E27FC236}">
                <a16:creationId xmlns:a16="http://schemas.microsoft.com/office/drawing/2014/main" id="{DFFDCA32-9F6A-4C0D-81C5-885207C91529}"/>
              </a:ext>
            </a:extLst>
          </p:cNvPr>
          <p:cNvSpPr>
            <a:spLocks noGrp="1"/>
          </p:cNvSpPr>
          <p:nvPr/>
        </p:nvSpPr>
        <p:spPr>
          <a:xfrm>
            <a:off x="885825" y="3143250"/>
            <a:ext cx="152400" cy="152400"/>
          </a:xfrm>
          <a:prstGeom prst="rect">
            <a:avLst/>
          </a:prstGeom>
          <a:solidFill>
            <a:srgbClr val="101114"/>
          </a:solidFill>
          <a:ln w="0">
            <a:noFill/>
            <a:prstDash val="solid"/>
          </a:ln>
        </p:spPr>
        <p:txBody>
          <a:bodyPr/>
          <a:lstStyle/>
          <a:p>
            <a:endParaRPr lang="en-US"/>
          </a:p>
        </p:txBody>
      </p:sp>
      <p:sp>
        <p:nvSpPr>
          <p:cNvPr id="9" name="workflow-body-0">
            <a:extLst>
              <a:ext uri="{FF2B5EF4-FFF2-40B4-BE49-F238E27FC236}">
                <a16:creationId xmlns:a16="http://schemas.microsoft.com/office/drawing/2014/main" id="{B62499CC-5F1C-455B-819F-370B7A97E1BA}"/>
              </a:ext>
            </a:extLst>
          </p:cNvPr>
          <p:cNvSpPr>
            <a:spLocks noGrp="1"/>
          </p:cNvSpPr>
          <p:nvPr/>
        </p:nvSpPr>
        <p:spPr>
          <a:xfrm>
            <a:off x="952500" y="3714750"/>
            <a:ext cx="2857500" cy="1047750"/>
          </a:xfrm>
          <a:prstGeom prst="rect">
            <a:avLst/>
          </a:prstGeom>
          <a:noFill/>
          <a:ln w="0">
            <a:noFill/>
            <a:prstDash val="solid"/>
          </a:ln>
        </p:spPr>
        <p:txBody>
          <a:bodyPr wrap="square" lIns="0" tIns="0" rIns="0" bIns="0" anchor="t">
            <a:normAutofit/>
          </a:bodyPr>
          <a:lstStyle/>
          <a:p>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Trace the Android journey</a:t>
            </a:r>
          </a:p>
          <a:p>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Find evidence-backed issues</a:t>
            </a:r>
          </a:p>
        </p:txBody>
      </p:sp>
      <p:sp>
        <p:nvSpPr>
          <p:cNvPr id="10" name="workflow-no-1">
            <a:extLst>
              <a:ext uri="{FF2B5EF4-FFF2-40B4-BE49-F238E27FC236}">
                <a16:creationId xmlns:a16="http://schemas.microsoft.com/office/drawing/2014/main" id="{31E76BE8-7DDF-49B9-A127-5020D4747E69}"/>
              </a:ext>
            </a:extLst>
          </p:cNvPr>
          <p:cNvSpPr>
            <a:spLocks noGrp="1"/>
          </p:cNvSpPr>
          <p:nvPr/>
        </p:nvSpPr>
        <p:spPr>
          <a:xfrm>
            <a:off x="4476750" y="2095500"/>
            <a:ext cx="4572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02</a:t>
            </a:r>
          </a:p>
        </p:txBody>
      </p:sp>
      <p:sp>
        <p:nvSpPr>
          <p:cNvPr id="11" name="workflow-model-1">
            <a:extLst>
              <a:ext uri="{FF2B5EF4-FFF2-40B4-BE49-F238E27FC236}">
                <a16:creationId xmlns:a16="http://schemas.microsoft.com/office/drawing/2014/main" id="{7599FA3F-597F-4B1D-BC60-DC1CE3471855}"/>
              </a:ext>
            </a:extLst>
          </p:cNvPr>
          <p:cNvSpPr>
            <a:spLocks noGrp="1"/>
          </p:cNvSpPr>
          <p:nvPr/>
        </p:nvSpPr>
        <p:spPr>
          <a:xfrm>
            <a:off x="4476750" y="2400300"/>
            <a:ext cx="2667000" cy="457200"/>
          </a:xfrm>
          <a:prstGeom prst="rect">
            <a:avLst/>
          </a:prstGeom>
          <a:noFill/>
          <a:ln w="0">
            <a:noFill/>
            <a:prstDash val="solid"/>
          </a:ln>
        </p:spPr>
        <p:txBody>
          <a:bodyPr wrap="square" lIns="0" tIns="0" rIns="0" bIns="0" anchor="t">
            <a:normAutofit/>
          </a:bodyPr>
          <a:lstStyle/>
          <a:p>
            <a:pPr algn="l">
              <a:defRPr sz="2250" b="1">
                <a:solidFill>
                  <a:srgbClr val="101114"/>
                </a:solidFill>
                <a:latin typeface="Arial"/>
                <a:ea typeface="Arial"/>
                <a:cs typeface="Arial"/>
              </a:defRPr>
            </a:pPr>
            <a:r>
              <a:rPr sz="2250" b="1">
                <a:solidFill>
                  <a:srgbClr val="101114"/>
                </a:solidFill>
                <a:latin typeface="Arial"/>
                <a:ea typeface="Arial"/>
                <a:cs typeface="Arial"/>
              </a:rPr>
              <a:t>KIMI-K3</a:t>
            </a:r>
          </a:p>
        </p:txBody>
      </p:sp>
      <p:sp>
        <p:nvSpPr>
          <p:cNvPr id="12" name="workflow-expert-1">
            <a:extLst>
              <a:ext uri="{FF2B5EF4-FFF2-40B4-BE49-F238E27FC236}">
                <a16:creationId xmlns:a16="http://schemas.microsoft.com/office/drawing/2014/main" id="{66BF6DF5-835D-4101-B0B5-50B22BBA418C}"/>
              </a:ext>
            </a:extLst>
          </p:cNvPr>
          <p:cNvSpPr>
            <a:spLocks noGrp="1"/>
          </p:cNvSpPr>
          <p:nvPr/>
        </p:nvSpPr>
        <p:spPr>
          <a:xfrm>
            <a:off x="4476750" y="2857500"/>
            <a:ext cx="2762250" cy="514350"/>
          </a:xfrm>
          <a:prstGeom prst="rect">
            <a:avLst/>
          </a:prstGeom>
          <a:noFill/>
          <a:ln w="0">
            <a:noFill/>
            <a:prstDash val="solid"/>
          </a:ln>
        </p:spPr>
        <p:txBody>
          <a:bodyPr wrap="square" lIns="0" tIns="0" rIns="0" bIns="0" anchor="t">
            <a:normAutofit/>
          </a:bodyPr>
          <a:lstStyle/>
          <a:p>
            <a:pPr algn="l">
              <a:defRPr sz="1125" b="1">
                <a:solidFill>
                  <a:srgbClr val="60656F"/>
                </a:solidFill>
                <a:latin typeface="Arial"/>
                <a:ea typeface="Arial"/>
                <a:cs typeface="Arial"/>
              </a:defRPr>
            </a:pPr>
            <a:r>
              <a:rPr sz="1125" b="1">
                <a:solidFill>
                  <a:srgbClr val="60656F"/>
                </a:solidFill>
                <a:latin typeface="Arial"/>
                <a:ea typeface="Arial"/>
                <a:cs typeface="Arial"/>
              </a:rPr>
              <a:t>UI DESIGNER</a:t>
            </a:r>
          </a:p>
        </p:txBody>
      </p:sp>
      <p:sp>
        <p:nvSpPr>
          <p:cNvPr id="13" name="workflow-dot-1">
            <a:extLst>
              <a:ext uri="{FF2B5EF4-FFF2-40B4-BE49-F238E27FC236}">
                <a16:creationId xmlns:a16="http://schemas.microsoft.com/office/drawing/2014/main" id="{98704FB8-2F19-4E7E-A0A1-7DA6E7B481F3}"/>
              </a:ext>
            </a:extLst>
          </p:cNvPr>
          <p:cNvSpPr>
            <a:spLocks noGrp="1"/>
          </p:cNvSpPr>
          <p:nvPr/>
        </p:nvSpPr>
        <p:spPr>
          <a:xfrm>
            <a:off x="4410075" y="3143250"/>
            <a:ext cx="152400" cy="152400"/>
          </a:xfrm>
          <a:prstGeom prst="rect">
            <a:avLst/>
          </a:prstGeom>
          <a:solidFill>
            <a:srgbClr val="3D8DFF"/>
          </a:solidFill>
          <a:ln w="0">
            <a:noFill/>
            <a:prstDash val="solid"/>
          </a:ln>
        </p:spPr>
        <p:txBody>
          <a:bodyPr/>
          <a:lstStyle/>
          <a:p>
            <a:endParaRPr lang="en-US"/>
          </a:p>
        </p:txBody>
      </p:sp>
      <p:sp>
        <p:nvSpPr>
          <p:cNvPr id="14" name="workflow-body-1">
            <a:extLst>
              <a:ext uri="{FF2B5EF4-FFF2-40B4-BE49-F238E27FC236}">
                <a16:creationId xmlns:a16="http://schemas.microsoft.com/office/drawing/2014/main" id="{3878DC36-1FE7-43DB-A4F2-F2EFDA5530EC}"/>
              </a:ext>
            </a:extLst>
          </p:cNvPr>
          <p:cNvSpPr>
            <a:spLocks noGrp="1"/>
          </p:cNvSpPr>
          <p:nvPr/>
        </p:nvSpPr>
        <p:spPr>
          <a:xfrm>
            <a:off x="4476750" y="3714750"/>
            <a:ext cx="2857500" cy="1047750"/>
          </a:xfrm>
          <a:prstGeom prst="rect">
            <a:avLst/>
          </a:prstGeom>
          <a:noFill/>
          <a:ln w="0">
            <a:noFill/>
            <a:prstDash val="solid"/>
          </a:ln>
        </p:spPr>
        <p:txBody>
          <a:bodyPr wrap="square" lIns="0" tIns="0" rIns="0" bIns="0" anchor="t">
            <a:normAutofit/>
          </a:bodyPr>
          <a:lstStyle/>
          <a:p>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Challenge comprehension</a:t>
            </a:r>
          </a:p>
          <a:p>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Refine Stop + Reset</a:t>
            </a:r>
          </a:p>
        </p:txBody>
      </p:sp>
      <p:sp>
        <p:nvSpPr>
          <p:cNvPr id="15" name="workflow-no-2">
            <a:extLst>
              <a:ext uri="{FF2B5EF4-FFF2-40B4-BE49-F238E27FC236}">
                <a16:creationId xmlns:a16="http://schemas.microsoft.com/office/drawing/2014/main" id="{26DAEB59-760B-4683-8166-EA0BA2D74B6B}"/>
              </a:ext>
            </a:extLst>
          </p:cNvPr>
          <p:cNvSpPr>
            <a:spLocks noGrp="1"/>
          </p:cNvSpPr>
          <p:nvPr/>
        </p:nvSpPr>
        <p:spPr>
          <a:xfrm>
            <a:off x="8001000" y="2095500"/>
            <a:ext cx="4572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03</a:t>
            </a:r>
          </a:p>
        </p:txBody>
      </p:sp>
      <p:sp>
        <p:nvSpPr>
          <p:cNvPr id="16" name="workflow-model-2">
            <a:extLst>
              <a:ext uri="{FF2B5EF4-FFF2-40B4-BE49-F238E27FC236}">
                <a16:creationId xmlns:a16="http://schemas.microsoft.com/office/drawing/2014/main" id="{C503A82C-D802-46C6-8662-86D246F55D6A}"/>
              </a:ext>
            </a:extLst>
          </p:cNvPr>
          <p:cNvSpPr>
            <a:spLocks noGrp="1"/>
          </p:cNvSpPr>
          <p:nvPr/>
        </p:nvSpPr>
        <p:spPr>
          <a:xfrm>
            <a:off x="8001000" y="2400300"/>
            <a:ext cx="2667000" cy="457200"/>
          </a:xfrm>
          <a:prstGeom prst="rect">
            <a:avLst/>
          </a:prstGeom>
          <a:noFill/>
          <a:ln w="0">
            <a:noFill/>
            <a:prstDash val="solid"/>
          </a:ln>
        </p:spPr>
        <p:txBody>
          <a:bodyPr wrap="square" lIns="0" tIns="0" rIns="0" bIns="0" anchor="t">
            <a:normAutofit/>
          </a:bodyPr>
          <a:lstStyle/>
          <a:p>
            <a:pPr algn="l">
              <a:defRPr sz="2250" b="1">
                <a:solidFill>
                  <a:srgbClr val="101114"/>
                </a:solidFill>
                <a:latin typeface="Arial"/>
                <a:ea typeface="Arial"/>
                <a:cs typeface="Arial"/>
              </a:defRPr>
            </a:pPr>
            <a:r>
              <a:rPr sz="2250" b="1">
                <a:solidFill>
                  <a:srgbClr val="101114"/>
                </a:solidFill>
                <a:latin typeface="Arial"/>
                <a:ea typeface="Arial"/>
                <a:cs typeface="Arial"/>
              </a:rPr>
              <a:t>HY3</a:t>
            </a:r>
          </a:p>
        </p:txBody>
      </p:sp>
      <p:sp>
        <p:nvSpPr>
          <p:cNvPr id="17" name="workflow-expert-2">
            <a:extLst>
              <a:ext uri="{FF2B5EF4-FFF2-40B4-BE49-F238E27FC236}">
                <a16:creationId xmlns:a16="http://schemas.microsoft.com/office/drawing/2014/main" id="{A44C5032-3DF0-459B-9A0E-8CCDDE04AC17}"/>
              </a:ext>
            </a:extLst>
          </p:cNvPr>
          <p:cNvSpPr>
            <a:spLocks noGrp="1"/>
          </p:cNvSpPr>
          <p:nvPr/>
        </p:nvSpPr>
        <p:spPr>
          <a:xfrm>
            <a:off x="8001000" y="2857500"/>
            <a:ext cx="2762250" cy="514350"/>
          </a:xfrm>
          <a:prstGeom prst="rect">
            <a:avLst/>
          </a:prstGeom>
          <a:noFill/>
          <a:ln w="0">
            <a:noFill/>
            <a:prstDash val="solid"/>
          </a:ln>
        </p:spPr>
        <p:txBody>
          <a:bodyPr wrap="square" lIns="0" tIns="0" rIns="0" bIns="0" anchor="t">
            <a:normAutofit/>
          </a:bodyPr>
          <a:lstStyle/>
          <a:p>
            <a:pPr algn="l">
              <a:defRPr sz="1125" b="1">
                <a:solidFill>
                  <a:srgbClr val="60656F"/>
                </a:solidFill>
                <a:latin typeface="Arial"/>
                <a:ea typeface="Arial"/>
                <a:cs typeface="Arial"/>
              </a:defRPr>
            </a:pPr>
            <a:r>
              <a:rPr sz="1125" b="1">
                <a:solidFill>
                  <a:srgbClr val="60656F"/>
                </a:solidFill>
                <a:latin typeface="Arial"/>
                <a:ea typeface="Arial"/>
                <a:cs typeface="Arial"/>
              </a:rPr>
              <a:t>SOFTWARE WORKSHOP</a:t>
            </a:r>
          </a:p>
        </p:txBody>
      </p:sp>
      <p:sp>
        <p:nvSpPr>
          <p:cNvPr id="18" name="workflow-dot-2">
            <a:extLst>
              <a:ext uri="{FF2B5EF4-FFF2-40B4-BE49-F238E27FC236}">
                <a16:creationId xmlns:a16="http://schemas.microsoft.com/office/drawing/2014/main" id="{957336D3-0517-4589-95B1-EBD80E4E0F5E}"/>
              </a:ext>
            </a:extLst>
          </p:cNvPr>
          <p:cNvSpPr>
            <a:spLocks noGrp="1"/>
          </p:cNvSpPr>
          <p:nvPr/>
        </p:nvSpPr>
        <p:spPr>
          <a:xfrm>
            <a:off x="7934325" y="3143250"/>
            <a:ext cx="152400" cy="152400"/>
          </a:xfrm>
          <a:prstGeom prst="rect">
            <a:avLst/>
          </a:prstGeom>
          <a:solidFill>
            <a:srgbClr val="101114"/>
          </a:solidFill>
          <a:ln w="0">
            <a:noFill/>
            <a:prstDash val="solid"/>
          </a:ln>
        </p:spPr>
        <p:txBody>
          <a:bodyPr/>
          <a:lstStyle/>
          <a:p>
            <a:endParaRPr lang="en-US"/>
          </a:p>
        </p:txBody>
      </p:sp>
      <p:sp>
        <p:nvSpPr>
          <p:cNvPr id="19" name="workflow-body-2">
            <a:extLst>
              <a:ext uri="{FF2B5EF4-FFF2-40B4-BE49-F238E27FC236}">
                <a16:creationId xmlns:a16="http://schemas.microsoft.com/office/drawing/2014/main" id="{E11B976A-587C-46F9-8215-82020B092E4B}"/>
              </a:ext>
            </a:extLst>
          </p:cNvPr>
          <p:cNvSpPr>
            <a:spLocks noGrp="1"/>
          </p:cNvSpPr>
          <p:nvPr/>
        </p:nvSpPr>
        <p:spPr>
          <a:xfrm>
            <a:off x="8001000" y="3714750"/>
            <a:ext cx="2857500" cy="1047750"/>
          </a:xfrm>
          <a:prstGeom prst="rect">
            <a:avLst/>
          </a:prstGeom>
          <a:noFill/>
          <a:ln w="0">
            <a:noFill/>
            <a:prstDash val="solid"/>
          </a:ln>
        </p:spPr>
        <p:txBody>
          <a:bodyPr wrap="square" lIns="0" tIns="0" rIns="0" bIns="0" anchor="t">
            <a:normAutofit/>
          </a:bodyPr>
          <a:lstStyle/>
          <a:p>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Implement selected changes</a:t>
            </a:r>
          </a:p>
          <a:p>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Rebuild + verify on OnePlus</a:t>
            </a:r>
          </a:p>
        </p:txBody>
      </p:sp>
      <p:sp>
        <p:nvSpPr>
          <p:cNvPr id="20" name="workflow-summary">
            <a:extLst>
              <a:ext uri="{FF2B5EF4-FFF2-40B4-BE49-F238E27FC236}">
                <a16:creationId xmlns:a16="http://schemas.microsoft.com/office/drawing/2014/main" id="{FFDEFBE5-1B05-436E-A107-0B863356251B}"/>
              </a:ext>
            </a:extLst>
          </p:cNvPr>
          <p:cNvSpPr>
            <a:spLocks noGrp="1"/>
          </p:cNvSpPr>
          <p:nvPr/>
        </p:nvSpPr>
        <p:spPr>
          <a:xfrm>
            <a:off x="952500" y="5410200"/>
            <a:ext cx="10287000" cy="666750"/>
          </a:xfrm>
          <a:prstGeom prst="roundRect">
            <a:avLst>
              <a:gd name="adj" fmla="val 11429"/>
            </a:avLst>
          </a:prstGeom>
          <a:solidFill>
            <a:srgbClr val="0A2D55"/>
          </a:solidFill>
          <a:ln w="0">
            <a:noFill/>
            <a:prstDash val="solid"/>
          </a:ln>
        </p:spPr>
        <p:txBody>
          <a:bodyPr/>
          <a:lstStyle/>
          <a:p>
            <a:endParaRPr lang="en-US"/>
          </a:p>
        </p:txBody>
      </p:sp>
      <p:sp>
        <p:nvSpPr>
          <p:cNvPr id="21" name="workflow-summary-text">
            <a:extLst>
              <a:ext uri="{FF2B5EF4-FFF2-40B4-BE49-F238E27FC236}">
                <a16:creationId xmlns:a16="http://schemas.microsoft.com/office/drawing/2014/main" id="{69A131BA-93D8-4244-ACA6-47AB0A115EC5}"/>
              </a:ext>
            </a:extLst>
          </p:cNvPr>
          <p:cNvSpPr>
            <a:spLocks noGrp="1"/>
          </p:cNvSpPr>
          <p:nvPr/>
        </p:nvSpPr>
        <p:spPr>
          <a:xfrm>
            <a:off x="1238250" y="5629275"/>
            <a:ext cx="9715500" cy="285750"/>
          </a:xfrm>
          <a:prstGeom prst="rect">
            <a:avLst/>
          </a:prstGeom>
          <a:noFill/>
          <a:ln w="0">
            <a:noFill/>
            <a:prstDash val="solid"/>
          </a:ln>
        </p:spPr>
        <p:txBody>
          <a:bodyPr wrap="square" lIns="0" tIns="0" rIns="0" bIns="0" anchor="t">
            <a:normAutofit/>
          </a:bodyP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INVESTIGATE  →  CHALLENGE  →  IMPLEMENT  →  VERIFY</a:t>
            </a:r>
          </a:p>
        </p:txBody>
      </p:sp>
      <p:sp>
        <p:nvSpPr>
          <p:cNvPr id="22" name="footer-rule-5">
            <a:extLst>
              <a:ext uri="{FF2B5EF4-FFF2-40B4-BE49-F238E27FC236}">
                <a16:creationId xmlns:a16="http://schemas.microsoft.com/office/drawing/2014/main" id="{9CADBF3A-5F06-4EE8-91B9-FB8B8AC33872}"/>
              </a:ext>
            </a:extLst>
          </p:cNvPr>
          <p:cNvSpPr>
            <a:spLocks noGrp="1"/>
          </p:cNvSpPr>
          <p:nvPr/>
        </p:nvSpPr>
        <p:spPr>
          <a:xfrm>
            <a:off x="609600" y="6486525"/>
            <a:ext cx="10972800" cy="9525"/>
          </a:xfrm>
          <a:prstGeom prst="rect">
            <a:avLst/>
          </a:prstGeom>
          <a:solidFill>
            <a:srgbClr val="B8BCC4"/>
          </a:solidFill>
          <a:ln w="0">
            <a:noFill/>
            <a:prstDash val="solid"/>
          </a:ln>
        </p:spPr>
        <p:txBody>
          <a:bodyPr/>
          <a:lstStyle/>
          <a:p>
            <a:endParaRPr lang="en-US"/>
          </a:p>
        </p:txBody>
      </p:sp>
      <p:sp>
        <p:nvSpPr>
          <p:cNvPr id="23" name="footer-left-5">
            <a:extLst>
              <a:ext uri="{FF2B5EF4-FFF2-40B4-BE49-F238E27FC236}">
                <a16:creationId xmlns:a16="http://schemas.microsoft.com/office/drawing/2014/main" id="{3EBE9A19-2E9D-4F58-BEE0-93FC5E6B5552}"/>
              </a:ext>
            </a:extLst>
          </p:cNvPr>
          <p:cNvSpPr>
            <a:spLocks noGrp="1"/>
          </p:cNvSpPr>
          <p:nvPr/>
        </p:nvSpPr>
        <p:spPr>
          <a:xfrm>
            <a:off x="609600" y="6572250"/>
            <a:ext cx="4953000" cy="171450"/>
          </a:xfrm>
          <a:prstGeom prst="rect">
            <a:avLst/>
          </a:prstGeom>
          <a:noFill/>
          <a:ln w="0">
            <a:noFill/>
            <a:prstDash val="solid"/>
          </a:ln>
        </p:spPr>
        <p:txBody>
          <a:bodyPr wrap="square" lIns="0" tIns="0" rIns="0" bIns="0" anchor="t">
            <a:normAutofit/>
          </a:bodyPr>
          <a:lstStyle/>
          <a:p>
            <a:pPr algn="l">
              <a:defRPr sz="900" b="1">
                <a:solidFill>
                  <a:srgbClr val="60656F"/>
                </a:solidFill>
                <a:latin typeface="Arial"/>
                <a:ea typeface="Arial"/>
                <a:cs typeface="Arial"/>
              </a:defRPr>
            </a:pPr>
            <a:r>
              <a:rPr sz="900" b="1">
                <a:solidFill>
                  <a:srgbClr val="60656F"/>
                </a:solidFill>
                <a:latin typeface="Arial"/>
                <a:ea typeface="Arial"/>
                <a:cs typeface="Arial"/>
              </a:rPr>
              <a:t>PHOTO HELPER · FIVECENT</a:t>
            </a:r>
          </a:p>
        </p:txBody>
      </p:sp>
      <p:sp>
        <p:nvSpPr>
          <p:cNvPr id="24" name="footer-number-5">
            <a:extLst>
              <a:ext uri="{FF2B5EF4-FFF2-40B4-BE49-F238E27FC236}">
                <a16:creationId xmlns:a16="http://schemas.microsoft.com/office/drawing/2014/main" id="{DD2B13BC-19B5-4298-A10B-73C1B95B5270}"/>
              </a:ext>
            </a:extLst>
          </p:cNvPr>
          <p:cNvSpPr>
            <a:spLocks noGrp="1"/>
          </p:cNvSpPr>
          <p:nvPr/>
        </p:nvSpPr>
        <p:spPr>
          <a:xfrm>
            <a:off x="11144250" y="6562725"/>
            <a:ext cx="438150" cy="171450"/>
          </a:xfrm>
          <a:prstGeom prst="rect">
            <a:avLst/>
          </a:prstGeom>
          <a:noFill/>
          <a:ln w="0">
            <a:noFill/>
            <a:prstDash val="solid"/>
          </a:ln>
        </p:spPr>
        <p:txBody>
          <a:bodyPr wrap="square" lIns="0" tIns="0" rIns="0" bIns="0" anchor="t">
            <a:normAutofit/>
          </a:bodyPr>
          <a:lstStyle/>
          <a:p>
            <a:pPr algn="r">
              <a:defRPr sz="900" b="1">
                <a:solidFill>
                  <a:srgbClr val="60656F"/>
                </a:solidFill>
                <a:latin typeface="Arial"/>
                <a:ea typeface="Arial"/>
                <a:cs typeface="Arial"/>
              </a:defRPr>
            </a:pPr>
            <a:r>
              <a:rPr sz="900" b="1">
                <a:solidFill>
                  <a:srgbClr val="60656F"/>
                </a:solidFill>
                <a:latin typeface="Arial"/>
                <a:ea typeface="Arial"/>
                <a:cs typeface="Arial"/>
              </a:rPr>
              <a:t>05</a:t>
            </a:r>
          </a:p>
        </p:txBody>
      </p:sp>
    </p:spTree>
    <p:extLst>
      <p:ext uri="{BB962C8B-B14F-4D97-AF65-F5344CB8AC3E}">
        <p14:creationId xmlns:p14="http://schemas.microsoft.com/office/powerpoint/2010/main" val="1243962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future-eyebrow">
            <a:extLst>
              <a:ext uri="{FF2B5EF4-FFF2-40B4-BE49-F238E27FC236}">
                <a16:creationId xmlns:a16="http://schemas.microsoft.com/office/drawing/2014/main" id="{7238178D-E4FD-4EF8-8A3F-78E46AD59820}"/>
              </a:ext>
            </a:extLst>
          </p:cNvPr>
          <p:cNvSpPr>
            <a:spLocks noGrp="1"/>
          </p:cNvSpPr>
          <p:nvPr/>
        </p:nvSpPr>
        <p:spPr>
          <a:xfrm>
            <a:off x="609600" y="457200"/>
            <a:ext cx="2095500" cy="28575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FUTURE</a:t>
            </a:r>
          </a:p>
        </p:txBody>
      </p:sp>
      <p:sp>
        <p:nvSpPr>
          <p:cNvPr id="2" name="future-title">
            <a:extLst>
              <a:ext uri="{FF2B5EF4-FFF2-40B4-BE49-F238E27FC236}">
                <a16:creationId xmlns:a16="http://schemas.microsoft.com/office/drawing/2014/main" id="{6D884D9C-301C-43AD-A1E8-35D6D3C3ECB2}"/>
              </a:ext>
            </a:extLst>
          </p:cNvPr>
          <p:cNvSpPr>
            <a:spLocks noGrp="1"/>
          </p:cNvSpPr>
          <p:nvPr/>
        </p:nvSpPr>
        <p:spPr>
          <a:xfrm>
            <a:off x="609600" y="1476375"/>
            <a:ext cx="10668000" cy="1047750"/>
          </a:xfrm>
          <a:prstGeom prst="rect">
            <a:avLst/>
          </a:prstGeom>
          <a:noFill/>
          <a:ln w="0">
            <a:noFill/>
            <a:prstDash val="solid"/>
          </a:ln>
        </p:spPr>
        <p:txBody>
          <a:bodyPr wrap="square" lIns="0" tIns="0" rIns="0" bIns="0" anchor="t">
            <a:normAutofit/>
          </a:bodyPr>
          <a:lstStyle/>
          <a:p>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Three gaps. One more capable camera.</a:t>
            </a:r>
          </a:p>
        </p:txBody>
      </p:sp>
      <p:sp>
        <p:nvSpPr>
          <p:cNvPr id="3" name="future-key-0">
            <a:extLst>
              <a:ext uri="{FF2B5EF4-FFF2-40B4-BE49-F238E27FC236}">
                <a16:creationId xmlns:a16="http://schemas.microsoft.com/office/drawing/2014/main" id="{5ACE5DD9-BB01-43C2-A090-298BBF621FB2}"/>
              </a:ext>
            </a:extLst>
          </p:cNvPr>
          <p:cNvSpPr>
            <a:spLocks noGrp="1"/>
          </p:cNvSpPr>
          <p:nvPr/>
        </p:nvSpPr>
        <p:spPr>
          <a:xfrm>
            <a:off x="609600" y="4238625"/>
            <a:ext cx="1428750" cy="247650"/>
          </a:xfrm>
          <a:prstGeom prst="rect">
            <a:avLst/>
          </a:prstGeom>
          <a:noFill/>
          <a:ln w="0">
            <a:noFill/>
            <a:prstDash val="solid"/>
          </a:ln>
        </p:spPr>
        <p:txBody>
          <a:bodyPr wrap="square" lIns="0" tIns="0" rIns="0" bIns="0" anchor="t">
            <a:norm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FOCUS</a:t>
            </a:r>
          </a:p>
        </p:txBody>
      </p:sp>
      <p:sp>
        <p:nvSpPr>
          <p:cNvPr id="4" name="future-value-0">
            <a:extLst>
              <a:ext uri="{FF2B5EF4-FFF2-40B4-BE49-F238E27FC236}">
                <a16:creationId xmlns:a16="http://schemas.microsoft.com/office/drawing/2014/main" id="{6E33807E-EC82-4422-A87A-24FDE6C9026C}"/>
              </a:ext>
            </a:extLst>
          </p:cNvPr>
          <p:cNvSpPr>
            <a:spLocks noGrp="1"/>
          </p:cNvSpPr>
          <p:nvPr/>
        </p:nvSpPr>
        <p:spPr>
          <a:xfrm>
            <a:off x="2238375" y="4219575"/>
            <a:ext cx="6667500" cy="323850"/>
          </a:xfrm>
          <a:prstGeom prst="rect">
            <a:avLst/>
          </a:prstGeom>
          <a:noFill/>
          <a:ln w="0">
            <a:noFill/>
            <a:prstDash val="solid"/>
          </a:ln>
        </p:spPr>
        <p:txBody>
          <a:bodyPr wrap="square" lIns="0" tIns="0" rIns="0" bIns="0" anchor="t">
            <a:normAutofit/>
          </a:bodyPr>
          <a:lstStyle/>
          <a:p>
            <a:pPr algn="l">
              <a:defRPr sz="1575" b="0">
                <a:solidFill>
                  <a:srgbClr val="101114"/>
                </a:solidFill>
                <a:latin typeface="Arial"/>
                <a:ea typeface="Arial"/>
                <a:cs typeface="Arial"/>
              </a:defRPr>
            </a:pPr>
            <a:r>
              <a:rPr sz="1575" b="0">
                <a:solidFill>
                  <a:srgbClr val="101114"/>
                </a:solidFill>
                <a:latin typeface="Arial"/>
                <a:ea typeface="Arial"/>
                <a:cs typeface="Arial"/>
              </a:rPr>
              <a:t>Object masks replace coarse grid cells</a:t>
            </a:r>
          </a:p>
        </p:txBody>
      </p:sp>
      <p:sp>
        <p:nvSpPr>
          <p:cNvPr id="5" name="future-key-1">
            <a:extLst>
              <a:ext uri="{FF2B5EF4-FFF2-40B4-BE49-F238E27FC236}">
                <a16:creationId xmlns:a16="http://schemas.microsoft.com/office/drawing/2014/main" id="{AAFC6C89-6582-40FC-9835-0F1AFC161FA1}"/>
              </a:ext>
            </a:extLst>
          </p:cNvPr>
          <p:cNvSpPr>
            <a:spLocks noGrp="1"/>
          </p:cNvSpPr>
          <p:nvPr/>
        </p:nvSpPr>
        <p:spPr>
          <a:xfrm>
            <a:off x="609600" y="4772025"/>
            <a:ext cx="1428750" cy="247650"/>
          </a:xfrm>
          <a:prstGeom prst="rect">
            <a:avLst/>
          </a:prstGeom>
          <a:noFill/>
          <a:ln w="0">
            <a:noFill/>
            <a:prstDash val="solid"/>
          </a:ln>
        </p:spPr>
        <p:txBody>
          <a:bodyPr wrap="square" lIns="0" tIns="0" rIns="0" bIns="0" anchor="t">
            <a:norm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SPEED</a:t>
            </a:r>
          </a:p>
        </p:txBody>
      </p:sp>
      <p:sp>
        <p:nvSpPr>
          <p:cNvPr id="6" name="future-value-1">
            <a:extLst>
              <a:ext uri="{FF2B5EF4-FFF2-40B4-BE49-F238E27FC236}">
                <a16:creationId xmlns:a16="http://schemas.microsoft.com/office/drawing/2014/main" id="{9470090D-4B2F-44D8-9602-11F75A007D08}"/>
              </a:ext>
            </a:extLst>
          </p:cNvPr>
          <p:cNvSpPr>
            <a:spLocks noGrp="1"/>
          </p:cNvSpPr>
          <p:nvPr/>
        </p:nvSpPr>
        <p:spPr>
          <a:xfrm>
            <a:off x="2238375" y="4752975"/>
            <a:ext cx="6667500" cy="323850"/>
          </a:xfrm>
          <a:prstGeom prst="rect">
            <a:avLst/>
          </a:prstGeom>
          <a:noFill/>
          <a:ln w="0">
            <a:noFill/>
            <a:prstDash val="solid"/>
          </a:ln>
        </p:spPr>
        <p:txBody>
          <a:bodyPr wrap="square" lIns="0" tIns="0" rIns="0" bIns="0" anchor="t">
            <a:normAutofit/>
          </a:bodyPr>
          <a:lstStyle/>
          <a:p>
            <a:pPr algn="l">
              <a:defRPr sz="1575" b="0">
                <a:solidFill>
                  <a:srgbClr val="101114"/>
                </a:solidFill>
                <a:latin typeface="Arial"/>
                <a:ea typeface="Arial"/>
                <a:cs typeface="Arial"/>
              </a:defRPr>
            </a:pPr>
            <a:r>
              <a:rPr sz="1575" b="0">
                <a:solidFill>
                  <a:srgbClr val="101114"/>
                </a:solidFill>
                <a:latin typeface="Arial"/>
                <a:ea typeface="Arial"/>
                <a:cs typeface="Arial"/>
              </a:rPr>
              <a:t>On-device commands + fast vision on Cerebras</a:t>
            </a:r>
          </a:p>
        </p:txBody>
      </p:sp>
      <p:sp>
        <p:nvSpPr>
          <p:cNvPr id="7" name="future-key-2">
            <a:extLst>
              <a:ext uri="{FF2B5EF4-FFF2-40B4-BE49-F238E27FC236}">
                <a16:creationId xmlns:a16="http://schemas.microsoft.com/office/drawing/2014/main" id="{66B3810C-5DBA-45E5-8C33-49C9737BF1CD}"/>
              </a:ext>
            </a:extLst>
          </p:cNvPr>
          <p:cNvSpPr>
            <a:spLocks noGrp="1"/>
          </p:cNvSpPr>
          <p:nvPr/>
        </p:nvSpPr>
        <p:spPr>
          <a:xfrm>
            <a:off x="609600" y="5305425"/>
            <a:ext cx="1428750" cy="247650"/>
          </a:xfrm>
          <a:prstGeom prst="rect">
            <a:avLst/>
          </a:prstGeom>
          <a:noFill/>
          <a:ln w="0">
            <a:noFill/>
            <a:prstDash val="solid"/>
          </a:ln>
        </p:spPr>
        <p:txBody>
          <a:bodyPr wrap="square" lIns="0" tIns="0" rIns="0" bIns="0" anchor="t">
            <a:norm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AESTHETICS</a:t>
            </a:r>
          </a:p>
        </p:txBody>
      </p:sp>
      <p:sp>
        <p:nvSpPr>
          <p:cNvPr id="8" name="future-value-2">
            <a:extLst>
              <a:ext uri="{FF2B5EF4-FFF2-40B4-BE49-F238E27FC236}">
                <a16:creationId xmlns:a16="http://schemas.microsoft.com/office/drawing/2014/main" id="{60F4E5AD-46B7-40BF-8D70-A41B599DC441}"/>
              </a:ext>
            </a:extLst>
          </p:cNvPr>
          <p:cNvSpPr>
            <a:spLocks noGrp="1"/>
          </p:cNvSpPr>
          <p:nvPr/>
        </p:nvSpPr>
        <p:spPr>
          <a:xfrm>
            <a:off x="2238375" y="5286375"/>
            <a:ext cx="6667500" cy="323850"/>
          </a:xfrm>
          <a:prstGeom prst="rect">
            <a:avLst/>
          </a:prstGeom>
          <a:noFill/>
          <a:ln w="0">
            <a:noFill/>
            <a:prstDash val="solid"/>
          </a:ln>
        </p:spPr>
        <p:txBody>
          <a:bodyPr wrap="square" lIns="0" tIns="0" rIns="0" bIns="0" anchor="t">
            <a:normAutofit/>
          </a:bodyPr>
          <a:lstStyle/>
          <a:p>
            <a:pPr algn="l">
              <a:defRPr sz="1575" b="0">
                <a:solidFill>
                  <a:srgbClr val="101114"/>
                </a:solidFill>
                <a:latin typeface="Arial"/>
                <a:ea typeface="Arial"/>
                <a:cs typeface="Arial"/>
              </a:defRPr>
            </a:pPr>
            <a:r>
              <a:rPr sz="1575" b="0">
                <a:solidFill>
                  <a:srgbClr val="101114"/>
                </a:solidFill>
                <a:latin typeface="Arial"/>
                <a:ea typeface="Arial"/>
                <a:cs typeface="Arial"/>
              </a:rPr>
              <a:t>Rapid variants → user choice → learned preferences</a:t>
            </a:r>
          </a:p>
        </p:txBody>
      </p:sp>
      <p:sp>
        <p:nvSpPr>
          <p:cNvPr id="9" name="future-accent">
            <a:extLst>
              <a:ext uri="{FF2B5EF4-FFF2-40B4-BE49-F238E27FC236}">
                <a16:creationId xmlns:a16="http://schemas.microsoft.com/office/drawing/2014/main" id="{4F5672A2-24B7-4D97-BD10-8086E43FE7BE}"/>
              </a:ext>
            </a:extLst>
          </p:cNvPr>
          <p:cNvSpPr>
            <a:spLocks noGrp="1"/>
          </p:cNvSpPr>
          <p:nvPr/>
        </p:nvSpPr>
        <p:spPr>
          <a:xfrm>
            <a:off x="9525000" y="4267200"/>
            <a:ext cx="76200" cy="1504950"/>
          </a:xfrm>
          <a:prstGeom prst="rect">
            <a:avLst/>
          </a:prstGeom>
          <a:solidFill>
            <a:srgbClr val="3D8DFF"/>
          </a:solidFill>
          <a:ln w="0">
            <a:noFill/>
            <a:prstDash val="solid"/>
          </a:ln>
        </p:spPr>
        <p:txBody>
          <a:bodyPr/>
          <a:lstStyle/>
          <a:p>
            <a:endParaRPr lang="en-US"/>
          </a:p>
        </p:txBody>
      </p:sp>
      <p:sp>
        <p:nvSpPr>
          <p:cNvPr id="10" name="future-tagline">
            <a:extLst>
              <a:ext uri="{FF2B5EF4-FFF2-40B4-BE49-F238E27FC236}">
                <a16:creationId xmlns:a16="http://schemas.microsoft.com/office/drawing/2014/main" id="{5DFFB914-2825-4385-9CC5-6E522D055DD7}"/>
              </a:ext>
            </a:extLst>
          </p:cNvPr>
          <p:cNvSpPr>
            <a:spLocks noGrp="1"/>
          </p:cNvSpPr>
          <p:nvPr/>
        </p:nvSpPr>
        <p:spPr>
          <a:xfrm>
            <a:off x="9810750" y="4210050"/>
            <a:ext cx="1809750" cy="1619250"/>
          </a:xfrm>
          <a:prstGeom prst="rect">
            <a:avLst/>
          </a:prstGeom>
          <a:noFill/>
          <a:ln w="0">
            <a:noFill/>
            <a:prstDash val="solid"/>
          </a:ln>
        </p:spPr>
        <p:txBody>
          <a:bodyPr wrap="square" lIns="0" tIns="0" rIns="0" bIns="0" anchor="ctr">
            <a:normAutofit/>
          </a:bodyPr>
          <a:lstStyle/>
          <a:p>
            <a:pPr algn="l">
              <a:defRPr sz="1875" b="1">
                <a:solidFill>
                  <a:srgbClr val="0A2D55"/>
                </a:solidFill>
                <a:latin typeface="Arial"/>
                <a:ea typeface="Arial"/>
                <a:cs typeface="Arial"/>
              </a:defRPr>
            </a:pPr>
            <a:r>
              <a:rPr sz="1875" b="1">
                <a:solidFill>
                  <a:srgbClr val="0A2D55"/>
                </a:solidFill>
                <a:latin typeface="Arial"/>
                <a:ea typeface="Arial"/>
                <a:cs typeface="Arial"/>
              </a:rPr>
              <a:t>PRECISE.</a:t>
            </a:r>
          </a:p>
          <a:p>
            <a:pPr algn="l">
              <a:defRPr sz="1875" b="1">
                <a:solidFill>
                  <a:srgbClr val="0A2D55"/>
                </a:solidFill>
                <a:latin typeface="Arial"/>
                <a:ea typeface="Arial"/>
                <a:cs typeface="Arial"/>
              </a:defRPr>
            </a:pPr>
            <a:r>
              <a:rPr sz="1875" b="1">
                <a:solidFill>
                  <a:srgbClr val="0A2D55"/>
                </a:solidFill>
                <a:latin typeface="Arial"/>
                <a:ea typeface="Arial"/>
                <a:cs typeface="Arial"/>
              </a:rPr>
              <a:t>RESPONSIVE.</a:t>
            </a:r>
          </a:p>
          <a:p>
            <a:pPr algn="l">
              <a:defRPr sz="1875" b="1">
                <a:solidFill>
                  <a:srgbClr val="0A2D55"/>
                </a:solidFill>
                <a:latin typeface="Arial"/>
                <a:ea typeface="Arial"/>
                <a:cs typeface="Arial"/>
              </a:defRPr>
            </a:pPr>
            <a:r>
              <a:rPr sz="1875" b="1">
                <a:solidFill>
                  <a:srgbClr val="0A2D55"/>
                </a:solidFill>
                <a:latin typeface="Arial"/>
                <a:ea typeface="Arial"/>
                <a:cs typeface="Arial"/>
              </a:rPr>
              <a:t>PERSONAL.</a:t>
            </a:r>
          </a:p>
        </p:txBody>
      </p:sp>
      <p:sp>
        <p:nvSpPr>
          <p:cNvPr id="11" name="future-team">
            <a:extLst>
              <a:ext uri="{FF2B5EF4-FFF2-40B4-BE49-F238E27FC236}">
                <a16:creationId xmlns:a16="http://schemas.microsoft.com/office/drawing/2014/main" id="{42ADAEF0-0E5F-487E-9CFF-FBDD5A3EE3A4}"/>
              </a:ext>
            </a:extLst>
          </p:cNvPr>
          <p:cNvSpPr>
            <a:spLocks noGrp="1"/>
          </p:cNvSpPr>
          <p:nvPr/>
        </p:nvSpPr>
        <p:spPr>
          <a:xfrm>
            <a:off x="609600" y="6362700"/>
            <a:ext cx="3810000" cy="209550"/>
          </a:xfrm>
          <a:prstGeom prst="rect">
            <a:avLst/>
          </a:prstGeom>
          <a:noFill/>
          <a:ln w="0">
            <a:noFill/>
            <a:prstDash val="solid"/>
          </a:ln>
        </p:spPr>
        <p:txBody>
          <a:bodyPr wrap="square" lIns="0" tIns="0" rIns="0" bIns="0" anchor="t">
            <a:normAutofit/>
          </a:bodyPr>
          <a:lstStyle/>
          <a:p>
            <a:pPr algn="l">
              <a:defRPr sz="900" b="1">
                <a:solidFill>
                  <a:srgbClr val="60656F"/>
                </a:solidFill>
                <a:latin typeface="Arial"/>
                <a:ea typeface="Arial"/>
                <a:cs typeface="Arial"/>
              </a:defRPr>
            </a:pPr>
            <a:r>
              <a:rPr sz="900" b="1">
                <a:solidFill>
                  <a:srgbClr val="60656F"/>
                </a:solidFill>
                <a:latin typeface="Arial"/>
                <a:ea typeface="Arial"/>
                <a:cs typeface="Arial"/>
              </a:rPr>
              <a:t>FIVECENT · PHOTO HELPER</a:t>
            </a:r>
          </a:p>
        </p:txBody>
      </p:sp>
    </p:spTree>
    <p:extLst>
      <p:ext uri="{BB962C8B-B14F-4D97-AF65-F5344CB8AC3E}">
        <p14:creationId xmlns:p14="http://schemas.microsoft.com/office/powerpoint/2010/main" val="116114660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1203</Words>
  <Application>Microsoft Office PowerPoint</Application>
  <DocSecurity>0</DocSecurity>
  <PresentationFormat>Widescreen</PresentationFormat>
  <Paragraphs>134</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LBL</cp:lastModifiedBy>
  <cp:revision>1</cp:revision>
  <dcterms:created xsi:type="dcterms:W3CDTF">2026-08-22T09:16:53Z</dcterms:created>
  <dcterms:modified xsi:type="dcterms:W3CDTF">2026-08-22T09:51:50Z</dcterms:modified>
</cp:coreProperties>
</file>