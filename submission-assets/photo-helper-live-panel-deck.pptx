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e4b4e43a434edc" /><Relationship Type="http://schemas.openxmlformats.org/officeDocument/2006/relationships/extended-properties" Target="/docProps/app.xml" Id="R4d5c8d956cd547d4" /><Relationship Type="http://schemas.openxmlformats.org/officeDocument/2006/relationships/officeDocument" Target="/ppt/presentation.xml" Id="R7b9c44ca113840d6" /></Relationships>
</file>

<file path=ppt/presentation.xml><?xml version="1.0" encoding="utf-8"?>
<p:presentation xmlns:p="http://schemas.openxmlformats.org/presentationml/2006/main">
  <p:sldMasterIdLst>
    <p:sldMasterId xmlns:r="http://schemas.openxmlformats.org/officeDocument/2006/relationships" id="2147483648" r:id="Re2031c9dd6a74d70"/>
  </p:sldMasterIdLst>
  <p:notesMasterIdLst>
    <p:notesMasterId xmlns:r="http://schemas.openxmlformats.org/officeDocument/2006/relationships" r:id="Ra682cbfcea5942cc"/>
  </p:notesMasterIdLst>
  <p:sldIdLst>
    <p:sldId xmlns:r="http://schemas.openxmlformats.org/officeDocument/2006/relationships" id="256" r:id="Ree53c30507c24c66"/>
    <p:sldId xmlns:r="http://schemas.openxmlformats.org/officeDocument/2006/relationships" id="257" r:id="R3052209a053341fb"/>
    <p:sldId xmlns:r="http://schemas.openxmlformats.org/officeDocument/2006/relationships" id="258" r:id="R7b17bfdf4bc54108"/>
    <p:sldId xmlns:r="http://schemas.openxmlformats.org/officeDocument/2006/relationships" id="259" r:id="Rd7044f65be124346"/>
    <p:sldId xmlns:r="http://schemas.openxmlformats.org/officeDocument/2006/relationships" id="260" r:id="Rc2b6e905eaf14b42"/>
    <p:sldId xmlns:r="http://schemas.openxmlformats.org/officeDocument/2006/relationships" id="261" r:id="R979db76c8c1441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978989bd1e4fbb" /><Relationship Type="http://schemas.openxmlformats.org/officeDocument/2006/relationships/slideMaster" Target="/ppt/slideMasters/slideMaster1.xml" Id="Re2031c9dd6a74d70" /><Relationship Type="http://schemas.openxmlformats.org/officeDocument/2006/relationships/notesMaster" Target="/ppt/notesMasters/notesMaster1.xml" Id="Ra682cbfcea5942cc" /><Relationship Type="http://schemas.openxmlformats.org/officeDocument/2006/relationships/presProps" Target="/ppt/presProps.xml" Id="R549f16089a4d40df" /><Relationship Type="http://schemas.openxmlformats.org/officeDocument/2006/relationships/tableStyles" Target="/ppt/tableStyles.xml" Id="Rb176e2b102ad4912" /><Relationship Type="http://schemas.openxmlformats.org/officeDocument/2006/relationships/slide" Target="/ppt/slides/slide1.xml" Id="Ree53c30507c24c66" /><Relationship Type="http://schemas.openxmlformats.org/officeDocument/2006/relationships/slide" Target="/ppt/slides/slide2.xml" Id="R3052209a053341fb" /><Relationship Type="http://schemas.openxmlformats.org/officeDocument/2006/relationships/slide" Target="/ppt/slides/slide3.xml" Id="R7b17bfdf4bc54108" /><Relationship Type="http://schemas.openxmlformats.org/officeDocument/2006/relationships/slide" Target="/ppt/slides/slide4.xml" Id="Rd7044f65be124346" /><Relationship Type="http://schemas.openxmlformats.org/officeDocument/2006/relationships/slide" Target="/ppt/slides/slide5.xml" Id="Rc2b6e905eaf14b42" /><Relationship Type="http://schemas.openxmlformats.org/officeDocument/2006/relationships/slide" Target="/ppt/slides/slide6.xml" Id="R979db76c8c14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06f7ecec4d4d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5201d6ca094d66" /><Relationship Type="http://schemas.openxmlformats.org/officeDocument/2006/relationships/notesMaster" Target="/ppt/notesMasters/notesMaster1.xml" Id="R87791db0e40745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43d9238a8e4e60" /><Relationship Type="http://schemas.openxmlformats.org/officeDocument/2006/relationships/notesMaster" Target="/ppt/notesMasters/notesMaster1.xml" Id="Ra47bb412943748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7990e3167241c3" /><Relationship Type="http://schemas.openxmlformats.org/officeDocument/2006/relationships/notesMaster" Target="/ppt/notesMasters/notesMaster1.xml" Id="R9a4bb0c346e04c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fabd6ba3642e0" /><Relationship Type="http://schemas.openxmlformats.org/officeDocument/2006/relationships/notesMaster" Target="/ppt/notesMasters/notesMaster1.xml" Id="R7f952e9ca7d44e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807174d01b418d" /><Relationship Type="http://schemas.openxmlformats.org/officeDocument/2006/relationships/notesMaster" Target="/ppt/notesMasters/notesMaster1.xml" Id="Rc270ed66b83d4b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80529efff944b1" /><Relationship Type="http://schemas.openxmlformats.org/officeDocument/2006/relationships/notesMaster" Target="/ppt/notesMasters/notesMaster1.xml" Id="Re6d7d6e9253c49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
            </a:r>
          </a:p>
          <a:p xmlns:a="http://schemas.openxmlformats.org/drawingml/2006/main">
            <a:r>
              <a:t>Say:</a:t>
            </a:r>
          </a:p>
          <a:p xmlns:a="http://schemas.openxmlformats.org/drawingml/2006/main">
            <a:r>
              <a:t>Good afternoon. We’re Team Fivecent—Lu Bolin, Ethan Yap, and Nathanael Leong—and we built Photo Helper.</a:t>
            </a:r>
          </a:p>
          <a:p xmlns:a="http://schemas.openxmlformats.org/drawingml/2006/main">
            <a:r>
              <a:t/>
            </a:r>
          </a:p>
          <a:p xmlns:a="http://schemas.openxmlformats.org/drawingml/2006/main">
            <a:r>
              <a:t>People usually know the result they want: a brighter image, focus on the right subject, or enough time to join the picture. The difficult part is translating that intention into camera controls.</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a:p xmlns:a="http://schemas.openxmlformats.org/drawingml/2006/main">
            <a:r>
              <a:t>- W:\Projects\CameraAgent\submission-assets\demo-day-screenshots\final-core-flow\01-voice-input.png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a:t>
            </a:r>
          </a:p>
          <a:p xmlns:a="http://schemas.openxmlformats.org/drawingml/2006/main">
            <a:r>
              <a:t/>
            </a:r>
          </a:p>
          <a:p xmlns:a="http://schemas.openxmlformats.org/drawingml/2006/main">
            <a:r>
              <a:t>Say:</a:t>
            </a:r>
          </a:p>
          <a:p xmlns:a="http://schemas.openxmlformats.org/drawingml/2006/main">
            <a:r>
              <a:t>Photo Helper is a voice-first camera agent designed for mobile phones; our current prototype runs natively on Android. The app captures speech on the phone, then combines the transcription with a reduced frame from the live scene and the camera’s current capabilities.</a:t>
            </a:r>
          </a:p>
          <a:p xmlns:a="http://schemas.openxmlformats.org/drawingml/2006/main">
            <a:r>
              <a:t/>
            </a:r>
          </a:p>
          <a:p xmlns:a="http://schemas.openxmlformats.org/drawingml/2006/main">
            <a:r>
              <a:t>Qwen turns those inputs into a small, ordered plan using supported actions such as brightness, zoom, white balance, focus, timer, and capture. Android remains the execution layer: it validates each step against the device, applies supported actions through the camera APIs, and preserves Reset whenever a change can be reversed.</a:t>
            </a:r>
          </a:p>
          <a:p xmlns:a="http://schemas.openxmlformats.org/drawingml/2006/main">
            <a:r>
              <a:t/>
            </a:r>
          </a:p>
          <a:p xmlns:a="http://schemas.openxmlformats.org/drawingml/2006/main">
            <a:r>
              <a:t>Users can state an exact outcome, or tap Smart Mode to make a one-step request: “Make this shot look nicer.” It uses the same bounded planning and validation path. Let me show you the result.</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a:p xmlns:a="http://schemas.openxmlformats.org/drawingml/2006/main">
            <a:r>
              <a:t>- W:/Projects/CameraAgent/README.md</a:t>
            </a:r>
          </a:p>
          <a:p xmlns:a="http://schemas.openxmlformats.org/drawingml/2006/main">
            <a:r>
              <a:t>- W:/Projects/CameraAgent/submission.md</a:t>
            </a:r>
          </a:p>
          <a:p xmlns:a="http://schemas.openxmlformats.org/drawingml/2006/main">
            <a:r>
              <a:t>- W:/Projects/CameraAgent/app/src/main/java/com/bolin/photohelper/voice/AndroidVoiceIo.kt</a:t>
            </a:r>
          </a:p>
          <a:p xmlns:a="http://schemas.openxmlformats.org/drawingml/2006/main">
            <a:r>
              <a:t>- W:/Projects/CameraAgent/app/src/main/java/com/bolin/photohelper/visual/CommandContracts.kt</a:t>
            </a:r>
          </a:p>
          <a:p xmlns:a="http://schemas.openxmlformats.org/drawingml/2006/main">
            <a:r>
              <a:t>- W:/Projects/CameraAgent/app/src/main/java/com/bolin/photohelper/capture/CameraXSession.kt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1:30–2:30</a:t>
            </a:r>
          </a:p>
          <a:p xmlns:a="http://schemas.openxmlformats.org/drawingml/2006/main">
            <a:r>
              <a:t/>
            </a:r>
          </a:p>
          <a:p xmlns:a="http://schemas.openxmlformats.org/drawingml/2006/main">
            <a:r>
              <a:t>Alt-tab to the prepared one-minute demo footage. Protect the recorded command and the final three countdown beats. Narrate only over processing or silent footage.</a:t>
            </a:r>
          </a:p>
          <a:p xmlns:a="http://schemas.openxmlformats.org/drawingml/2006/main">
            <a:r>
              <a:t/>
            </a:r>
          </a:p>
          <a:p xmlns:a="http://schemas.openxmlformats.org/drawingml/2006/main">
            <a:r>
              <a:t>Opening: This is the working prototype on a real phone. I am giving it one request that combines an adjustment, a visual focus target, and a timed capture.</a:t>
            </a:r>
          </a:p>
          <a:p xmlns:a="http://schemas.openxmlformats.org/drawingml/2006/main">
            <a:r>
              <a:t/>
            </a:r>
          </a:p>
          <a:p xmlns:a="http://schemas.openxmlformats.org/drawingml/2006/main">
            <a:r>
              <a:t>Recorded command: Make the picture brighter, focus on the panda, and take a photo in five seconds.</a:t>
            </a:r>
          </a:p>
          <a:p xmlns:a="http://schemas.openxmlformats.org/drawingml/2006/main">
            <a:r>
              <a:t/>
            </a:r>
          </a:p>
          <a:p xmlns:a="http://schemas.openxmlformats.org/drawingml/2006/main">
            <a:r>
              <a:t>During processing: The transcript, scene frame, and camera context produce the ordered plan you see here. Android validates each step, then executes the sequence: increase brightness, focus on the panda, run the countdown, and capture the photo.</a:t>
            </a:r>
          </a:p>
          <a:p xmlns:a="http://schemas.openxmlformats.org/drawingml/2006/main">
            <a:r>
              <a:t/>
            </a:r>
          </a:p>
          <a:p xmlns:a="http://schemas.openxmlformats.org/drawingml/2006/main">
            <a:r>
              <a:t>Closing: That entire flow came from one spoken request. The second clip shows Smart Mode using the same system when the user simply asks the camera to make the shot look nicer.</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2:30–3:10</a:t>
            </a:r>
          </a:p>
          <a:p xmlns:a="http://schemas.openxmlformats.org/drawingml/2006/main">
            <a:r>
              <a:t/>
            </a:r>
          </a:p>
          <a:p xmlns:a="http://schemas.openxmlformats.org/drawingml/2006/main">
            <a:r>
              <a:t>Say:</a:t>
            </a:r>
          </a:p>
          <a:p xmlns:a="http://schemas.openxmlformats.org/drawingml/2006/main">
            <a:r>
              <a:t>That is the user experience. I also want to explain how WorkBuddy helped us move from an end-to-end prototype to this polished flow.</a:t>
            </a:r>
          </a:p>
          <a:p xmlns:a="http://schemas.openxmlformats.org/drawingml/2006/main">
            <a:r>
              <a:t/>
            </a:r>
          </a:p>
          <a:p xmlns:a="http://schemas.openxmlformats.org/drawingml/2006/main">
            <a:r>
              <a:t>We did not use WorkBuddy as a one-shot code generator. Early development required fast build-and-debug loops. Once the complete camera journey worked, we used WorkBuddy as an independent product-quality team. Its expert system let us pair different models with specialist perspectives and give each review a clear responsibility.</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a:p xmlns:a="http://schemas.openxmlformats.org/drawingml/2006/main">
            <a:r>
              <a:t>- W:/Projects/CameraAgent/submission-assets/workbuddy-expert-qna.md</a:t>
            </a:r>
          </a:p>
          <a:p xmlns:a="http://schemas.openxmlformats.org/drawingml/2006/main">
            <a:r>
              <a:t>- https://www.workbuddy.ai/docs/workbuddy/From-Beginner-to-Expert-Guide/Function-Description/Expert-Center</a:t>
            </a:r>
          </a:p>
          <a:p xmlns:a="http://schemas.openxmlformats.org/drawingml/2006/main">
            <a:r>
              <a:t>- https://www.workbuddy.ai/docs/workbuddy/From-Beginner-to-Expert-Guide/Function-Description/Explore#explore-vs-skill-vs-expert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3:10–4:30</a:t>
            </a:r>
          </a:p>
          <a:p xmlns:a="http://schemas.openxmlformats.org/drawingml/2006/main">
            <a:r>
              <a:t/>
            </a:r>
          </a:p>
          <a:p xmlns:a="http://schemas.openxmlformats.org/drawingml/2006/main">
            <a:r>
              <a:t>Say:</a:t>
            </a:r>
          </a:p>
          <a:p xmlns:a="http://schemas.openxmlformats.org/drawingml/2006/main">
            <a:r>
              <a:t>First, HY3 worked with the Mobile Application Developer expert. We supplied the Android workspace, product documents, screenshots, tests, and intended journey. It traced the experience from onboarding and permissions through voice input, AI planning, camera actions, and failure recovery. For every issue, it had to explain user impact, point to implementation evidence, and recommend the smallest credible fix.</a:t>
            </a:r>
          </a:p>
          <a:p xmlns:a="http://schemas.openxmlformats.org/drawingml/2006/main">
            <a:r>
              <a:t/>
            </a:r>
          </a:p>
          <a:p xmlns:a="http://schemas.openxmlformats.org/drawingml/2006/main">
            <a:r>
              <a:t>Next, Kimi-K3 worked with the UI Designer expert as a fresh pair of eyes. This review focused on comprehension, accessibility, and recovery. It helped us align the listening guidance with the compact square Stop button and keep Reset available whenever an adjustment could still be reversed.</a:t>
            </a:r>
          </a:p>
          <a:p xmlns:a="http://schemas.openxmlformats.org/drawingml/2006/main">
            <a:r>
              <a:t/>
            </a:r>
          </a:p>
          <a:p xmlns:a="http://schemas.openxmlformats.org/drawingml/2006/main">
            <a:r>
              <a:t>Finally, HY3 returned with the Software Workshop expert. It implemented the selected changes, rebuilt and installed the APK, and verified the result on a physical OnePlus phone.</a:t>
            </a:r>
          </a:p>
          <a:p xmlns:a="http://schemas.openxmlformats.org/drawingml/2006/main">
            <a:r>
              <a:t/>
            </a:r>
          </a:p>
          <a:p xmlns:a="http://schemas.openxmlformats.org/drawingml/2006/main">
            <a:r>
              <a:t>So WorkBuddy gave us more than suggestions. It created a repeatable loop—investigate, challenge, implement, and verify—with each specialist focused on where it added the most value.</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a:p xmlns:a="http://schemas.openxmlformats.org/drawingml/2006/main">
            <a:r>
              <a:t>- W:/Projects/CameraAgent/submission-assets/workbuddy-expert-qna.md</a:t>
            </a:r>
          </a:p>
          <a:p xmlns:a="http://schemas.openxmlformats.org/drawingml/2006/main">
            <a:r>
              <a:t>- W:/Projects/CameraAgent/submission.md</a:t>
            </a:r>
          </a:p>
          <a:p xmlns:a="http://schemas.openxmlformats.org/drawingml/2006/main">
            <a:r>
              <a:t>- W:/Projects/CameraAgent/README.md</a:t>
            </a:r>
          </a:p>
          <a:p xmlns:a="http://schemas.openxmlformats.org/drawingml/2006/main">
            <a:r>
              <a:t>- https://www.workbuddy.ai/</a:t>
            </a:r>
          </a:p>
          <a:p xmlns:a="http://schemas.openxmlformats.org/drawingml/2006/main">
            <a:r>
              <a:t>- https://x.com/tencentcloud/status/2074073810262011914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4:30–5:00</a:t>
            </a:r>
          </a:p>
          <a:p xmlns:a="http://schemas.openxmlformats.org/drawingml/2006/main">
            <a:r>
              <a:t/>
            </a:r>
          </a:p>
          <a:p xmlns:a="http://schemas.openxmlformats.org/drawingml/2006/main">
            <a:r>
              <a:t>Say:</a:t>
            </a:r>
          </a:p>
          <a:p xmlns:a="http://schemas.openxmlformats.org/drawingml/2006/main">
            <a:r>
              <a:t>Three gaps define the next version. For focus, replace the grid with an object mask. For speed, move commands on-device and accelerate image understanding. For aesthetics, capture a rapid burst with several safe configurations and let the user choose the best result. That choice becomes the preferred example; the alternatives become rejected examples for post-training. Across many choices, Smart Mode learns a shared baseline, then personalizes its ranking for each user. Precise, responsive, personal. Thank you.</a:t>
            </a:r>
          </a:p>
          <a:p xmlns:a="http://schemas.openxmlformats.org/drawingml/2006/main">
            <a:r>
              <a:t/>
            </a:r>
          </a:p>
          <a:p xmlns:a="http://schemas.openxmlformats.org/drawingml/2006/main">
            <a:r>
              <a:t>Post-training detail for Q&amp;A:</a:t>
            </a:r>
          </a:p>
          <a:p xmlns:a="http://schemas.openxmlformats.org/drawingml/2006/main">
            <a:r>
              <a:t>Smart Mode proposes a small set of bounded camera configurations. Where the device supports rapid control changes, capture them as a short burst after locking focus; otherwise capture a high-quality burst and render the variations computationally so exposure and white balance do not need to settle between every frame. The user selects the best result. Store the selected result as preferred and the alternatives as rejected examples, then use preference optimization to improve the shared Smart Mode ranker. A lightweight personal preference profile can re-rank future candidates from that user's prior selections; this is more practical than fine-tuning the full model after every choice. Do not promise exactly five photos per second until the rate has been benchmarked across target phones. The system learns recurring preferences, not a universal definition of beauty.</a:t>
            </a:r>
          </a:p>
          <a:p xmlns:a="http://schemas.openxmlformats.org/drawingml/2006/main">
            <a:r>
              <a:t/>
            </a:r>
          </a:p>
          <a:p xmlns:a="http://schemas.openxmlformats.org/drawingml/2006/main">
            <a:r>
              <a:t>[Sources]</a:t>
            </a:r>
          </a:p>
          <a:p xmlns:a="http://schemas.openxmlformats.org/drawingml/2006/main">
            <a:r>
              <a:t>- W:/Projects/CameraAgent/submission-assets/live-panel-5-minute-script.md</a:t>
            </a:r>
          </a:p>
          <a:p xmlns:a="http://schemas.openxmlformats.org/drawingml/2006/main">
            <a:r>
              <a:t>- W:/Projects/CameraAgent/app/src/main/java/com/bolin/photohelper/visual/VisualContracts.kt</a:t>
            </a:r>
          </a:p>
          <a:p xmlns:a="http://schemas.openxmlformats.org/drawingml/2006/main">
            <a:r>
              <a:t>- https://openaccess.thecvf.com/content/CVPR2024/html/Chen_SpatialVLM_Endowing_Vision-Language_Models_with_Spatial_Reasoning_Capabilities_CVPR_2024_paper.html</a:t>
            </a:r>
          </a:p>
          <a:p xmlns:a="http://schemas.openxmlformats.org/drawingml/2006/main">
            <a:r>
              <a:t>- https://arxiv.org/abs/2303.05499</a:t>
            </a:r>
          </a:p>
          <a:p xmlns:a="http://schemas.openxmlformats.org/drawingml/2006/main">
            <a:r>
              <a:t>- https://arxiv.org/abs/2408.00714</a:t>
            </a:r>
          </a:p>
          <a:p xmlns:a="http://schemas.openxmlformats.org/drawingml/2006/main">
            <a:r>
              <a:t>- https://apps.apple.com/cn/app/id6752316550</a:t>
            </a:r>
          </a:p>
          <a:p xmlns:a="http://schemas.openxmlformats.org/drawingml/2006/main">
            <a:r>
              <a:t>- https://www.cerebras.ai/blog/gemma-4-on-cerebras-the-fastest-inference-is-now-multimodal</a:t>
            </a:r>
          </a:p>
          <a:p xmlns:a="http://schemas.openxmlformats.org/drawingml/2006/main">
            <a:r>
              <a:t>- https://research.google/blog/introducing-nima-neural-image-assessment/</a:t>
            </a:r>
          </a:p>
          <a:p xmlns:a="http://schemas.openxmlformats.org/drawingml/2006/main">
            <a:r>
              <a:t>- https://arxiv.org/abs/2305.18290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55916e8a3d43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eb33a4b8f4287" /><Relationship Type="http://schemas.openxmlformats.org/officeDocument/2006/relationships/slideLayout" Target="/ppt/slideLayouts/slideLayout1.xml" Id="R3b1fa395c05a4c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fa395c05a4c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aadc91423249dc" /><Relationship Type="http://schemas.openxmlformats.org/officeDocument/2006/relationships/image" Target="/ppt/media/image.png" Id="Rd51ccd17017149dc" /><Relationship Type="http://schemas.openxmlformats.org/officeDocument/2006/relationships/notesSlide" Target="/ppt/notesSlides/notesSlide1.xml" Id="Rd29c159e6c9e4e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bcd33196bd46c6" /><Relationship Type="http://schemas.openxmlformats.org/officeDocument/2006/relationships/notesSlide" Target="/ppt/notesSlides/notesSlide2.xml" Id="R1b7805d79b5a43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6bcf9e6d6149a1" /><Relationship Type="http://schemas.openxmlformats.org/officeDocument/2006/relationships/notesSlide" Target="/ppt/notesSlides/notesSlide3.xml" Id="R9e6779104d7a41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382c3a9afb48f6" /><Relationship Type="http://schemas.openxmlformats.org/officeDocument/2006/relationships/notesSlide" Target="/ppt/notesSlides/notesSlide4.xml" Id="R9f19f3c3276944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caa2232c334ade" /><Relationship Type="http://schemas.openxmlformats.org/officeDocument/2006/relationships/notesSlide" Target="/ppt/notesSlides/notesSlide5.xml" Id="R98267ccb45dd45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ea5d30c66c4c2e" /><Relationship Type="http://schemas.openxmlformats.org/officeDocument/2006/relationships/notesSlide" Target="/ppt/notesSlides/notesSlide6.xml" Id="R915b229359a245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eyebrow">
            <a:extLst xmlns:a="http://schemas.openxmlformats.org/drawingml/2006/main">
              <a:ext uri="{FF2B5EF4-FFF2-40B4-BE49-F238E27FC236}">
                <a16:creationId xmlns:a16="http://schemas.microsoft.com/office/drawing/2014/main" id="{4E250DDC-B960-4BCA-B931-99E3B30C8F04}"/>
              </a:ext>
            </a:extLst>
          </p:cNvPr>
          <p:cNvSpPr>
            <a:spLocks xmlns:a="http://schemas.openxmlformats.org/drawingml/2006/main" noGrp="1"/>
          </p:cNvSpPr>
          <p:nvPr/>
        </p:nvSpPr>
        <p:spPr>
          <a:xfrm xmlns:a="http://schemas.openxmlformats.org/drawingml/2006/main">
            <a:off x="609600" y="4572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AI TINKERERS × TENCENT CLOUD · LIFE AGENT</a:t>
            </a:r>
          </a:p>
        </p:txBody>
      </p:sp>
      <p:sp>
        <p:nvSpPr>
          <p:cNvPr id="2" name="cover-title">
            <a:extLst xmlns:a="http://schemas.openxmlformats.org/drawingml/2006/main">
              <a:ext uri="{FF2B5EF4-FFF2-40B4-BE49-F238E27FC236}">
                <a16:creationId xmlns:a16="http://schemas.microsoft.com/office/drawing/2014/main" id="{793D6644-B142-4D56-82D0-80AD5D3F7D51}"/>
              </a:ext>
            </a:extLst>
          </p:cNvPr>
          <p:cNvSpPr>
            <a:spLocks xmlns:a="http://schemas.openxmlformats.org/drawingml/2006/main" noGrp="1"/>
          </p:cNvSpPr>
          <p:nvPr/>
        </p:nvSpPr>
        <p:spPr>
          <a:xfrm xmlns:a="http://schemas.openxmlformats.org/drawingml/2006/main">
            <a:off x="609600" y="114300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101114"/>
                </a:solidFill>
                <a:latin typeface="Arial"/>
                <a:ea typeface="Arial"/>
                <a:cs typeface="Arial"/>
              </a:defRPr>
            </a:pPr>
            <a:r>
              <a:rPr sz="4500" b="1">
                <a:solidFill>
                  <a:srgbClr val="101114"/>
                </a:solidFill>
                <a:latin typeface="Arial"/>
                <a:ea typeface="Arial"/>
                <a:cs typeface="Arial"/>
              </a:rPr>
              <a:t>PHOTO HELPER</a:t>
            </a:r>
          </a:p>
        </p:txBody>
      </p:sp>
      <p:sp>
        <p:nvSpPr>
          <p:cNvPr id="3" name="cover-promise">
            <a:extLst xmlns:a="http://schemas.openxmlformats.org/drawingml/2006/main">
              <a:ext uri="{FF2B5EF4-FFF2-40B4-BE49-F238E27FC236}">
                <a16:creationId xmlns:a16="http://schemas.microsoft.com/office/drawing/2014/main" id="{83BC76CE-CBF6-45A5-B387-3CC02A567D2A}"/>
              </a:ext>
            </a:extLst>
          </p:cNvPr>
          <p:cNvSpPr>
            <a:spLocks xmlns:a="http://schemas.openxmlformats.org/drawingml/2006/main" noGrp="1"/>
          </p:cNvSpPr>
          <p:nvPr/>
        </p:nvSpPr>
        <p:spPr>
          <a:xfrm xmlns:a="http://schemas.openxmlformats.org/drawingml/2006/main">
            <a:off x="609600" y="2190750"/>
            <a:ext cx="495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Speak in outcomes,</a:t>
            </a:r>
          </a:p>
          <a:p xmlns:a="http://schemas.openxmlformats.org/drawingml/2006/main">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not camera settings.</a:t>
            </a:r>
          </a:p>
        </p:txBody>
      </p:sp>
      <p:sp>
        <p:nvSpPr>
          <p:cNvPr id="4" name="cover-accent">
            <a:extLst xmlns:a="http://schemas.openxmlformats.org/drawingml/2006/main">
              <a:ext uri="{FF2B5EF4-FFF2-40B4-BE49-F238E27FC236}">
                <a16:creationId xmlns:a16="http://schemas.microsoft.com/office/drawing/2014/main" id="{8B3C1290-47C7-45EC-9F0D-808FD6A47D7E}"/>
              </a:ext>
            </a:extLst>
          </p:cNvPr>
          <p:cNvSpPr>
            <a:spLocks xmlns:a="http://schemas.openxmlformats.org/drawingml/2006/main" noGrp="1"/>
          </p:cNvSpPr>
          <p:nvPr/>
        </p:nvSpPr>
        <p:spPr>
          <a:xfrm xmlns:a="http://schemas.openxmlformats.org/drawingml/2006/main">
            <a:off x="609600" y="3476625"/>
            <a:ext cx="114300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cover-examples">
            <a:extLst xmlns:a="http://schemas.openxmlformats.org/drawingml/2006/main">
              <a:ext uri="{FF2B5EF4-FFF2-40B4-BE49-F238E27FC236}">
                <a16:creationId xmlns:a16="http://schemas.microsoft.com/office/drawing/2014/main" id="{1906B0BF-1F2C-4F45-BEC5-187D47AF077F}"/>
              </a:ext>
            </a:extLst>
          </p:cNvPr>
          <p:cNvSpPr>
            <a:spLocks xmlns:a="http://schemas.openxmlformats.org/drawingml/2006/main" noGrp="1"/>
          </p:cNvSpPr>
          <p:nvPr/>
        </p:nvSpPr>
        <p:spPr>
          <a:xfrm xmlns:a="http://schemas.openxmlformats.org/drawingml/2006/main">
            <a:off x="609600" y="3857625"/>
            <a:ext cx="4857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“Make it brighter.”</a:t>
            </a:r>
          </a:p>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“Focus on the panda.”</a:t>
            </a:r>
          </a:p>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“Take a photo in five seconds.”</a:t>
            </a:r>
          </a:p>
        </p:txBody>
      </p:sp>
      <p:sp>
        <p:nvSpPr>
          <p:cNvPr id="6" name="cover-team">
            <a:extLst xmlns:a="http://schemas.openxmlformats.org/drawingml/2006/main">
              <a:ext uri="{FF2B5EF4-FFF2-40B4-BE49-F238E27FC236}">
                <a16:creationId xmlns:a16="http://schemas.microsoft.com/office/drawing/2014/main" id="{ED6D4D14-341C-4015-85E7-CB44A6F313C0}"/>
              </a:ext>
            </a:extLst>
          </p:cNvPr>
          <p:cNvSpPr>
            <a:spLocks xmlns:a="http://schemas.openxmlformats.org/drawingml/2006/main" noGrp="1"/>
          </p:cNvSpPr>
          <p:nvPr/>
        </p:nvSpPr>
        <p:spPr>
          <a:xfrm xmlns:a="http://schemas.openxmlformats.org/drawingml/2006/main">
            <a:off x="609600" y="61150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FIVECENT · LU BOLIN · ETHAN YAP · NATHANAEL LEONG</a:t>
            </a:r>
          </a:p>
        </p:txBody>
      </p:sp>
      <p:sp>
        <p:nvSpPr>
          <p:cNvPr id="7" name="cover-image-backing">
            <a:extLst xmlns:a="http://schemas.openxmlformats.org/drawingml/2006/main">
              <a:ext uri="{FF2B5EF4-FFF2-40B4-BE49-F238E27FC236}">
                <a16:creationId xmlns:a16="http://schemas.microsoft.com/office/drawing/2014/main" id="{50DDA727-7E0B-4527-8B21-B01FD9060BB5}"/>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oundRect">
            <a:avLst>
              <a:gd name="adj" fmla="val 3093"/>
            </a:avLst>
          </a:prstGeom>
          <a:solidFill xmlns:a="http://schemas.openxmlformats.org/drawingml/2006/main">
            <a:srgbClr val="EAF5FB"/>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1ccd17017149dc"/>
          <a:srcRect xmlns:a="http://schemas.openxmlformats.org/drawingml/2006/main" l="25485" t="0" r="25485" b="0"/>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gd name="adj" fmla="val 3093"/>
            </a:avLst>
          </a:prstGeom>
        </p:spPr>
      </p:pic>
    </p:spTree>
    <p:extLst>
      <p:ext uri="{BB962C8B-B14F-4D97-AF65-F5344CB8AC3E}">
        <p14:creationId xmlns:p14="http://schemas.microsoft.com/office/powerpoint/2010/main" val="4013800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tage-index-2">
            <a:extLst xmlns:a="http://schemas.openxmlformats.org/drawingml/2006/main">
              <a:ext uri="{FF2B5EF4-FFF2-40B4-BE49-F238E27FC236}">
                <a16:creationId xmlns:a16="http://schemas.microsoft.com/office/drawing/2014/main" id="{480600E4-46A3-4E8A-BFFD-B84C376A7410}"/>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2" name="stage-section-2">
            <a:extLst xmlns:a="http://schemas.openxmlformats.org/drawingml/2006/main">
              <a:ext uri="{FF2B5EF4-FFF2-40B4-BE49-F238E27FC236}">
                <a16:creationId xmlns:a16="http://schemas.microsoft.com/office/drawing/2014/main" id="{010B2604-8328-4704-810A-BC040FE60A83}"/>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THE PRODUCT</a:t>
            </a:r>
          </a:p>
        </p:txBody>
      </p:sp>
      <p:sp>
        <p:nvSpPr>
          <p:cNvPr id="3" name="product-title">
            <a:extLst xmlns:a="http://schemas.openxmlformats.org/drawingml/2006/main">
              <a:ext uri="{FF2B5EF4-FFF2-40B4-BE49-F238E27FC236}">
                <a16:creationId xmlns:a16="http://schemas.microsoft.com/office/drawing/2014/main" id="{B6A37601-BE6E-431C-AD6D-F3BF2D9F043B}"/>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One request becomes a safe camera plan.</a:t>
            </a:r>
          </a:p>
        </p:txBody>
      </p:sp>
      <p:sp>
        <p:nvSpPr>
          <p:cNvPr id="4" name="product-big-message">
            <a:extLst xmlns:a="http://schemas.openxmlformats.org/drawingml/2006/main">
              <a:ext uri="{FF2B5EF4-FFF2-40B4-BE49-F238E27FC236}">
                <a16:creationId xmlns:a16="http://schemas.microsoft.com/office/drawing/2014/main" id="{AF29EE0A-084E-4364-8557-BCF088636AFD}"/>
              </a:ext>
            </a:extLst>
          </p:cNvPr>
          <p:cNvSpPr>
            <a:spLocks xmlns:a="http://schemas.openxmlformats.org/drawingml/2006/main" noGrp="1"/>
          </p:cNvSpPr>
          <p:nvPr/>
        </p:nvSpPr>
        <p:spPr>
          <a:xfrm xmlns:a="http://schemas.openxmlformats.org/drawingml/2006/main">
            <a:off x="609600" y="200025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REQUEST.</a:t>
            </a:r>
          </a:p>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ACTIONS.</a:t>
            </a:r>
          </a:p>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PHOTO.</a:t>
            </a:r>
          </a:p>
        </p:txBody>
      </p:sp>
      <p:sp>
        <p:nvSpPr>
          <p:cNvPr id="5" name="product-request">
            <a:extLst xmlns:a="http://schemas.openxmlformats.org/drawingml/2006/main">
              <a:ext uri="{FF2B5EF4-FFF2-40B4-BE49-F238E27FC236}">
                <a16:creationId xmlns:a16="http://schemas.microsoft.com/office/drawing/2014/main" id="{FB57B928-9A9C-462D-99AC-294B3017D701}"/>
              </a:ext>
            </a:extLst>
          </p:cNvPr>
          <p:cNvSpPr>
            <a:spLocks xmlns:a="http://schemas.openxmlformats.org/drawingml/2006/main" noGrp="1"/>
          </p:cNvSpPr>
          <p:nvPr/>
        </p:nvSpPr>
        <p:spPr>
          <a:xfrm xmlns:a="http://schemas.openxmlformats.org/drawingml/2006/main">
            <a:off x="609600" y="47625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0656F"/>
                </a:solidFill>
                <a:latin typeface="Arial"/>
                <a:ea typeface="Arial"/>
                <a:cs typeface="Arial"/>
              </a:defRPr>
            </a:pPr>
            <a:r>
              <a:rPr sz="1650" b="0">
                <a:solidFill>
                  <a:srgbClr val="60656F"/>
                </a:solidFill>
                <a:latin typeface="Arial"/>
                <a:ea typeface="Arial"/>
                <a:cs typeface="Arial"/>
              </a:rPr>
              <a:t>“Make the picture brighter, focus on the panda, and take a photo in five seconds.”</a:t>
            </a:r>
          </a:p>
        </p:txBody>
      </p:sp>
      <p:sp>
        <p:nvSpPr>
          <p:cNvPr id="6" name="step-rule-0">
            <a:extLst xmlns:a="http://schemas.openxmlformats.org/drawingml/2006/main">
              <a:ext uri="{FF2B5EF4-FFF2-40B4-BE49-F238E27FC236}">
                <a16:creationId xmlns:a16="http://schemas.microsoft.com/office/drawing/2014/main" id="{27913534-C24A-418C-83E4-9B95ECBE4821}"/>
              </a:ext>
            </a:extLst>
          </p:cNvPr>
          <p:cNvSpPr>
            <a:spLocks xmlns:a="http://schemas.openxmlformats.org/drawingml/2006/main" noGrp="1"/>
          </p:cNvSpPr>
          <p:nvPr/>
        </p:nvSpPr>
        <p:spPr>
          <a:xfrm xmlns:a="http://schemas.openxmlformats.org/drawingml/2006/main">
            <a:off x="5810250" y="270510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step-no-0">
            <a:extLst xmlns:a="http://schemas.openxmlformats.org/drawingml/2006/main">
              <a:ext uri="{FF2B5EF4-FFF2-40B4-BE49-F238E27FC236}">
                <a16:creationId xmlns:a16="http://schemas.microsoft.com/office/drawing/2014/main" id="{B192FDE3-D2A8-4F62-9DE2-0F10C92CC82C}"/>
              </a:ext>
            </a:extLst>
          </p:cNvPr>
          <p:cNvSpPr>
            <a:spLocks xmlns:a="http://schemas.openxmlformats.org/drawingml/2006/main" noGrp="1"/>
          </p:cNvSpPr>
          <p:nvPr/>
        </p:nvSpPr>
        <p:spPr>
          <a:xfrm xmlns:a="http://schemas.openxmlformats.org/drawingml/2006/main">
            <a:off x="5810250" y="19812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8" name="step-label-0">
            <a:extLst xmlns:a="http://schemas.openxmlformats.org/drawingml/2006/main">
              <a:ext uri="{FF2B5EF4-FFF2-40B4-BE49-F238E27FC236}">
                <a16:creationId xmlns:a16="http://schemas.microsoft.com/office/drawing/2014/main" id="{2B15C83D-181E-4C13-A80B-CF403A142AF7}"/>
              </a:ext>
            </a:extLst>
          </p:cNvPr>
          <p:cNvSpPr>
            <a:spLocks xmlns:a="http://schemas.openxmlformats.org/drawingml/2006/main" noGrp="1"/>
          </p:cNvSpPr>
          <p:nvPr/>
        </p:nvSpPr>
        <p:spPr>
          <a:xfrm xmlns:a="http://schemas.openxmlformats.org/drawingml/2006/main">
            <a:off x="649605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UNDERSTAND</a:t>
            </a:r>
          </a:p>
        </p:txBody>
      </p:sp>
      <p:sp>
        <p:nvSpPr>
          <p:cNvPr id="9" name="step-body-0">
            <a:extLst xmlns:a="http://schemas.openxmlformats.org/drawingml/2006/main">
              <a:ext uri="{FF2B5EF4-FFF2-40B4-BE49-F238E27FC236}">
                <a16:creationId xmlns:a16="http://schemas.microsoft.com/office/drawing/2014/main" id="{CA34BC4A-112C-4EC0-8445-F11622CCDEA5}"/>
              </a:ext>
            </a:extLst>
          </p:cNvPr>
          <p:cNvSpPr>
            <a:spLocks xmlns:a="http://schemas.openxmlformats.org/drawingml/2006/main" noGrp="1"/>
          </p:cNvSpPr>
          <p:nvPr/>
        </p:nvSpPr>
        <p:spPr>
          <a:xfrm xmlns:a="http://schemas.openxmlformats.org/drawingml/2006/main">
            <a:off x="8020050" y="19812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Voice + live scene + camera context</a:t>
            </a:r>
          </a:p>
        </p:txBody>
      </p:sp>
      <p:sp>
        <p:nvSpPr>
          <p:cNvPr id="10" name="step-rule-1">
            <a:extLst xmlns:a="http://schemas.openxmlformats.org/drawingml/2006/main">
              <a:ext uri="{FF2B5EF4-FFF2-40B4-BE49-F238E27FC236}">
                <a16:creationId xmlns:a16="http://schemas.microsoft.com/office/drawing/2014/main" id="{0DEBCEE5-C48C-45F2-8B44-7F4280788D35}"/>
              </a:ext>
            </a:extLst>
          </p:cNvPr>
          <p:cNvSpPr>
            <a:spLocks xmlns:a="http://schemas.openxmlformats.org/drawingml/2006/main" noGrp="1"/>
          </p:cNvSpPr>
          <p:nvPr/>
        </p:nvSpPr>
        <p:spPr>
          <a:xfrm xmlns:a="http://schemas.openxmlformats.org/drawingml/2006/main">
            <a:off x="5810250" y="363855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step-no-1">
            <a:extLst xmlns:a="http://schemas.openxmlformats.org/drawingml/2006/main">
              <a:ext uri="{FF2B5EF4-FFF2-40B4-BE49-F238E27FC236}">
                <a16:creationId xmlns:a16="http://schemas.microsoft.com/office/drawing/2014/main" id="{EDC7A34B-4D98-4B76-B0EB-FC552552D121}"/>
              </a:ext>
            </a:extLst>
          </p:cNvPr>
          <p:cNvSpPr>
            <a:spLocks xmlns:a="http://schemas.openxmlformats.org/drawingml/2006/main" noGrp="1"/>
          </p:cNvSpPr>
          <p:nvPr/>
        </p:nvSpPr>
        <p:spPr>
          <a:xfrm xmlns:a="http://schemas.openxmlformats.org/drawingml/2006/main">
            <a:off x="5810250" y="291465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2" name="step-label-1">
            <a:extLst xmlns:a="http://schemas.openxmlformats.org/drawingml/2006/main">
              <a:ext uri="{FF2B5EF4-FFF2-40B4-BE49-F238E27FC236}">
                <a16:creationId xmlns:a16="http://schemas.microsoft.com/office/drawing/2014/main" id="{A8AED719-26DE-4DF5-A473-CC14C5069876}"/>
              </a:ext>
            </a:extLst>
          </p:cNvPr>
          <p:cNvSpPr>
            <a:spLocks xmlns:a="http://schemas.openxmlformats.org/drawingml/2006/main" noGrp="1"/>
          </p:cNvSpPr>
          <p:nvPr/>
        </p:nvSpPr>
        <p:spPr>
          <a:xfrm xmlns:a="http://schemas.openxmlformats.org/drawingml/2006/main">
            <a:off x="6496050" y="2914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PLAN</a:t>
            </a:r>
          </a:p>
        </p:txBody>
      </p:sp>
      <p:sp>
        <p:nvSpPr>
          <p:cNvPr id="13" name="step-body-1">
            <a:extLst xmlns:a="http://schemas.openxmlformats.org/drawingml/2006/main">
              <a:ext uri="{FF2B5EF4-FFF2-40B4-BE49-F238E27FC236}">
                <a16:creationId xmlns:a16="http://schemas.microsoft.com/office/drawing/2014/main" id="{09C059CB-FF6B-40F2-BD56-427E18F51A9A}"/>
              </a:ext>
            </a:extLst>
          </p:cNvPr>
          <p:cNvSpPr>
            <a:spLocks xmlns:a="http://schemas.openxmlformats.org/drawingml/2006/main" noGrp="1"/>
          </p:cNvSpPr>
          <p:nvPr/>
        </p:nvSpPr>
        <p:spPr>
          <a:xfrm xmlns:a="http://schemas.openxmlformats.org/drawingml/2006/main">
            <a:off x="8020050" y="2914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Qwen creates ordered semantic actions</a:t>
            </a:r>
          </a:p>
        </p:txBody>
      </p:sp>
      <p:sp>
        <p:nvSpPr>
          <p:cNvPr id="14" name="step-rule-2">
            <a:extLst xmlns:a="http://schemas.openxmlformats.org/drawingml/2006/main">
              <a:ext uri="{FF2B5EF4-FFF2-40B4-BE49-F238E27FC236}">
                <a16:creationId xmlns:a16="http://schemas.microsoft.com/office/drawing/2014/main" id="{26BE4C44-F184-4B73-BF0F-54BBA57146D1}"/>
              </a:ext>
            </a:extLst>
          </p:cNvPr>
          <p:cNvSpPr>
            <a:spLocks xmlns:a="http://schemas.openxmlformats.org/drawingml/2006/main" noGrp="1"/>
          </p:cNvSpPr>
          <p:nvPr/>
        </p:nvSpPr>
        <p:spPr>
          <a:xfrm xmlns:a="http://schemas.openxmlformats.org/drawingml/2006/main">
            <a:off x="5810250" y="457200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step-no-2">
            <a:extLst xmlns:a="http://schemas.openxmlformats.org/drawingml/2006/main">
              <a:ext uri="{FF2B5EF4-FFF2-40B4-BE49-F238E27FC236}">
                <a16:creationId xmlns:a16="http://schemas.microsoft.com/office/drawing/2014/main" id="{41D20128-880A-4D8A-A2F8-58C468F578F8}"/>
              </a:ext>
            </a:extLst>
          </p:cNvPr>
          <p:cNvSpPr>
            <a:spLocks xmlns:a="http://schemas.openxmlformats.org/drawingml/2006/main" noGrp="1"/>
          </p:cNvSpPr>
          <p:nvPr/>
        </p:nvSpPr>
        <p:spPr>
          <a:xfrm xmlns:a="http://schemas.openxmlformats.org/drawingml/2006/main">
            <a:off x="5810250" y="38481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6" name="step-label-2">
            <a:extLst xmlns:a="http://schemas.openxmlformats.org/drawingml/2006/main">
              <a:ext uri="{FF2B5EF4-FFF2-40B4-BE49-F238E27FC236}">
                <a16:creationId xmlns:a16="http://schemas.microsoft.com/office/drawing/2014/main" id="{EE810A49-5275-48E4-A1B9-28E8DD8A2EF1}"/>
              </a:ext>
            </a:extLst>
          </p:cNvPr>
          <p:cNvSpPr>
            <a:spLocks xmlns:a="http://schemas.openxmlformats.org/drawingml/2006/main" noGrp="1"/>
          </p:cNvSpPr>
          <p:nvPr/>
        </p:nvSpPr>
        <p:spPr>
          <a:xfrm xmlns:a="http://schemas.openxmlformats.org/drawingml/2006/main">
            <a:off x="6496050" y="38481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CHECK</a:t>
            </a:r>
          </a:p>
        </p:txBody>
      </p:sp>
      <p:sp>
        <p:nvSpPr>
          <p:cNvPr id="17" name="step-body-2">
            <a:extLst xmlns:a="http://schemas.openxmlformats.org/drawingml/2006/main">
              <a:ext uri="{FF2B5EF4-FFF2-40B4-BE49-F238E27FC236}">
                <a16:creationId xmlns:a16="http://schemas.microsoft.com/office/drawing/2014/main" id="{FC359041-2B1B-46CE-B1C3-49E848968E4C}"/>
              </a:ext>
            </a:extLst>
          </p:cNvPr>
          <p:cNvSpPr>
            <a:spLocks xmlns:a="http://schemas.openxmlformats.org/drawingml/2006/main" noGrp="1"/>
          </p:cNvSpPr>
          <p:nvPr/>
        </p:nvSpPr>
        <p:spPr>
          <a:xfrm xmlns:a="http://schemas.openxmlformats.org/drawingml/2006/main">
            <a:off x="8020050" y="38481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Android validates against real capabilities</a:t>
            </a:r>
          </a:p>
        </p:txBody>
      </p:sp>
      <p:sp>
        <p:nvSpPr>
          <p:cNvPr id="18" name="step-rule-3">
            <a:extLst xmlns:a="http://schemas.openxmlformats.org/drawingml/2006/main">
              <a:ext uri="{FF2B5EF4-FFF2-40B4-BE49-F238E27FC236}">
                <a16:creationId xmlns:a16="http://schemas.microsoft.com/office/drawing/2014/main" id="{15195B90-2C4B-49F4-BC6F-0EEF7B9E3F2B}"/>
              </a:ext>
            </a:extLst>
          </p:cNvPr>
          <p:cNvSpPr>
            <a:spLocks xmlns:a="http://schemas.openxmlformats.org/drawingml/2006/main" noGrp="1"/>
          </p:cNvSpPr>
          <p:nvPr/>
        </p:nvSpPr>
        <p:spPr>
          <a:xfrm xmlns:a="http://schemas.openxmlformats.org/drawingml/2006/main">
            <a:off x="5810250" y="550545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step-no-3">
            <a:extLst xmlns:a="http://schemas.openxmlformats.org/drawingml/2006/main">
              <a:ext uri="{FF2B5EF4-FFF2-40B4-BE49-F238E27FC236}">
                <a16:creationId xmlns:a16="http://schemas.microsoft.com/office/drawing/2014/main" id="{034D5537-9890-43AE-8D91-BFFC23205500}"/>
              </a:ext>
            </a:extLst>
          </p:cNvPr>
          <p:cNvSpPr>
            <a:spLocks xmlns:a="http://schemas.openxmlformats.org/drawingml/2006/main" noGrp="1"/>
          </p:cNvSpPr>
          <p:nvPr/>
        </p:nvSpPr>
        <p:spPr>
          <a:xfrm xmlns:a="http://schemas.openxmlformats.org/drawingml/2006/main">
            <a:off x="5810250" y="478155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0" name="step-label-3">
            <a:extLst xmlns:a="http://schemas.openxmlformats.org/drawingml/2006/main">
              <a:ext uri="{FF2B5EF4-FFF2-40B4-BE49-F238E27FC236}">
                <a16:creationId xmlns:a16="http://schemas.microsoft.com/office/drawing/2014/main" id="{C574512B-68DD-4741-A260-DFDCF2723C5F}"/>
              </a:ext>
            </a:extLst>
          </p:cNvPr>
          <p:cNvSpPr>
            <a:spLocks xmlns:a="http://schemas.openxmlformats.org/drawingml/2006/main" noGrp="1"/>
          </p:cNvSpPr>
          <p:nvPr/>
        </p:nvSpPr>
        <p:spPr>
          <a:xfrm xmlns:a="http://schemas.openxmlformats.org/drawingml/2006/main">
            <a:off x="6496050" y="47815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ACT</a:t>
            </a:r>
          </a:p>
        </p:txBody>
      </p:sp>
      <p:sp>
        <p:nvSpPr>
          <p:cNvPr id="21" name="step-body-3">
            <a:extLst xmlns:a="http://schemas.openxmlformats.org/drawingml/2006/main">
              <a:ext uri="{FF2B5EF4-FFF2-40B4-BE49-F238E27FC236}">
                <a16:creationId xmlns:a16="http://schemas.microsoft.com/office/drawing/2014/main" id="{44169E3E-FF2A-4744-8CA4-0D6D938784A7}"/>
              </a:ext>
            </a:extLst>
          </p:cNvPr>
          <p:cNvSpPr>
            <a:spLocks xmlns:a="http://schemas.openxmlformats.org/drawingml/2006/main" noGrp="1"/>
          </p:cNvSpPr>
          <p:nvPr/>
        </p:nvSpPr>
        <p:spPr>
          <a:xfrm xmlns:a="http://schemas.openxmlformats.org/drawingml/2006/main">
            <a:off x="8020050" y="47815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Brightness · focus · timer · capture</a:t>
            </a:r>
          </a:p>
        </p:txBody>
      </p:sp>
      <p:sp>
        <p:nvSpPr>
          <p:cNvPr id="22" name="product-boundary">
            <a:extLst xmlns:a="http://schemas.openxmlformats.org/drawingml/2006/main">
              <a:ext uri="{FF2B5EF4-FFF2-40B4-BE49-F238E27FC236}">
                <a16:creationId xmlns:a16="http://schemas.microsoft.com/office/drawing/2014/main" id="{55A537A4-E791-4304-A874-75957356528D}"/>
              </a:ext>
            </a:extLst>
          </p:cNvPr>
          <p:cNvSpPr>
            <a:spLocks xmlns:a="http://schemas.openxmlformats.org/drawingml/2006/main" noGrp="1"/>
          </p:cNvSpPr>
          <p:nvPr/>
        </p:nvSpPr>
        <p:spPr>
          <a:xfrm xmlns:a="http://schemas.openxmlformats.org/drawingml/2006/main">
            <a:off x="5810250" y="5753100"/>
            <a:ext cx="5429250" cy="457200"/>
          </a:xfrm>
          <a:prstGeom xmlns:a="http://schemas.openxmlformats.org/drawingml/2006/main" prst="roundRect">
            <a:avLst>
              <a:gd name="adj" fmla="val 16667"/>
            </a:avLst>
          </a:prstGeom>
          <a:solidFill xmlns:a="http://schemas.openxmlformats.org/drawingml/2006/main">
            <a:srgbClr val="0A2D55"/>
          </a:solidFill>
          <a:ln xmlns:a="http://schemas.openxmlformats.org/drawingml/2006/main" w="0">
            <a:noFill/>
            <a:prstDash val="solid"/>
          </a:ln>
        </p:spPr>
      </p:sp>
      <p:sp>
        <p:nvSpPr>
          <p:cNvPr id="23" name="product-boundary-text">
            <a:extLst xmlns:a="http://schemas.openxmlformats.org/drawingml/2006/main">
              <a:ext uri="{FF2B5EF4-FFF2-40B4-BE49-F238E27FC236}">
                <a16:creationId xmlns:a16="http://schemas.microsoft.com/office/drawing/2014/main" id="{9F9E4DC5-4E79-4CD0-9600-153CEA80F5D6}"/>
              </a:ext>
            </a:extLst>
          </p:cNvPr>
          <p:cNvSpPr>
            <a:spLocks xmlns:a="http://schemas.openxmlformats.org/drawingml/2006/main" noGrp="1"/>
          </p:cNvSpPr>
          <p:nvPr/>
        </p:nvSpPr>
        <p:spPr>
          <a:xfrm xmlns:a="http://schemas.openxmlformats.org/drawingml/2006/main">
            <a:off x="6000750" y="5895975"/>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QWEN INTERPRETS · ANDROID VALIDATES · CAMERAX EXECUTES</a:t>
            </a:r>
          </a:p>
        </p:txBody>
      </p:sp>
      <p:sp>
        <p:nvSpPr>
          <p:cNvPr id="24" name="footer-rule-2">
            <a:extLst xmlns:a="http://schemas.openxmlformats.org/drawingml/2006/main">
              <a:ext uri="{FF2B5EF4-FFF2-40B4-BE49-F238E27FC236}">
                <a16:creationId xmlns:a16="http://schemas.microsoft.com/office/drawing/2014/main" id="{767BD9C9-73CB-4439-8E20-86F1D85F7AA3}"/>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5" name="footer-left-2">
            <a:extLst xmlns:a="http://schemas.openxmlformats.org/drawingml/2006/main">
              <a:ext uri="{FF2B5EF4-FFF2-40B4-BE49-F238E27FC236}">
                <a16:creationId xmlns:a16="http://schemas.microsoft.com/office/drawing/2014/main" id="{67B3618A-7E44-4042-BF94-DC2277CCC773}"/>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6" name="footer-number-2">
            <a:extLst xmlns:a="http://schemas.openxmlformats.org/drawingml/2006/main">
              <a:ext uri="{FF2B5EF4-FFF2-40B4-BE49-F238E27FC236}">
                <a16:creationId xmlns:a16="http://schemas.microsoft.com/office/drawing/2014/main" id="{8D8956EA-0307-448A-89FD-7DA912A3657E}"/>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02</a:t>
            </a:r>
          </a:p>
        </p:txBody>
      </p:sp>
    </p:spTree>
    <p:extLst>
      <p:ext uri="{BB962C8B-B14F-4D97-AF65-F5344CB8AC3E}">
        <p14:creationId xmlns:p14="http://schemas.microsoft.com/office/powerpoint/2010/main" val="314622217"/>
      </p:ext>
    </p:extLst>
  </p:cSld>
</p:sld>
</file>

<file path=ppt/slides/slide3.xml><?xml version="1.0" encoding="utf-8"?>
<p:sld xmlns:p="http://schemas.openxmlformats.org/presentationml/2006/main">
  <p:cSld>
    <p:bg>
      <p:bgPr>
        <a:solidFill xmlns:a="http://schemas.openxmlformats.org/drawingml/2006/main">
          <a:srgbClr val="3D8DFF"/>
        </a:solidFill>
      </p:bgPr>
    </p:bg>
    <p:spTree>
      <p:nvGrpSpPr>
        <p:cNvPr id="1" name=""/>
        <p:cNvGrpSpPr/>
        <p:nvPr/>
      </p:nvGrpSpPr>
      <p:grpSpPr>
        <a:xfrm xmlns:a="http://schemas.openxmlformats.org/drawingml/2006/main"/>
      </p:grpSpPr>
      <p:sp>
        <p:nvSpPr>
          <p:cNvPr id="2" name="demo-title">
            <a:extLst xmlns:a="http://schemas.openxmlformats.org/drawingml/2006/main">
              <a:ext uri="{FF2B5EF4-FFF2-40B4-BE49-F238E27FC236}">
                <a16:creationId xmlns:a16="http://schemas.microsoft.com/office/drawing/2014/main" id="{70AE6FB7-1AB3-4194-B000-30CF22E731A2}"/>
              </a:ext>
            </a:extLst>
          </p:cNvPr>
          <p:cNvSpPr>
            <a:spLocks xmlns:a="http://schemas.openxmlformats.org/drawingml/2006/main" noGrp="1"/>
          </p:cNvSpPr>
          <p:nvPr/>
        </p:nvSpPr>
        <p:spPr>
          <a:xfrm xmlns:a="http://schemas.openxmlformats.org/drawingml/2006/main">
            <a:off x="952500" y="2333625"/>
            <a:ext cx="10287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0" b="1">
                <a:solidFill>
                  <a:srgbClr val="FFFFFF"/>
                </a:solidFill>
                <a:latin typeface="Arial"/>
                <a:ea typeface="Arial"/>
                <a:cs typeface="Arial"/>
              </a:defRPr>
            </a:pPr>
            <a:r>
              <a:rPr sz="7500" b="1">
                <a:solidFill>
                  <a:srgbClr val="FFFFFF"/>
                </a:solidFill>
                <a:latin typeface="Arial"/>
                <a:ea typeface="Arial"/>
                <a:cs typeface="Arial"/>
              </a:rPr>
              <a:t>DEMO</a:t>
            </a:r>
          </a:p>
        </p:txBody>
      </p:sp>
    </p:spTree>
    <p:extLst>
      <p:ext uri="{BB962C8B-B14F-4D97-AF65-F5344CB8AC3E}">
        <p14:creationId xmlns:p14="http://schemas.microsoft.com/office/powerpoint/2010/main" val="17350545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tage-index-4">
            <a:extLst xmlns:a="http://schemas.openxmlformats.org/drawingml/2006/main">
              <a:ext uri="{FF2B5EF4-FFF2-40B4-BE49-F238E27FC236}">
                <a16:creationId xmlns:a16="http://schemas.microsoft.com/office/drawing/2014/main" id="{357567E4-DF1A-4E70-9AF7-8A8E5A43219E}"/>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04</a:t>
            </a:r>
          </a:p>
        </p:txBody>
      </p:sp>
      <p:sp>
        <p:nvSpPr>
          <p:cNvPr id="2" name="stage-section-4">
            <a:extLst xmlns:a="http://schemas.openxmlformats.org/drawingml/2006/main">
              <a:ext uri="{FF2B5EF4-FFF2-40B4-BE49-F238E27FC236}">
                <a16:creationId xmlns:a16="http://schemas.microsoft.com/office/drawing/2014/main" id="{3D99DEB1-5E11-4FAD-B178-D6860DC8B705}"/>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WHY WORKBUDDY</a:t>
            </a:r>
          </a:p>
        </p:txBody>
      </p:sp>
      <p:sp>
        <p:nvSpPr>
          <p:cNvPr id="3" name="workbuddy-title">
            <a:extLst xmlns:a="http://schemas.openxmlformats.org/drawingml/2006/main">
              <a:ext uri="{FF2B5EF4-FFF2-40B4-BE49-F238E27FC236}">
                <a16:creationId xmlns:a16="http://schemas.microsoft.com/office/drawing/2014/main" id="{E9CEE950-6492-4030-AB4E-446DB705A4B1}"/>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WorkBuddy became our product-quality team.</a:t>
            </a:r>
          </a:p>
        </p:txBody>
      </p:sp>
      <p:sp>
        <p:nvSpPr>
          <p:cNvPr id="4" name="workbuddy-big-message">
            <a:extLst xmlns:a="http://schemas.openxmlformats.org/drawingml/2006/main">
              <a:ext uri="{FF2B5EF4-FFF2-40B4-BE49-F238E27FC236}">
                <a16:creationId xmlns:a16="http://schemas.microsoft.com/office/drawing/2014/main" id="{8B32EA90-36DA-4CEE-9143-B0F1A3DA5B8A}"/>
              </a:ext>
            </a:extLst>
          </p:cNvPr>
          <p:cNvSpPr>
            <a:spLocks xmlns:a="http://schemas.openxmlformats.org/drawingml/2006/main" noGrp="1"/>
          </p:cNvSpPr>
          <p:nvPr/>
        </p:nvSpPr>
        <p:spPr>
          <a:xfrm xmlns:a="http://schemas.openxmlformats.org/drawingml/2006/main">
            <a:off x="609600" y="1952625"/>
            <a:ext cx="4572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FAST LOOPS</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BUILD.</a:t>
            </a:r>
          </a:p>
          <a:p xmlns:a="http://schemas.openxmlformats.org/drawingml/2006/main">
            <a:r>
              <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EXPERT PASSES</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REFINE.</a:t>
            </a:r>
          </a:p>
        </p:txBody>
      </p:sp>
      <p:sp>
        <p:nvSpPr>
          <p:cNvPr id="5" name="workbuddy-divider">
            <a:extLst xmlns:a="http://schemas.openxmlformats.org/drawingml/2006/main">
              <a:ext uri="{FF2B5EF4-FFF2-40B4-BE49-F238E27FC236}">
                <a16:creationId xmlns:a16="http://schemas.microsoft.com/office/drawing/2014/main" id="{09203852-DA2D-46B2-A733-7E250EA3B55A}"/>
              </a:ext>
            </a:extLst>
          </p:cNvPr>
          <p:cNvSpPr>
            <a:spLocks xmlns:a="http://schemas.openxmlformats.org/drawingml/2006/main" noGrp="1"/>
          </p:cNvSpPr>
          <p:nvPr/>
        </p:nvSpPr>
        <p:spPr>
          <a:xfrm xmlns:a="http://schemas.openxmlformats.org/drawingml/2006/main">
            <a:off x="5619750" y="2000250"/>
            <a:ext cx="19050" cy="3619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definition-key-0">
            <a:extLst xmlns:a="http://schemas.openxmlformats.org/drawingml/2006/main">
              <a:ext uri="{FF2B5EF4-FFF2-40B4-BE49-F238E27FC236}">
                <a16:creationId xmlns:a16="http://schemas.microsoft.com/office/drawing/2014/main" id="{95B65129-D2B6-4973-8253-771B2DCCDB9E}"/>
              </a:ext>
            </a:extLst>
          </p:cNvPr>
          <p:cNvSpPr>
            <a:spLocks xmlns:a="http://schemas.openxmlformats.org/drawingml/2006/main" noGrp="1"/>
          </p:cNvSpPr>
          <p:nvPr/>
        </p:nvSpPr>
        <p:spPr>
          <a:xfrm xmlns:a="http://schemas.openxmlformats.org/drawingml/2006/main">
            <a:off x="6191250" y="20478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MODEL</a:t>
            </a:r>
          </a:p>
        </p:txBody>
      </p:sp>
      <p:sp>
        <p:nvSpPr>
          <p:cNvPr id="7" name="definition-value-0">
            <a:extLst xmlns:a="http://schemas.openxmlformats.org/drawingml/2006/main">
              <a:ext uri="{FF2B5EF4-FFF2-40B4-BE49-F238E27FC236}">
                <a16:creationId xmlns:a16="http://schemas.microsoft.com/office/drawing/2014/main" id="{5A10403F-BDA5-4E25-8386-7F32DDECC987}"/>
              </a:ext>
            </a:extLst>
          </p:cNvPr>
          <p:cNvSpPr>
            <a:spLocks xmlns:a="http://schemas.openxmlformats.org/drawingml/2006/main" noGrp="1"/>
          </p:cNvSpPr>
          <p:nvPr/>
        </p:nvSpPr>
        <p:spPr>
          <a:xfrm xmlns:a="http://schemas.openxmlformats.org/drawingml/2006/main">
            <a:off x="6191250" y="23526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Reasoning engine</a:t>
            </a:r>
          </a:p>
        </p:txBody>
      </p:sp>
      <p:sp>
        <p:nvSpPr>
          <p:cNvPr id="8" name="definition-key-1">
            <a:extLst xmlns:a="http://schemas.openxmlformats.org/drawingml/2006/main">
              <a:ext uri="{FF2B5EF4-FFF2-40B4-BE49-F238E27FC236}">
                <a16:creationId xmlns:a16="http://schemas.microsoft.com/office/drawing/2014/main" id="{E6CBD946-EE00-4D41-8ACE-1FC9AB8EE97D}"/>
              </a:ext>
            </a:extLst>
          </p:cNvPr>
          <p:cNvSpPr>
            <a:spLocks xmlns:a="http://schemas.openxmlformats.org/drawingml/2006/main" noGrp="1"/>
          </p:cNvSpPr>
          <p:nvPr/>
        </p:nvSpPr>
        <p:spPr>
          <a:xfrm xmlns:a="http://schemas.openxmlformats.org/drawingml/2006/main">
            <a:off x="6191250" y="29241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EXPERT</a:t>
            </a:r>
          </a:p>
        </p:txBody>
      </p:sp>
      <p:sp>
        <p:nvSpPr>
          <p:cNvPr id="9" name="definition-value-1">
            <a:extLst xmlns:a="http://schemas.openxmlformats.org/drawingml/2006/main">
              <a:ext uri="{FF2B5EF4-FFF2-40B4-BE49-F238E27FC236}">
                <a16:creationId xmlns:a16="http://schemas.microsoft.com/office/drawing/2014/main" id="{C53E3956-BB4D-4F86-87D5-1D28061ED5FB}"/>
              </a:ext>
            </a:extLst>
          </p:cNvPr>
          <p:cNvSpPr>
            <a:spLocks xmlns:a="http://schemas.openxmlformats.org/drawingml/2006/main" noGrp="1"/>
          </p:cNvSpPr>
          <p:nvPr/>
        </p:nvSpPr>
        <p:spPr>
          <a:xfrm xmlns:a="http://schemas.openxmlformats.org/drawingml/2006/main">
            <a:off x="6191250" y="32289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114"/>
                </a:solidFill>
                <a:latin typeface="Arial"/>
                <a:ea typeface="Arial"/>
                <a:cs typeface="Arial"/>
              </a:defRPr>
            </a:pPr>
            <a:r>
              <a:rPr sz="1875" b="1">
                <a:solidFill>
                  <a:srgbClr val="101114"/>
                </a:solidFill>
                <a:latin typeface="Arial"/>
                <a:ea typeface="Arial"/>
                <a:cs typeface="Arial"/>
              </a:rPr>
              <a:t>Specialist role + domain framing</a:t>
            </a:r>
          </a:p>
        </p:txBody>
      </p:sp>
      <p:sp>
        <p:nvSpPr>
          <p:cNvPr id="10" name="definition-key-2">
            <a:extLst xmlns:a="http://schemas.openxmlformats.org/drawingml/2006/main">
              <a:ext uri="{FF2B5EF4-FFF2-40B4-BE49-F238E27FC236}">
                <a16:creationId xmlns:a16="http://schemas.microsoft.com/office/drawing/2014/main" id="{C017380F-A18C-454A-8B70-A505A97026F6}"/>
              </a:ext>
            </a:extLst>
          </p:cNvPr>
          <p:cNvSpPr>
            <a:spLocks xmlns:a="http://schemas.openxmlformats.org/drawingml/2006/main" noGrp="1"/>
          </p:cNvSpPr>
          <p:nvPr/>
        </p:nvSpPr>
        <p:spPr>
          <a:xfrm xmlns:a="http://schemas.openxmlformats.org/drawingml/2006/main">
            <a:off x="6191250" y="38004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TEAM</a:t>
            </a:r>
          </a:p>
        </p:txBody>
      </p:sp>
      <p:sp>
        <p:nvSpPr>
          <p:cNvPr id="11" name="definition-value-2">
            <a:extLst xmlns:a="http://schemas.openxmlformats.org/drawingml/2006/main">
              <a:ext uri="{FF2B5EF4-FFF2-40B4-BE49-F238E27FC236}">
                <a16:creationId xmlns:a16="http://schemas.microsoft.com/office/drawing/2014/main" id="{DB12B3AF-2C6B-4003-9F4A-62CE0147F203}"/>
              </a:ext>
            </a:extLst>
          </p:cNvPr>
          <p:cNvSpPr>
            <a:spLocks xmlns:a="http://schemas.openxmlformats.org/drawingml/2006/main" noGrp="1"/>
          </p:cNvSpPr>
          <p:nvPr/>
        </p:nvSpPr>
        <p:spPr>
          <a:xfrm xmlns:a="http://schemas.openxmlformats.org/drawingml/2006/main">
            <a:off x="6191250" y="41052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Divide work + cross-check</a:t>
            </a:r>
          </a:p>
        </p:txBody>
      </p:sp>
      <p:sp>
        <p:nvSpPr>
          <p:cNvPr id="12" name="definition-key-3">
            <a:extLst xmlns:a="http://schemas.openxmlformats.org/drawingml/2006/main">
              <a:ext uri="{FF2B5EF4-FFF2-40B4-BE49-F238E27FC236}">
                <a16:creationId xmlns:a16="http://schemas.microsoft.com/office/drawing/2014/main" id="{04CC0A4F-E5BD-4D30-9DC3-E3FE0BDE4014}"/>
              </a:ext>
            </a:extLst>
          </p:cNvPr>
          <p:cNvSpPr>
            <a:spLocks xmlns:a="http://schemas.openxmlformats.org/drawingml/2006/main" noGrp="1"/>
          </p:cNvSpPr>
          <p:nvPr/>
        </p:nvSpPr>
        <p:spPr>
          <a:xfrm xmlns:a="http://schemas.openxmlformats.org/drawingml/2006/main">
            <a:off x="6191250" y="46767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WORKSPACE</a:t>
            </a:r>
          </a:p>
        </p:txBody>
      </p:sp>
      <p:sp>
        <p:nvSpPr>
          <p:cNvPr id="13" name="definition-value-3">
            <a:extLst xmlns:a="http://schemas.openxmlformats.org/drawingml/2006/main">
              <a:ext uri="{FF2B5EF4-FFF2-40B4-BE49-F238E27FC236}">
                <a16:creationId xmlns:a16="http://schemas.microsoft.com/office/drawing/2014/main" id="{6F4586BC-E686-4952-A3EC-93E7F20DE636}"/>
              </a:ext>
            </a:extLst>
          </p:cNvPr>
          <p:cNvSpPr>
            <a:spLocks xmlns:a="http://schemas.openxmlformats.org/drawingml/2006/main" noGrp="1"/>
          </p:cNvSpPr>
          <p:nvPr/>
        </p:nvSpPr>
        <p:spPr>
          <a:xfrm xmlns:a="http://schemas.openxmlformats.org/drawingml/2006/main">
            <a:off x="6191250" y="49815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Review connects to implementation</a:t>
            </a:r>
          </a:p>
        </p:txBody>
      </p:sp>
      <p:sp>
        <p:nvSpPr>
          <p:cNvPr id="14" name="workbuddy-callout">
            <a:extLst xmlns:a="http://schemas.openxmlformats.org/drawingml/2006/main">
              <a:ext uri="{FF2B5EF4-FFF2-40B4-BE49-F238E27FC236}">
                <a16:creationId xmlns:a16="http://schemas.microsoft.com/office/drawing/2014/main" id="{466C067D-67B0-490A-AEB0-CBF45935E6B3}"/>
              </a:ext>
            </a:extLst>
          </p:cNvPr>
          <p:cNvSpPr>
            <a:spLocks xmlns:a="http://schemas.openxmlformats.org/drawingml/2006/main" noGrp="1"/>
          </p:cNvSpPr>
          <p:nvPr/>
        </p:nvSpPr>
        <p:spPr>
          <a:xfrm xmlns:a="http://schemas.openxmlformats.org/drawingml/2006/main">
            <a:off x="6191250" y="5638800"/>
            <a:ext cx="4762500" cy="552450"/>
          </a:xfrm>
          <a:prstGeom xmlns:a="http://schemas.openxmlformats.org/drawingml/2006/main" prst="roundRect">
            <a:avLst>
              <a:gd name="adj" fmla="val 13793"/>
            </a:avLst>
          </a:prstGeom>
          <a:solidFill xmlns:a="http://schemas.openxmlformats.org/drawingml/2006/main">
            <a:srgbClr val="EAF5FB"/>
          </a:solidFill>
          <a:ln xmlns:a="http://schemas.openxmlformats.org/drawingml/2006/main" w="0">
            <a:noFill/>
            <a:prstDash val="solid"/>
          </a:ln>
        </p:spPr>
      </p:sp>
      <p:sp>
        <p:nvSpPr>
          <p:cNvPr id="15" name="workbuddy-callout-text">
            <a:extLst xmlns:a="http://schemas.openxmlformats.org/drawingml/2006/main">
              <a:ext uri="{FF2B5EF4-FFF2-40B4-BE49-F238E27FC236}">
                <a16:creationId xmlns:a16="http://schemas.microsoft.com/office/drawing/2014/main" id="{0E5DFB34-AF75-4AE2-B6C1-05D9C04F0CEA}"/>
              </a:ext>
            </a:extLst>
          </p:cNvPr>
          <p:cNvSpPr>
            <a:spLocks xmlns:a="http://schemas.openxmlformats.org/drawingml/2006/main" noGrp="1"/>
          </p:cNvSpPr>
          <p:nvPr/>
        </p:nvSpPr>
        <p:spPr>
          <a:xfrm xmlns:a="http://schemas.openxmlformats.org/drawingml/2006/main">
            <a:off x="6419850" y="58102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A2D55"/>
                </a:solidFill>
                <a:latin typeface="Arial"/>
                <a:ea typeface="Arial"/>
                <a:cs typeface="Arial"/>
              </a:defRPr>
            </a:pPr>
            <a:r>
              <a:rPr sz="1350" b="1">
                <a:solidFill>
                  <a:srgbClr val="0A2D55"/>
                </a:solidFill>
                <a:latin typeface="Arial"/>
                <a:ea typeface="Arial"/>
                <a:cs typeface="Arial"/>
              </a:rPr>
              <a:t>Deeper judgment where it had the most leverage.</a:t>
            </a:r>
          </a:p>
        </p:txBody>
      </p:sp>
      <p:sp>
        <p:nvSpPr>
          <p:cNvPr id="16" name="footer-rule-4">
            <a:extLst xmlns:a="http://schemas.openxmlformats.org/drawingml/2006/main">
              <a:ext uri="{FF2B5EF4-FFF2-40B4-BE49-F238E27FC236}">
                <a16:creationId xmlns:a16="http://schemas.microsoft.com/office/drawing/2014/main" id="{B64D67D5-DC38-4BE5-8701-0F136F397006}"/>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footer-left-4">
            <a:extLst xmlns:a="http://schemas.openxmlformats.org/drawingml/2006/main">
              <a:ext uri="{FF2B5EF4-FFF2-40B4-BE49-F238E27FC236}">
                <a16:creationId xmlns:a16="http://schemas.microsoft.com/office/drawing/2014/main" id="{5B06FE4F-56C0-46E5-834E-8BBB7F9C2A2E}"/>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18" name="footer-number-4">
            <a:extLst xmlns:a="http://schemas.openxmlformats.org/drawingml/2006/main">
              <a:ext uri="{FF2B5EF4-FFF2-40B4-BE49-F238E27FC236}">
                <a16:creationId xmlns:a16="http://schemas.microsoft.com/office/drawing/2014/main" id="{D9BF0AAA-7571-4865-8B55-90DD5EBAED11}"/>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04</a:t>
            </a:r>
          </a:p>
        </p:txBody>
      </p:sp>
    </p:spTree>
    <p:extLst>
      <p:ext uri="{BB962C8B-B14F-4D97-AF65-F5344CB8AC3E}">
        <p14:creationId xmlns:p14="http://schemas.microsoft.com/office/powerpoint/2010/main" val="19202217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tage-index-5">
            <a:extLst xmlns:a="http://schemas.openxmlformats.org/drawingml/2006/main">
              <a:ext uri="{FF2B5EF4-FFF2-40B4-BE49-F238E27FC236}">
                <a16:creationId xmlns:a16="http://schemas.microsoft.com/office/drawing/2014/main" id="{9062F5C9-2FFA-4078-A992-7E10891AEC16}"/>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05</a:t>
            </a:r>
          </a:p>
        </p:txBody>
      </p:sp>
      <p:sp>
        <p:nvSpPr>
          <p:cNvPr id="2" name="stage-section-5">
            <a:extLst xmlns:a="http://schemas.openxmlformats.org/drawingml/2006/main">
              <a:ext uri="{FF2B5EF4-FFF2-40B4-BE49-F238E27FC236}">
                <a16:creationId xmlns:a16="http://schemas.microsoft.com/office/drawing/2014/main" id="{45589762-2A04-4ACB-B080-A74ACB011D84}"/>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WORKBUDDY WORKFLOW</a:t>
            </a:r>
          </a:p>
        </p:txBody>
      </p:sp>
      <p:sp>
        <p:nvSpPr>
          <p:cNvPr id="3" name="workflow-title">
            <a:extLst xmlns:a="http://schemas.openxmlformats.org/drawingml/2006/main">
              <a:ext uri="{FF2B5EF4-FFF2-40B4-BE49-F238E27FC236}">
                <a16:creationId xmlns:a16="http://schemas.microsoft.com/office/drawing/2014/main" id="{6637CD17-6AAD-4BBF-9AF9-226CD1CCEDFE}"/>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Three specialist passes made the product stronger.</a:t>
            </a:r>
          </a:p>
        </p:txBody>
      </p:sp>
      <p:sp>
        <p:nvSpPr>
          <p:cNvPr id="4" name="workflow-line">
            <a:extLst xmlns:a="http://schemas.openxmlformats.org/drawingml/2006/main">
              <a:ext uri="{FF2B5EF4-FFF2-40B4-BE49-F238E27FC236}">
                <a16:creationId xmlns:a16="http://schemas.microsoft.com/office/drawing/2014/main" id="{C127D897-EE2A-40AA-BD07-87D9AF13B27F}"/>
              </a:ext>
            </a:extLst>
          </p:cNvPr>
          <p:cNvSpPr>
            <a:spLocks xmlns:a="http://schemas.openxmlformats.org/drawingml/2006/main" noGrp="1"/>
          </p:cNvSpPr>
          <p:nvPr/>
        </p:nvSpPr>
        <p:spPr>
          <a:xfrm xmlns:a="http://schemas.openxmlformats.org/drawingml/2006/main">
            <a:off x="952500" y="3219450"/>
            <a:ext cx="102870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workflow-no-0">
            <a:extLst xmlns:a="http://schemas.openxmlformats.org/drawingml/2006/main">
              <a:ext uri="{FF2B5EF4-FFF2-40B4-BE49-F238E27FC236}">
                <a16:creationId xmlns:a16="http://schemas.microsoft.com/office/drawing/2014/main" id="{2CAF459A-8FB2-4321-93D2-2E53CB7418B0}"/>
              </a:ext>
            </a:extLst>
          </p:cNvPr>
          <p:cNvSpPr>
            <a:spLocks xmlns:a="http://schemas.openxmlformats.org/drawingml/2006/main" noGrp="1"/>
          </p:cNvSpPr>
          <p:nvPr/>
        </p:nvSpPr>
        <p:spPr>
          <a:xfrm xmlns:a="http://schemas.openxmlformats.org/drawingml/2006/main">
            <a:off x="95250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01</a:t>
            </a:r>
          </a:p>
        </p:txBody>
      </p:sp>
      <p:sp>
        <p:nvSpPr>
          <p:cNvPr id="6" name="workflow-model-0">
            <a:extLst xmlns:a="http://schemas.openxmlformats.org/drawingml/2006/main">
              <a:ext uri="{FF2B5EF4-FFF2-40B4-BE49-F238E27FC236}">
                <a16:creationId xmlns:a16="http://schemas.microsoft.com/office/drawing/2014/main" id="{109C5ED8-DB8F-42E3-BD3A-41B90B010C01}"/>
              </a:ext>
            </a:extLst>
          </p:cNvPr>
          <p:cNvSpPr>
            <a:spLocks xmlns:a="http://schemas.openxmlformats.org/drawingml/2006/main" noGrp="1"/>
          </p:cNvSpPr>
          <p:nvPr/>
        </p:nvSpPr>
        <p:spPr>
          <a:xfrm xmlns:a="http://schemas.openxmlformats.org/drawingml/2006/main">
            <a:off x="95250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7" name="workflow-expert-0">
            <a:extLst xmlns:a="http://schemas.openxmlformats.org/drawingml/2006/main">
              <a:ext uri="{FF2B5EF4-FFF2-40B4-BE49-F238E27FC236}">
                <a16:creationId xmlns:a16="http://schemas.microsoft.com/office/drawing/2014/main" id="{5C6AD880-3613-4418-A885-78EF8585A604}"/>
              </a:ext>
            </a:extLst>
          </p:cNvPr>
          <p:cNvSpPr>
            <a:spLocks xmlns:a="http://schemas.openxmlformats.org/drawingml/2006/main" noGrp="1"/>
          </p:cNvSpPr>
          <p:nvPr/>
        </p:nvSpPr>
        <p:spPr>
          <a:xfrm xmlns:a="http://schemas.openxmlformats.org/drawingml/2006/main">
            <a:off x="95250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MOBILE APPLICATION</a:t>
            </a:r>
          </a:p>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DEVELOPER</a:t>
            </a:r>
          </a:p>
        </p:txBody>
      </p:sp>
      <p:sp>
        <p:nvSpPr>
          <p:cNvPr id="8" name="workflow-dot-0">
            <a:extLst xmlns:a="http://schemas.openxmlformats.org/drawingml/2006/main">
              <a:ext uri="{FF2B5EF4-FFF2-40B4-BE49-F238E27FC236}">
                <a16:creationId xmlns:a16="http://schemas.microsoft.com/office/drawing/2014/main" id="{98DF7375-F8CD-4F92-ADFE-E67EFA1F6ABA}"/>
              </a:ext>
            </a:extLst>
          </p:cNvPr>
          <p:cNvSpPr>
            <a:spLocks xmlns:a="http://schemas.openxmlformats.org/drawingml/2006/main" noGrp="1"/>
          </p:cNvSpPr>
          <p:nvPr/>
        </p:nvSpPr>
        <p:spPr>
          <a:xfrm xmlns:a="http://schemas.openxmlformats.org/drawingml/2006/main">
            <a:off x="885825" y="3143250"/>
            <a:ext cx="152400" cy="15240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9" name="workflow-body-0">
            <a:extLst xmlns:a="http://schemas.openxmlformats.org/drawingml/2006/main">
              <a:ext uri="{FF2B5EF4-FFF2-40B4-BE49-F238E27FC236}">
                <a16:creationId xmlns:a16="http://schemas.microsoft.com/office/drawing/2014/main" id="{CC84A853-25DB-465A-87B8-A384259E95EE}"/>
              </a:ext>
            </a:extLst>
          </p:cNvPr>
          <p:cNvSpPr>
            <a:spLocks xmlns:a="http://schemas.openxmlformats.org/drawingml/2006/main" noGrp="1"/>
          </p:cNvSpPr>
          <p:nvPr/>
        </p:nvSpPr>
        <p:spPr>
          <a:xfrm xmlns:a="http://schemas.openxmlformats.org/drawingml/2006/main">
            <a:off x="95250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Trace the Android journey</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Find evidence-backed issues</a:t>
            </a:r>
          </a:p>
        </p:txBody>
      </p:sp>
      <p:sp>
        <p:nvSpPr>
          <p:cNvPr id="10" name="workflow-no-1">
            <a:extLst xmlns:a="http://schemas.openxmlformats.org/drawingml/2006/main">
              <a:ext uri="{FF2B5EF4-FFF2-40B4-BE49-F238E27FC236}">
                <a16:creationId xmlns:a16="http://schemas.microsoft.com/office/drawing/2014/main" id="{D4173268-6CB0-4950-9027-478BF2E04878}"/>
              </a:ext>
            </a:extLst>
          </p:cNvPr>
          <p:cNvSpPr>
            <a:spLocks xmlns:a="http://schemas.openxmlformats.org/drawingml/2006/main" noGrp="1"/>
          </p:cNvSpPr>
          <p:nvPr/>
        </p:nvSpPr>
        <p:spPr>
          <a:xfrm xmlns:a="http://schemas.openxmlformats.org/drawingml/2006/main">
            <a:off x="447675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11" name="workflow-model-1">
            <a:extLst xmlns:a="http://schemas.openxmlformats.org/drawingml/2006/main">
              <a:ext uri="{FF2B5EF4-FFF2-40B4-BE49-F238E27FC236}">
                <a16:creationId xmlns:a16="http://schemas.microsoft.com/office/drawing/2014/main" id="{CE5DD728-2CED-48C1-9F9E-58DDF1A051E5}"/>
              </a:ext>
            </a:extLst>
          </p:cNvPr>
          <p:cNvSpPr>
            <a:spLocks xmlns:a="http://schemas.openxmlformats.org/drawingml/2006/main" noGrp="1"/>
          </p:cNvSpPr>
          <p:nvPr/>
        </p:nvSpPr>
        <p:spPr>
          <a:xfrm xmlns:a="http://schemas.openxmlformats.org/drawingml/2006/main">
            <a:off x="447675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KIMI-K3</a:t>
            </a:r>
          </a:p>
        </p:txBody>
      </p:sp>
      <p:sp>
        <p:nvSpPr>
          <p:cNvPr id="12" name="workflow-expert-1">
            <a:extLst xmlns:a="http://schemas.openxmlformats.org/drawingml/2006/main">
              <a:ext uri="{FF2B5EF4-FFF2-40B4-BE49-F238E27FC236}">
                <a16:creationId xmlns:a16="http://schemas.microsoft.com/office/drawing/2014/main" id="{5E31926E-8203-4FB7-8E3B-44DE51798A87}"/>
              </a:ext>
            </a:extLst>
          </p:cNvPr>
          <p:cNvSpPr>
            <a:spLocks xmlns:a="http://schemas.openxmlformats.org/drawingml/2006/main" noGrp="1"/>
          </p:cNvSpPr>
          <p:nvPr/>
        </p:nvSpPr>
        <p:spPr>
          <a:xfrm xmlns:a="http://schemas.openxmlformats.org/drawingml/2006/main">
            <a:off x="447675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UI DESIGNER</a:t>
            </a:r>
          </a:p>
        </p:txBody>
      </p:sp>
      <p:sp>
        <p:nvSpPr>
          <p:cNvPr id="13" name="workflow-dot-1">
            <a:extLst xmlns:a="http://schemas.openxmlformats.org/drawingml/2006/main">
              <a:ext uri="{FF2B5EF4-FFF2-40B4-BE49-F238E27FC236}">
                <a16:creationId xmlns:a16="http://schemas.microsoft.com/office/drawing/2014/main" id="{F607FA11-830E-4A71-8E3C-68A3577E5530}"/>
              </a:ext>
            </a:extLst>
          </p:cNvPr>
          <p:cNvSpPr>
            <a:spLocks xmlns:a="http://schemas.openxmlformats.org/drawingml/2006/main" noGrp="1"/>
          </p:cNvSpPr>
          <p:nvPr/>
        </p:nvSpPr>
        <p:spPr>
          <a:xfrm xmlns:a="http://schemas.openxmlformats.org/drawingml/2006/main">
            <a:off x="4410075" y="3143250"/>
            <a:ext cx="152400" cy="1524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workflow-body-1">
            <a:extLst xmlns:a="http://schemas.openxmlformats.org/drawingml/2006/main">
              <a:ext uri="{FF2B5EF4-FFF2-40B4-BE49-F238E27FC236}">
                <a16:creationId xmlns:a16="http://schemas.microsoft.com/office/drawing/2014/main" id="{F83F570A-46E2-42CA-AB7D-4E3AFC807EBF}"/>
              </a:ext>
            </a:extLst>
          </p:cNvPr>
          <p:cNvSpPr>
            <a:spLocks xmlns:a="http://schemas.openxmlformats.org/drawingml/2006/main" noGrp="1"/>
          </p:cNvSpPr>
          <p:nvPr/>
        </p:nvSpPr>
        <p:spPr>
          <a:xfrm xmlns:a="http://schemas.openxmlformats.org/drawingml/2006/main">
            <a:off x="447675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Challenge comprehension</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Refine Stop + Reset</a:t>
            </a:r>
          </a:p>
        </p:txBody>
      </p:sp>
      <p:sp>
        <p:nvSpPr>
          <p:cNvPr id="15" name="workflow-no-2">
            <a:extLst xmlns:a="http://schemas.openxmlformats.org/drawingml/2006/main">
              <a:ext uri="{FF2B5EF4-FFF2-40B4-BE49-F238E27FC236}">
                <a16:creationId xmlns:a16="http://schemas.microsoft.com/office/drawing/2014/main" id="{033419E2-8DB2-4631-BCE4-03EB945FF8BE}"/>
              </a:ext>
            </a:extLst>
          </p:cNvPr>
          <p:cNvSpPr>
            <a:spLocks xmlns:a="http://schemas.openxmlformats.org/drawingml/2006/main" noGrp="1"/>
          </p:cNvSpPr>
          <p:nvPr/>
        </p:nvSpPr>
        <p:spPr>
          <a:xfrm xmlns:a="http://schemas.openxmlformats.org/drawingml/2006/main">
            <a:off x="800100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03</a:t>
            </a:r>
          </a:p>
        </p:txBody>
      </p:sp>
      <p:sp>
        <p:nvSpPr>
          <p:cNvPr id="16" name="workflow-model-2">
            <a:extLst xmlns:a="http://schemas.openxmlformats.org/drawingml/2006/main">
              <a:ext uri="{FF2B5EF4-FFF2-40B4-BE49-F238E27FC236}">
                <a16:creationId xmlns:a16="http://schemas.microsoft.com/office/drawing/2014/main" id="{4D1A5A23-68B6-4BB7-8BD3-061E3C7339E7}"/>
              </a:ext>
            </a:extLst>
          </p:cNvPr>
          <p:cNvSpPr>
            <a:spLocks xmlns:a="http://schemas.openxmlformats.org/drawingml/2006/main" noGrp="1"/>
          </p:cNvSpPr>
          <p:nvPr/>
        </p:nvSpPr>
        <p:spPr>
          <a:xfrm xmlns:a="http://schemas.openxmlformats.org/drawingml/2006/main">
            <a:off x="800100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17" name="workflow-expert-2">
            <a:extLst xmlns:a="http://schemas.openxmlformats.org/drawingml/2006/main">
              <a:ext uri="{FF2B5EF4-FFF2-40B4-BE49-F238E27FC236}">
                <a16:creationId xmlns:a16="http://schemas.microsoft.com/office/drawing/2014/main" id="{C6B9C73D-1249-4465-B02C-AFA006F2586F}"/>
              </a:ext>
            </a:extLst>
          </p:cNvPr>
          <p:cNvSpPr>
            <a:spLocks xmlns:a="http://schemas.openxmlformats.org/drawingml/2006/main" noGrp="1"/>
          </p:cNvSpPr>
          <p:nvPr/>
        </p:nvSpPr>
        <p:spPr>
          <a:xfrm xmlns:a="http://schemas.openxmlformats.org/drawingml/2006/main">
            <a:off x="800100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SOFTWARE WORKSHOP</a:t>
            </a:r>
          </a:p>
        </p:txBody>
      </p:sp>
      <p:sp>
        <p:nvSpPr>
          <p:cNvPr id="18" name="workflow-dot-2">
            <a:extLst xmlns:a="http://schemas.openxmlformats.org/drawingml/2006/main">
              <a:ext uri="{FF2B5EF4-FFF2-40B4-BE49-F238E27FC236}">
                <a16:creationId xmlns:a16="http://schemas.microsoft.com/office/drawing/2014/main" id="{8AA47721-5D49-48FF-8E04-3F7AC7DB9F17}"/>
              </a:ext>
            </a:extLst>
          </p:cNvPr>
          <p:cNvSpPr>
            <a:spLocks xmlns:a="http://schemas.openxmlformats.org/drawingml/2006/main" noGrp="1"/>
          </p:cNvSpPr>
          <p:nvPr/>
        </p:nvSpPr>
        <p:spPr>
          <a:xfrm xmlns:a="http://schemas.openxmlformats.org/drawingml/2006/main">
            <a:off x="7934325" y="3143250"/>
            <a:ext cx="152400" cy="15240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19" name="workflow-body-2">
            <a:extLst xmlns:a="http://schemas.openxmlformats.org/drawingml/2006/main">
              <a:ext uri="{FF2B5EF4-FFF2-40B4-BE49-F238E27FC236}">
                <a16:creationId xmlns:a16="http://schemas.microsoft.com/office/drawing/2014/main" id="{8DF4E4AD-05CB-42FB-8FBD-7E4D84A8136B}"/>
              </a:ext>
            </a:extLst>
          </p:cNvPr>
          <p:cNvSpPr>
            <a:spLocks xmlns:a="http://schemas.openxmlformats.org/drawingml/2006/main" noGrp="1"/>
          </p:cNvSpPr>
          <p:nvPr/>
        </p:nvSpPr>
        <p:spPr>
          <a:xfrm xmlns:a="http://schemas.openxmlformats.org/drawingml/2006/main">
            <a:off x="800100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Implement selected changes</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Rebuild + verify on OnePlus</a:t>
            </a:r>
          </a:p>
        </p:txBody>
      </p:sp>
      <p:sp>
        <p:nvSpPr>
          <p:cNvPr id="20" name="workflow-summary">
            <a:extLst xmlns:a="http://schemas.openxmlformats.org/drawingml/2006/main">
              <a:ext uri="{FF2B5EF4-FFF2-40B4-BE49-F238E27FC236}">
                <a16:creationId xmlns:a16="http://schemas.microsoft.com/office/drawing/2014/main" id="{B5C33FA0-70C0-46BD-B864-CB28B16F52AE}"/>
              </a:ext>
            </a:extLst>
          </p:cNvPr>
          <p:cNvSpPr>
            <a:spLocks xmlns:a="http://schemas.openxmlformats.org/drawingml/2006/main" noGrp="1"/>
          </p:cNvSpPr>
          <p:nvPr/>
        </p:nvSpPr>
        <p:spPr>
          <a:xfrm xmlns:a="http://schemas.openxmlformats.org/drawingml/2006/main">
            <a:off x="952500" y="5410200"/>
            <a:ext cx="10287000" cy="666750"/>
          </a:xfrm>
          <a:prstGeom xmlns:a="http://schemas.openxmlformats.org/drawingml/2006/main" prst="roundRect">
            <a:avLst>
              <a:gd name="adj" fmla="val 11429"/>
            </a:avLst>
          </a:prstGeom>
          <a:solidFill xmlns:a="http://schemas.openxmlformats.org/drawingml/2006/main">
            <a:srgbClr val="0A2D55"/>
          </a:solidFill>
          <a:ln xmlns:a="http://schemas.openxmlformats.org/drawingml/2006/main" w="0">
            <a:noFill/>
            <a:prstDash val="solid"/>
          </a:ln>
        </p:spPr>
      </p:sp>
      <p:sp>
        <p:nvSpPr>
          <p:cNvPr id="21" name="workflow-summary-text">
            <a:extLst xmlns:a="http://schemas.openxmlformats.org/drawingml/2006/main">
              <a:ext uri="{FF2B5EF4-FFF2-40B4-BE49-F238E27FC236}">
                <a16:creationId xmlns:a16="http://schemas.microsoft.com/office/drawing/2014/main" id="{4B049D32-094B-44AC-A4A8-A3037862B395}"/>
              </a:ext>
            </a:extLst>
          </p:cNvPr>
          <p:cNvSpPr>
            <a:spLocks xmlns:a="http://schemas.openxmlformats.org/drawingml/2006/main" noGrp="1"/>
          </p:cNvSpPr>
          <p:nvPr/>
        </p:nvSpPr>
        <p:spPr>
          <a:xfrm xmlns:a="http://schemas.openxmlformats.org/drawingml/2006/main">
            <a:off x="1238250" y="5629275"/>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INVESTIGATE  →  CHALLENGE  →  IMPLEMENT  →  VERIFY</a:t>
            </a:r>
          </a:p>
        </p:txBody>
      </p:sp>
      <p:sp>
        <p:nvSpPr>
          <p:cNvPr id="22" name="footer-rule-5">
            <a:extLst xmlns:a="http://schemas.openxmlformats.org/drawingml/2006/main">
              <a:ext uri="{FF2B5EF4-FFF2-40B4-BE49-F238E27FC236}">
                <a16:creationId xmlns:a16="http://schemas.microsoft.com/office/drawing/2014/main" id="{202A9F60-DFEC-4DA4-869C-469F32768D61}"/>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3" name="footer-left-5">
            <a:extLst xmlns:a="http://schemas.openxmlformats.org/drawingml/2006/main">
              <a:ext uri="{FF2B5EF4-FFF2-40B4-BE49-F238E27FC236}">
                <a16:creationId xmlns:a16="http://schemas.microsoft.com/office/drawing/2014/main" id="{9C3108CA-82A8-47FC-9E70-1FF58B7FE527}"/>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4" name="footer-number-5">
            <a:extLst xmlns:a="http://schemas.openxmlformats.org/drawingml/2006/main">
              <a:ext uri="{FF2B5EF4-FFF2-40B4-BE49-F238E27FC236}">
                <a16:creationId xmlns:a16="http://schemas.microsoft.com/office/drawing/2014/main" id="{A5FCB590-B669-43AD-81DC-B55587A01DF2}"/>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05</a:t>
            </a:r>
          </a:p>
        </p:txBody>
      </p:sp>
    </p:spTree>
    <p:extLst>
      <p:ext uri="{BB962C8B-B14F-4D97-AF65-F5344CB8AC3E}">
        <p14:creationId xmlns:p14="http://schemas.microsoft.com/office/powerpoint/2010/main" val="12604730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uture-eyebrow">
            <a:extLst xmlns:a="http://schemas.openxmlformats.org/drawingml/2006/main">
              <a:ext uri="{FF2B5EF4-FFF2-40B4-BE49-F238E27FC236}">
                <a16:creationId xmlns:a16="http://schemas.microsoft.com/office/drawing/2014/main" id="{87F19166-C3D4-4531-8320-164C21573540}"/>
              </a:ext>
            </a:extLst>
          </p:cNvPr>
          <p:cNvSpPr>
            <a:spLocks xmlns:a="http://schemas.openxmlformats.org/drawingml/2006/main" noGrp="1"/>
          </p:cNvSpPr>
          <p:nvPr/>
        </p:nvSpPr>
        <p:spPr>
          <a:xfrm xmlns:a="http://schemas.openxmlformats.org/drawingml/2006/main">
            <a:off x="609600" y="457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FUTURE</a:t>
            </a:r>
          </a:p>
        </p:txBody>
      </p:sp>
      <p:sp>
        <p:nvSpPr>
          <p:cNvPr id="2" name="future-title">
            <a:extLst xmlns:a="http://schemas.openxmlformats.org/drawingml/2006/main">
              <a:ext uri="{FF2B5EF4-FFF2-40B4-BE49-F238E27FC236}">
                <a16:creationId xmlns:a16="http://schemas.microsoft.com/office/drawing/2014/main" id="{3A26B8FE-062C-4748-B6A5-2921785A9236}"/>
              </a:ext>
            </a:extLst>
          </p:cNvPr>
          <p:cNvSpPr>
            <a:spLocks xmlns:a="http://schemas.openxmlformats.org/drawingml/2006/main" noGrp="1"/>
          </p:cNvSpPr>
          <p:nvPr/>
        </p:nvSpPr>
        <p:spPr>
          <a:xfrm xmlns:a="http://schemas.openxmlformats.org/drawingml/2006/main">
            <a:off x="609600" y="1476375"/>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gaps. One more capable camera.</a:t>
            </a:r>
          </a:p>
        </p:txBody>
      </p:sp>
      <p:sp>
        <p:nvSpPr>
          <p:cNvPr id="3" name="future-key-0">
            <a:extLst xmlns:a="http://schemas.openxmlformats.org/drawingml/2006/main">
              <a:ext uri="{FF2B5EF4-FFF2-40B4-BE49-F238E27FC236}">
                <a16:creationId xmlns:a16="http://schemas.microsoft.com/office/drawing/2014/main" id="{24B8643D-D08E-442C-8FCA-8F148F4019FE}"/>
              </a:ext>
            </a:extLst>
          </p:cNvPr>
          <p:cNvSpPr>
            <a:spLocks xmlns:a="http://schemas.openxmlformats.org/drawingml/2006/main" noGrp="1"/>
          </p:cNvSpPr>
          <p:nvPr/>
        </p:nvSpPr>
        <p:spPr>
          <a:xfrm xmlns:a="http://schemas.openxmlformats.org/drawingml/2006/main">
            <a:off x="609600" y="42386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FOCUS</a:t>
            </a:r>
          </a:p>
        </p:txBody>
      </p:sp>
      <p:sp>
        <p:nvSpPr>
          <p:cNvPr id="4" name="future-value-0">
            <a:extLst xmlns:a="http://schemas.openxmlformats.org/drawingml/2006/main">
              <a:ext uri="{FF2B5EF4-FFF2-40B4-BE49-F238E27FC236}">
                <a16:creationId xmlns:a16="http://schemas.microsoft.com/office/drawing/2014/main" id="{BAC18AE5-235D-43D8-8DE0-D628F88306A5}"/>
              </a:ext>
            </a:extLst>
          </p:cNvPr>
          <p:cNvSpPr>
            <a:spLocks xmlns:a="http://schemas.openxmlformats.org/drawingml/2006/main" noGrp="1"/>
          </p:cNvSpPr>
          <p:nvPr/>
        </p:nvSpPr>
        <p:spPr>
          <a:xfrm xmlns:a="http://schemas.openxmlformats.org/drawingml/2006/main">
            <a:off x="2238375" y="42195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Object masks replace coarse grid cells</a:t>
            </a:r>
          </a:p>
        </p:txBody>
      </p:sp>
      <p:sp>
        <p:nvSpPr>
          <p:cNvPr id="5" name="future-key-1">
            <a:extLst xmlns:a="http://schemas.openxmlformats.org/drawingml/2006/main">
              <a:ext uri="{FF2B5EF4-FFF2-40B4-BE49-F238E27FC236}">
                <a16:creationId xmlns:a16="http://schemas.microsoft.com/office/drawing/2014/main" id="{031C24DB-7448-4465-BB77-A7EFC434BAF6}"/>
              </a:ext>
            </a:extLst>
          </p:cNvPr>
          <p:cNvSpPr>
            <a:spLocks xmlns:a="http://schemas.openxmlformats.org/drawingml/2006/main" noGrp="1"/>
          </p:cNvSpPr>
          <p:nvPr/>
        </p:nvSpPr>
        <p:spPr>
          <a:xfrm xmlns:a="http://schemas.openxmlformats.org/drawingml/2006/main">
            <a:off x="609600" y="47720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SPEED</a:t>
            </a:r>
          </a:p>
        </p:txBody>
      </p:sp>
      <p:sp>
        <p:nvSpPr>
          <p:cNvPr id="6" name="future-value-1">
            <a:extLst xmlns:a="http://schemas.openxmlformats.org/drawingml/2006/main">
              <a:ext uri="{FF2B5EF4-FFF2-40B4-BE49-F238E27FC236}">
                <a16:creationId xmlns:a16="http://schemas.microsoft.com/office/drawing/2014/main" id="{EFDB5DE2-35AC-4149-B49B-E2C8C02C338B}"/>
              </a:ext>
            </a:extLst>
          </p:cNvPr>
          <p:cNvSpPr>
            <a:spLocks xmlns:a="http://schemas.openxmlformats.org/drawingml/2006/main" noGrp="1"/>
          </p:cNvSpPr>
          <p:nvPr/>
        </p:nvSpPr>
        <p:spPr>
          <a:xfrm xmlns:a="http://schemas.openxmlformats.org/drawingml/2006/main">
            <a:off x="2238375" y="47529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On-device commands + fast vision on Cerebras</a:t>
            </a:r>
          </a:p>
        </p:txBody>
      </p:sp>
      <p:sp>
        <p:nvSpPr>
          <p:cNvPr id="7" name="future-key-2">
            <a:extLst xmlns:a="http://schemas.openxmlformats.org/drawingml/2006/main">
              <a:ext uri="{FF2B5EF4-FFF2-40B4-BE49-F238E27FC236}">
                <a16:creationId xmlns:a16="http://schemas.microsoft.com/office/drawing/2014/main" id="{89410380-AFEB-4B77-8647-E6FF2C0489B4}"/>
              </a:ext>
            </a:extLst>
          </p:cNvPr>
          <p:cNvSpPr>
            <a:spLocks xmlns:a="http://schemas.openxmlformats.org/drawingml/2006/main" noGrp="1"/>
          </p:cNvSpPr>
          <p:nvPr/>
        </p:nvSpPr>
        <p:spPr>
          <a:xfrm xmlns:a="http://schemas.openxmlformats.org/drawingml/2006/main">
            <a:off x="609600" y="53054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AESTHETICS</a:t>
            </a:r>
          </a:p>
        </p:txBody>
      </p:sp>
      <p:sp>
        <p:nvSpPr>
          <p:cNvPr id="8" name="future-value-2">
            <a:extLst xmlns:a="http://schemas.openxmlformats.org/drawingml/2006/main">
              <a:ext uri="{FF2B5EF4-FFF2-40B4-BE49-F238E27FC236}">
                <a16:creationId xmlns:a16="http://schemas.microsoft.com/office/drawing/2014/main" id="{5DA8C8AE-4FDE-4387-AFBF-6C2CF4837A06}"/>
              </a:ext>
            </a:extLst>
          </p:cNvPr>
          <p:cNvSpPr>
            <a:spLocks xmlns:a="http://schemas.openxmlformats.org/drawingml/2006/main" noGrp="1"/>
          </p:cNvSpPr>
          <p:nvPr/>
        </p:nvSpPr>
        <p:spPr>
          <a:xfrm xmlns:a="http://schemas.openxmlformats.org/drawingml/2006/main">
            <a:off x="2238375" y="52863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Rapid variants → user choice → learned preferences</a:t>
            </a:r>
          </a:p>
        </p:txBody>
      </p:sp>
      <p:sp>
        <p:nvSpPr>
          <p:cNvPr id="9" name="future-accent">
            <a:extLst xmlns:a="http://schemas.openxmlformats.org/drawingml/2006/main">
              <a:ext uri="{FF2B5EF4-FFF2-40B4-BE49-F238E27FC236}">
                <a16:creationId xmlns:a16="http://schemas.microsoft.com/office/drawing/2014/main" id="{E4E57066-CE7B-447C-B9DB-8A947F614939}"/>
              </a:ext>
            </a:extLst>
          </p:cNvPr>
          <p:cNvSpPr>
            <a:spLocks xmlns:a="http://schemas.openxmlformats.org/drawingml/2006/main" noGrp="1"/>
          </p:cNvSpPr>
          <p:nvPr/>
        </p:nvSpPr>
        <p:spPr>
          <a:xfrm xmlns:a="http://schemas.openxmlformats.org/drawingml/2006/main">
            <a:off x="9525000" y="4267200"/>
            <a:ext cx="76200" cy="1504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future-tagline">
            <a:extLst xmlns:a="http://schemas.openxmlformats.org/drawingml/2006/main">
              <a:ext uri="{FF2B5EF4-FFF2-40B4-BE49-F238E27FC236}">
                <a16:creationId xmlns:a16="http://schemas.microsoft.com/office/drawing/2014/main" id="{5AF258AA-76A3-4D09-9A1D-7717E4D1C412}"/>
              </a:ext>
            </a:extLst>
          </p:cNvPr>
          <p:cNvSpPr>
            <a:spLocks xmlns:a="http://schemas.openxmlformats.org/drawingml/2006/main" noGrp="1"/>
          </p:cNvSpPr>
          <p:nvPr/>
        </p:nvSpPr>
        <p:spPr>
          <a:xfrm xmlns:a="http://schemas.openxmlformats.org/drawingml/2006/main">
            <a:off x="9810750" y="4210050"/>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PRECISE.</a:t>
            </a:r>
          </a:p>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RESPONSIVE.</a:t>
            </a:r>
          </a:p>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PERSONAL.</a:t>
            </a:r>
          </a:p>
        </p:txBody>
      </p:sp>
      <p:sp>
        <p:nvSpPr>
          <p:cNvPr id="11" name="future-team">
            <a:extLst xmlns:a="http://schemas.openxmlformats.org/drawingml/2006/main">
              <a:ext uri="{FF2B5EF4-FFF2-40B4-BE49-F238E27FC236}">
                <a16:creationId xmlns:a16="http://schemas.microsoft.com/office/drawing/2014/main" id="{B690C94B-AA26-4497-BBF2-5961438176FC}"/>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FIVECENT · PHOTO HELPER</a:t>
            </a:r>
          </a:p>
        </p:txBody>
      </p:sp>
    </p:spTree>
    <p:extLst>
      <p:ext uri="{BB962C8B-B14F-4D97-AF65-F5344CB8AC3E}">
        <p14:creationId xmlns:p14="http://schemas.microsoft.com/office/powerpoint/2010/main" val="307979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2026-08-22T09:11:06.0300000Z</dcterms:created>
  <dcterms:modified xsi:type="dcterms:W3CDTF">2026-08-22T09:11:06.0300000Z</dcterms:modified>
</coreProperties>
</file>