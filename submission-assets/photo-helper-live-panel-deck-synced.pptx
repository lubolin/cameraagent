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52576" autoAdjust="0"/>
  </p:normalViewPr>
  <p:slideViewPr>
    <p:cSldViewPr snapToGrid="0">
      <p:cViewPr varScale="1">
        <p:scale>
          <a:sx n="105" d="100"/>
          <a:sy n="105" d="100"/>
        </p:scale>
        <p:origin x="3682"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0:00–0:12 — Introduce the team</a:t>
            </a:r>
          </a:p>
          <a:p>
            <a:endParaRPr/>
          </a:p>
          <a:p>
            <a:r>
              <a:t>Good afternoon. We’re Team Fivecent—Lu Bolin, Ethan Yap, and Nathanael Leong—and we built Photo Helper.</a:t>
            </a:r>
          </a:p>
          <a:p>
            <a:endParaRPr/>
          </a:p>
          <a:p>
            <a:r>
              <a:t>0:12–0:35 — Establish the problem with the panda image visible</a:t>
            </a:r>
          </a:p>
          <a:p>
            <a:endParaRPr/>
          </a:p>
          <a:p>
            <a:r>
              <a:t>People usually know the result they want: a brighter image, focus on the right subject, or enough time to join the picture. The difficult part is translating that intention into camera controls.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0:35–1:18 — Explain the technical workflow</a:t>
            </a:r>
          </a:p>
          <a:p>
            <a:endParaRPr dirty="0"/>
          </a:p>
          <a:p>
            <a:r>
              <a:rPr dirty="0"/>
              <a:t>Photo Helper is a voice-first camera agent designed for mobile phones; our current prototype runs natively on Android. The app captures speech on the phone, then combines the transcription with a reduced frame from the live scene and the camera’s current capabilities.</a:t>
            </a:r>
            <a:r>
              <a:rPr lang="en-US" dirty="0"/>
              <a:t> Does your grandmother know how to focus on you when taking a photo? Does your dad know how to make the color warmer? Or even you, are you using your camera fully? Do you know how ISO works? Photo helper can help all of you.</a:t>
            </a:r>
          </a:p>
          <a:p>
            <a:endParaRPr lang="en-US" dirty="0"/>
          </a:p>
          <a:p>
            <a:r>
              <a:rPr lang="en-US" dirty="0"/>
              <a:t>We pass the speech and frame data to a multimodal model. The model of choice is </a:t>
            </a:r>
            <a:r>
              <a:rPr lang="en-US" dirty="0" err="1"/>
              <a:t>qwen</a:t>
            </a:r>
            <a:r>
              <a:rPr lang="en-US" dirty="0"/>
              <a:t> 3.7 flash, but in principle any would work.</a:t>
            </a:r>
            <a:endParaRPr dirty="0"/>
          </a:p>
          <a:p>
            <a:endParaRPr dirty="0"/>
          </a:p>
          <a:p>
            <a:r>
              <a:rPr dirty="0"/>
              <a:t>Qwen turns those inputs into a small, ordered plan using supported actions such as brightness, zoom, white balance, focus, timer, and capture. Android remains the execution layer: it validates each step against the device, applies supported actions through the camera APIs, and preserves Reset whenever a change can be reversed.</a:t>
            </a:r>
          </a:p>
          <a:p>
            <a:endParaRPr dirty="0"/>
          </a:p>
          <a:p>
            <a:r>
              <a:rPr dirty="0"/>
              <a:t>1:18–1:30 — Introduce Smart Mode and transition to the demo</a:t>
            </a:r>
            <a:endParaRPr lang="en-US" dirty="0"/>
          </a:p>
          <a:p>
            <a:endParaRPr dirty="0"/>
          </a:p>
          <a:p>
            <a:r>
              <a:rPr dirty="0"/>
              <a:t>Users can state an exact outcome, or tap Smart Mode to make a one-step request: “Make this shot look nicer.” It uses the same bounded planning and validation path. Let me show you the result.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1:30–1:38 — Switch to the prepared demo footage</a:t>
            </a:r>
          </a:p>
          <a:p>
            <a:endParaRPr dirty="0"/>
          </a:p>
          <a:p>
            <a:r>
              <a:rPr dirty="0"/>
              <a:t>This is the working prototype on a real phone. I am giving it one request that combines an adjustment, a visual focus target, and a timed capture.</a:t>
            </a:r>
          </a:p>
          <a:p>
            <a:endParaRPr dirty="0"/>
          </a:p>
          <a:p>
            <a:r>
              <a:rPr dirty="0"/>
              <a:t>1:38–1:48 — Let the recorded command play clearly</a:t>
            </a:r>
          </a:p>
          <a:p>
            <a:endParaRPr dirty="0"/>
          </a:p>
          <a:p>
            <a:r>
              <a:rPr dirty="0"/>
              <a:t>“Make the picture brighter, focus on the panda, and take a photo in five seconds.”</a:t>
            </a:r>
          </a:p>
          <a:p>
            <a:endParaRPr dirty="0"/>
          </a:p>
          <a:p>
            <a:r>
              <a:rPr dirty="0"/>
              <a:t>1:48–2:15 — Narrate while the plan and camera actions appear</a:t>
            </a:r>
          </a:p>
          <a:p>
            <a:endParaRPr dirty="0"/>
          </a:p>
          <a:p>
            <a:r>
              <a:rPr dirty="0"/>
              <a:t>The transcript, scene frame, and camera context produce the ordered plan you see here. Android validates each step, then executes the sequence: increase brightness, focus on the panda, run the countdown, and capture the photo.</a:t>
            </a:r>
          </a:p>
          <a:p>
            <a:endParaRPr dirty="0"/>
          </a:p>
          <a:p>
            <a:r>
              <a:rPr dirty="0"/>
              <a:t>When the countdown reaches three, stop talking. Let the final beats and shutter carry the demo.</a:t>
            </a:r>
          </a:p>
          <a:p>
            <a:endParaRPr dirty="0"/>
          </a:p>
          <a:p>
            <a:r>
              <a:rPr dirty="0"/>
              <a:t>2:15–2:30 — Let the Smart Mode clip play and land the demo</a:t>
            </a:r>
          </a:p>
          <a:p>
            <a:endParaRPr dirty="0"/>
          </a:p>
          <a:p>
            <a:r>
              <a:rPr dirty="0"/>
              <a:t>That entire flow came from one spoken request. The second clip shows Smart Mode using the same system when the user simply asks the camera to make the shot look nicer.</a:t>
            </a:r>
          </a:p>
          <a:p>
            <a:endParaRPr dirty="0"/>
          </a:p>
          <a:p>
            <a:r>
              <a:rPr dirty="0"/>
              <a:t>Playback fallback: Keep a second copy of the combined one-minute video on the presentation laptop. If playback fails, switch to that copy immediately.</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2:30–2:42 — Return to the deck and connect the demo to the development workflow</a:t>
            </a:r>
          </a:p>
          <a:p>
            <a:endParaRPr dirty="0"/>
          </a:p>
          <a:p>
            <a:r>
              <a:rPr dirty="0"/>
              <a:t>That is the user experience. I also want to explain how </a:t>
            </a:r>
            <a:r>
              <a:rPr dirty="0" err="1"/>
              <a:t>WorkBuddy</a:t>
            </a:r>
            <a:r>
              <a:rPr dirty="0"/>
              <a:t> helped us move from an end-to-end prototype to this polished flow.</a:t>
            </a:r>
          </a:p>
          <a:p>
            <a:endParaRPr dirty="0"/>
          </a:p>
          <a:p>
            <a:r>
              <a:rPr dirty="0"/>
              <a:t>2:42–3:10 — Explain why and how </a:t>
            </a:r>
            <a:r>
              <a:rPr dirty="0" err="1"/>
              <a:t>WorkBuddy</a:t>
            </a:r>
            <a:r>
              <a:rPr dirty="0"/>
              <a:t> was used</a:t>
            </a:r>
          </a:p>
          <a:p>
            <a:endParaRPr dirty="0"/>
          </a:p>
          <a:p>
            <a:r>
              <a:rPr dirty="0"/>
              <a:t>We began with GPT-based tools because they were familiar and gave us tighter control over token usage during rapid build-and-debug loops. But setting up separate mobile-development and UI-design skills, plus their MCP integrations, became complicated. That led us to try </a:t>
            </a:r>
            <a:r>
              <a:rPr dirty="0" err="1"/>
              <a:t>WorkBuddy</a:t>
            </a:r>
            <a:r>
              <a:rPr dirty="0"/>
              <a:t>. It surprised us by turning different models and specialist roles into one structured product-quality workflow.</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3:10–3:43 — Stage one: mobile engineering review</a:t>
            </a:r>
          </a:p>
          <a:p>
            <a:endParaRPr dirty="0"/>
          </a:p>
          <a:p>
            <a:r>
              <a:rPr dirty="0"/>
              <a:t>First, HY3 worked with the Mobile Application Developer expert. We supplied the Android workspace, product documents, screenshots, tests, and intended journey. It traced the experience from onboarding and permissions through voice input, AI planning, camera actions, and failure recovery. For every issue, it had to explain user impact, point to implementation evidence, and recommend the smallest credible fix.</a:t>
            </a:r>
          </a:p>
          <a:p>
            <a:endParaRPr dirty="0"/>
          </a:p>
          <a:p>
            <a:r>
              <a:rPr dirty="0"/>
              <a:t>3:43–4:05 — Stage two: user-interface review</a:t>
            </a:r>
          </a:p>
          <a:p>
            <a:endParaRPr dirty="0"/>
          </a:p>
          <a:p>
            <a:r>
              <a:rPr dirty="0"/>
              <a:t>Next, Kimi-K3 worked with the UI Designer expert as a fresh pair of eyes. This review focused on comprehension, accessibility, and recovery. It helped us align the listening guidance with the compact square Stop button and keep Reset available whenever an adjustment could still be reversed.</a:t>
            </a:r>
          </a:p>
          <a:p>
            <a:endParaRPr dirty="0"/>
          </a:p>
          <a:p>
            <a:r>
              <a:rPr dirty="0"/>
              <a:t>4:05–4:20 — Stage three: implementation and device verification</a:t>
            </a:r>
          </a:p>
          <a:p>
            <a:endParaRPr dirty="0"/>
          </a:p>
          <a:p>
            <a:r>
              <a:rPr dirty="0"/>
              <a:t>Finally, HY3 returned with the Software Workshop expert. It implemented the selected changes, rebuilt and installed the APK, and verified the result on a physical OnePlus phone.</a:t>
            </a:r>
          </a:p>
          <a:p>
            <a:endParaRPr dirty="0"/>
          </a:p>
          <a:p>
            <a:r>
              <a:rPr dirty="0"/>
              <a:t>4:20–4:30 — Summarize the value of the workflow</a:t>
            </a:r>
          </a:p>
          <a:p>
            <a:endParaRPr dirty="0"/>
          </a:p>
          <a:p>
            <a:r>
              <a:rPr dirty="0"/>
              <a:t>So </a:t>
            </a:r>
            <a:r>
              <a:rPr dirty="0" err="1"/>
              <a:t>WorkBuddy</a:t>
            </a:r>
            <a:r>
              <a:rPr dirty="0"/>
              <a:t> gave us more than suggestions. It created a repeatable loop—investigate, challenge, implement, and verify—with each specialist focused on where it added the most value.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4:30–5:00 — Show the future-work slide</a:t>
            </a:r>
          </a:p>
          <a:p>
            <a:endParaRPr dirty="0"/>
          </a:p>
          <a:p>
            <a:r>
              <a:rPr dirty="0"/>
              <a:t>Three gaps define the next version. For focus, replace the grid with an object mask. For speed, move commands on-device and accelerate image understanding. For aesthetics, capture a rapid burst with several safe configurations and let the user choose the best result. That choice becomes the preferred example; the alternatives become rejected examples for post-training. Across many choices, Smart Mode learns a shared baseline, then personalizes its ranking for each user. Precise, responsive, personal. Thank you.</a:t>
            </a:r>
          </a:p>
          <a:p>
            <a:endParaRPr dirty="0"/>
          </a:p>
          <a:p>
            <a:r>
              <a:rPr dirty="0"/>
              <a:t>Cut line if running long: omit “the alternatives become rejected examples for post-training.”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cover-eyebrow">
            <a:extLst>
              <a:ext uri="{FF2B5EF4-FFF2-40B4-BE49-F238E27FC236}">
                <a16:creationId xmlns:a16="http://schemas.microsoft.com/office/drawing/2014/main" id="{743F1575-F7DC-48D5-ABF2-D68F88A4766D}"/>
              </a:ext>
            </a:extLst>
          </p:cNvPr>
          <p:cNvSpPr>
            <a:spLocks noGrp="1"/>
          </p:cNvSpPr>
          <p:nvPr/>
        </p:nvSpPr>
        <p:spPr>
          <a:xfrm>
            <a:off x="609600" y="457200"/>
            <a:ext cx="514350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AI TINKERERS × TENCENT CLOUD · LIFE AGENT</a:t>
            </a:r>
          </a:p>
        </p:txBody>
      </p:sp>
      <p:sp>
        <p:nvSpPr>
          <p:cNvPr id="2" name="cover-title">
            <a:extLst>
              <a:ext uri="{FF2B5EF4-FFF2-40B4-BE49-F238E27FC236}">
                <a16:creationId xmlns:a16="http://schemas.microsoft.com/office/drawing/2014/main" id="{C111E912-EDA5-440C-A922-17043014D0EF}"/>
              </a:ext>
            </a:extLst>
          </p:cNvPr>
          <p:cNvSpPr>
            <a:spLocks noGrp="1"/>
          </p:cNvSpPr>
          <p:nvPr/>
        </p:nvSpPr>
        <p:spPr>
          <a:xfrm>
            <a:off x="609600" y="1143000"/>
            <a:ext cx="4953000" cy="857250"/>
          </a:xfrm>
          <a:prstGeom prst="rect">
            <a:avLst/>
          </a:prstGeom>
          <a:noFill/>
          <a:ln w="0">
            <a:noFill/>
            <a:prstDash val="solid"/>
          </a:ln>
        </p:spPr>
        <p:txBody>
          <a:bodyPr wrap="square" lIns="0" tIns="0" rIns="0" bIns="0" anchor="t">
            <a:normAutofit/>
          </a:bodyPr>
          <a:lstStyle/>
          <a:p>
            <a:pPr algn="l">
              <a:defRPr sz="4500" b="1">
                <a:solidFill>
                  <a:srgbClr val="101114"/>
                </a:solidFill>
                <a:latin typeface="Arial"/>
                <a:ea typeface="Arial"/>
                <a:cs typeface="Arial"/>
              </a:defRPr>
            </a:pPr>
            <a:r>
              <a:rPr sz="4500" b="1">
                <a:solidFill>
                  <a:srgbClr val="101114"/>
                </a:solidFill>
                <a:latin typeface="Arial"/>
                <a:ea typeface="Arial"/>
                <a:cs typeface="Arial"/>
              </a:rPr>
              <a:t>PHOTO HELPER</a:t>
            </a:r>
          </a:p>
        </p:txBody>
      </p:sp>
      <p:sp>
        <p:nvSpPr>
          <p:cNvPr id="3" name="cover-promise">
            <a:extLst>
              <a:ext uri="{FF2B5EF4-FFF2-40B4-BE49-F238E27FC236}">
                <a16:creationId xmlns:a16="http://schemas.microsoft.com/office/drawing/2014/main" id="{21B7E08B-B223-4E41-8A0E-DCDDD669B622}"/>
              </a:ext>
            </a:extLst>
          </p:cNvPr>
          <p:cNvSpPr>
            <a:spLocks noGrp="1"/>
          </p:cNvSpPr>
          <p:nvPr/>
        </p:nvSpPr>
        <p:spPr>
          <a:xfrm>
            <a:off x="609600" y="2190750"/>
            <a:ext cx="4953000" cy="1009650"/>
          </a:xfrm>
          <a:prstGeom prst="rect">
            <a:avLst/>
          </a:prstGeom>
          <a:noFill/>
          <a:ln w="0">
            <a:noFill/>
            <a:prstDash val="solid"/>
          </a:ln>
        </p:spPr>
        <p:txBody>
          <a:bodyPr wrap="square" lIns="0" tIns="0" rIns="0" bIns="0" anchor="t">
            <a:normAutofit/>
          </a:bodyPr>
          <a:lstStyle/>
          <a:p>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Speak in outcomes,</a:t>
            </a:r>
          </a:p>
          <a:p>
            <a:pPr algn="l">
              <a:lnSpc>
                <a:spcPct val="105000"/>
              </a:lnSpc>
              <a:buNone/>
              <a:defRPr sz="2625" b="1">
                <a:solidFill>
                  <a:srgbClr val="101114"/>
                </a:solidFill>
                <a:latin typeface="Arial"/>
                <a:ea typeface="Arial"/>
                <a:cs typeface="Arial"/>
              </a:defRPr>
            </a:pPr>
            <a:r>
              <a:rPr sz="2625" b="1">
                <a:solidFill>
                  <a:srgbClr val="101114"/>
                </a:solidFill>
                <a:latin typeface="Arial"/>
                <a:ea typeface="Arial"/>
                <a:cs typeface="Arial"/>
              </a:rPr>
              <a:t>not camera settings.</a:t>
            </a:r>
          </a:p>
        </p:txBody>
      </p:sp>
      <p:sp>
        <p:nvSpPr>
          <p:cNvPr id="4" name="cover-accent">
            <a:extLst>
              <a:ext uri="{FF2B5EF4-FFF2-40B4-BE49-F238E27FC236}">
                <a16:creationId xmlns:a16="http://schemas.microsoft.com/office/drawing/2014/main" id="{EF8B4073-38EA-4E96-A1AF-B49A52787CDB}"/>
              </a:ext>
            </a:extLst>
          </p:cNvPr>
          <p:cNvSpPr>
            <a:spLocks noGrp="1"/>
          </p:cNvSpPr>
          <p:nvPr/>
        </p:nvSpPr>
        <p:spPr>
          <a:xfrm>
            <a:off x="609600" y="3476625"/>
            <a:ext cx="1143000" cy="66675"/>
          </a:xfrm>
          <a:prstGeom prst="rect">
            <a:avLst/>
          </a:prstGeom>
          <a:solidFill>
            <a:srgbClr val="3D8DFF"/>
          </a:solidFill>
          <a:ln w="0">
            <a:noFill/>
            <a:prstDash val="solid"/>
          </a:ln>
        </p:spPr>
        <p:txBody>
          <a:bodyPr/>
          <a:lstStyle/>
          <a:p>
            <a:endParaRPr lang="en-US"/>
          </a:p>
        </p:txBody>
      </p:sp>
      <p:sp>
        <p:nvSpPr>
          <p:cNvPr id="5" name="cover-examples">
            <a:extLst>
              <a:ext uri="{FF2B5EF4-FFF2-40B4-BE49-F238E27FC236}">
                <a16:creationId xmlns:a16="http://schemas.microsoft.com/office/drawing/2014/main" id="{7432711D-6F9F-4A88-9FA1-15F1BA88049A}"/>
              </a:ext>
            </a:extLst>
          </p:cNvPr>
          <p:cNvSpPr>
            <a:spLocks noGrp="1"/>
          </p:cNvSpPr>
          <p:nvPr/>
        </p:nvSpPr>
        <p:spPr>
          <a:xfrm>
            <a:off x="609600" y="3857625"/>
            <a:ext cx="4857750" cy="1257300"/>
          </a:xfrm>
          <a:prstGeom prst="rect">
            <a:avLst/>
          </a:prstGeom>
          <a:noFill/>
          <a:ln w="0">
            <a:noFill/>
            <a:prstDash val="solid"/>
          </a:ln>
        </p:spPr>
        <p:txBody>
          <a:bodyPr wrap="square" lIns="0" tIns="0" rIns="0" bIns="0" anchor="t">
            <a:normAutofit/>
          </a:bodyPr>
          <a:lstStyle/>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“Make it brighter.”</a:t>
            </a:r>
          </a:p>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“Focus on the panda.”</a:t>
            </a:r>
          </a:p>
          <a:p>
            <a:pPr algn="l">
              <a:lnSpc>
                <a:spcPct val="110000"/>
              </a:lnSpc>
              <a:buNone/>
              <a:defRPr sz="1875" b="0">
                <a:solidFill>
                  <a:srgbClr val="60656F"/>
                </a:solidFill>
                <a:latin typeface="Arial"/>
                <a:ea typeface="Arial"/>
                <a:cs typeface="Arial"/>
              </a:defRPr>
            </a:pPr>
            <a:r>
              <a:rPr sz="1875" b="0">
                <a:solidFill>
                  <a:srgbClr val="60656F"/>
                </a:solidFill>
                <a:latin typeface="Arial"/>
                <a:ea typeface="Arial"/>
                <a:cs typeface="Arial"/>
              </a:rPr>
              <a:t>“Take a photo in five seconds.”</a:t>
            </a:r>
          </a:p>
        </p:txBody>
      </p:sp>
      <p:sp>
        <p:nvSpPr>
          <p:cNvPr id="6" name="cover-team">
            <a:extLst>
              <a:ext uri="{FF2B5EF4-FFF2-40B4-BE49-F238E27FC236}">
                <a16:creationId xmlns:a16="http://schemas.microsoft.com/office/drawing/2014/main" id="{355385C5-87B2-4684-AB30-102F2A2958AD}"/>
              </a:ext>
            </a:extLst>
          </p:cNvPr>
          <p:cNvSpPr>
            <a:spLocks noGrp="1"/>
          </p:cNvSpPr>
          <p:nvPr/>
        </p:nvSpPr>
        <p:spPr>
          <a:xfrm>
            <a:off x="609600" y="6115050"/>
            <a:ext cx="5238750" cy="2095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FIVECENT · LU BOLIN · ETHAN YAP · NATHANAEL LEONG</a:t>
            </a:r>
          </a:p>
        </p:txBody>
      </p:sp>
      <p:sp>
        <p:nvSpPr>
          <p:cNvPr id="7" name="cover-image-backing">
            <a:extLst>
              <a:ext uri="{FF2B5EF4-FFF2-40B4-BE49-F238E27FC236}">
                <a16:creationId xmlns:a16="http://schemas.microsoft.com/office/drawing/2014/main" id="{7BB9756F-F1EF-456B-B041-6E81FFC6E4AA}"/>
              </a:ext>
            </a:extLst>
          </p:cNvPr>
          <p:cNvSpPr>
            <a:spLocks noGrp="1"/>
          </p:cNvSpPr>
          <p:nvPr/>
        </p:nvSpPr>
        <p:spPr>
          <a:xfrm>
            <a:off x="6267450" y="400050"/>
            <a:ext cx="5543550" cy="5600700"/>
          </a:xfrm>
          <a:prstGeom prst="roundRect">
            <a:avLst>
              <a:gd name="adj" fmla="val 3093"/>
            </a:avLst>
          </a:prstGeom>
          <a:solidFill>
            <a:srgbClr val="EAF5FB"/>
          </a:solidFill>
          <a:ln w="9525">
            <a:solidFill>
              <a:srgbClr val="B8BCC4"/>
            </a:solidFill>
            <a:prstDash val="solid"/>
          </a:ln>
        </p:spPr>
        <p:txBody>
          <a:bodyPr/>
          <a:lstStyle/>
          <a:p>
            <a:endParaRPr lang="en-US"/>
          </a:p>
        </p:txBody>
      </p:sp>
      <p:pic>
        <p:nvPicPr>
          <p:cNvPr id="16" name="Picture 15"/>
          <p:cNvPicPr>
            <a:picLocks noChangeAspect="1"/>
          </p:cNvPicPr>
          <p:nvPr/>
        </p:nvPicPr>
        <p:blipFill>
          <a:blip r:embed="rId3"/>
          <a:srcRect l="25485" r="25485"/>
          <a:stretch>
            <a:fillRect/>
          </a:stretch>
        </p:blipFill>
        <p:spPr>
          <a:xfrm>
            <a:off x="6267450" y="400050"/>
            <a:ext cx="5543550" cy="5600700"/>
          </a:xfrm>
          <a:prstGeom prst="roundRect">
            <a:avLst>
              <a:gd name="adj" fmla="val 3093"/>
            </a:avLst>
          </a:prstGeom>
        </p:spPr>
      </p:pic>
    </p:spTree>
    <p:extLst>
      <p:ext uri="{BB962C8B-B14F-4D97-AF65-F5344CB8AC3E}">
        <p14:creationId xmlns:p14="http://schemas.microsoft.com/office/powerpoint/2010/main" val="62105600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 name="stage-index-2">
            <a:extLst>
              <a:ext uri="{FF2B5EF4-FFF2-40B4-BE49-F238E27FC236}">
                <a16:creationId xmlns:a16="http://schemas.microsoft.com/office/drawing/2014/main" id="{22755A4D-955D-414A-93AD-FD2EC169E8CB}"/>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2" name="stage-section-2">
            <a:extLst>
              <a:ext uri="{FF2B5EF4-FFF2-40B4-BE49-F238E27FC236}">
                <a16:creationId xmlns:a16="http://schemas.microsoft.com/office/drawing/2014/main" id="{1068B87C-3891-45A5-99BA-E1FDFF5861C8}"/>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THE PRODUCT</a:t>
            </a:r>
          </a:p>
        </p:txBody>
      </p:sp>
      <p:sp>
        <p:nvSpPr>
          <p:cNvPr id="3" name="product-title">
            <a:extLst>
              <a:ext uri="{FF2B5EF4-FFF2-40B4-BE49-F238E27FC236}">
                <a16:creationId xmlns:a16="http://schemas.microsoft.com/office/drawing/2014/main" id="{32DC35BB-4C9D-499E-8FB0-F7A776CB2B96}"/>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One request becomes a safe camera plan.</a:t>
            </a:r>
          </a:p>
        </p:txBody>
      </p:sp>
      <p:sp>
        <p:nvSpPr>
          <p:cNvPr id="4" name="product-big-message">
            <a:extLst>
              <a:ext uri="{FF2B5EF4-FFF2-40B4-BE49-F238E27FC236}">
                <a16:creationId xmlns:a16="http://schemas.microsoft.com/office/drawing/2014/main" id="{33565767-7C17-4DD3-87B0-DC8720CD7ED5}"/>
              </a:ext>
            </a:extLst>
          </p:cNvPr>
          <p:cNvSpPr>
            <a:spLocks noGrp="1"/>
          </p:cNvSpPr>
          <p:nvPr/>
        </p:nvSpPr>
        <p:spPr>
          <a:xfrm>
            <a:off x="609600" y="2000250"/>
            <a:ext cx="4476750" cy="23812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REQUEST.</a:t>
            </a:r>
          </a:p>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ACTIONS.</a:t>
            </a:r>
          </a:p>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ONE PHOTO.</a:t>
            </a:r>
          </a:p>
        </p:txBody>
      </p:sp>
      <p:sp>
        <p:nvSpPr>
          <p:cNvPr id="5" name="product-request">
            <a:extLst>
              <a:ext uri="{FF2B5EF4-FFF2-40B4-BE49-F238E27FC236}">
                <a16:creationId xmlns:a16="http://schemas.microsoft.com/office/drawing/2014/main" id="{19DBE92D-016A-480F-8E35-CE25C364C714}"/>
              </a:ext>
            </a:extLst>
          </p:cNvPr>
          <p:cNvSpPr>
            <a:spLocks noGrp="1"/>
          </p:cNvSpPr>
          <p:nvPr/>
        </p:nvSpPr>
        <p:spPr>
          <a:xfrm>
            <a:off x="609600" y="4762500"/>
            <a:ext cx="4476750" cy="952500"/>
          </a:xfrm>
          <a:prstGeom prst="rect">
            <a:avLst/>
          </a:prstGeom>
          <a:noFill/>
          <a:ln w="0">
            <a:noFill/>
            <a:prstDash val="solid"/>
          </a:ln>
        </p:spPr>
        <p:txBody>
          <a:bodyPr wrap="square" lIns="0" tIns="0" rIns="0" bIns="0" anchor="t">
            <a:normAutofit/>
          </a:bodyPr>
          <a:lstStyle/>
          <a:p>
            <a:pPr algn="l">
              <a:defRPr sz="1650" b="0">
                <a:solidFill>
                  <a:srgbClr val="60656F"/>
                </a:solidFill>
                <a:latin typeface="Arial"/>
                <a:ea typeface="Arial"/>
                <a:cs typeface="Arial"/>
              </a:defRPr>
            </a:pPr>
            <a:r>
              <a:rPr sz="1650" b="0">
                <a:solidFill>
                  <a:srgbClr val="60656F"/>
                </a:solidFill>
                <a:latin typeface="Arial"/>
                <a:ea typeface="Arial"/>
                <a:cs typeface="Arial"/>
              </a:rPr>
              <a:t>“Make the picture brighter, focus on the panda, and take a photo in five seconds.”</a:t>
            </a:r>
          </a:p>
        </p:txBody>
      </p:sp>
      <p:sp>
        <p:nvSpPr>
          <p:cNvPr id="6" name="step-rule-0">
            <a:extLst>
              <a:ext uri="{FF2B5EF4-FFF2-40B4-BE49-F238E27FC236}">
                <a16:creationId xmlns:a16="http://schemas.microsoft.com/office/drawing/2014/main" id="{E8900678-553E-48A5-94DE-EF7F1085822E}"/>
              </a:ext>
            </a:extLst>
          </p:cNvPr>
          <p:cNvSpPr>
            <a:spLocks noGrp="1"/>
          </p:cNvSpPr>
          <p:nvPr/>
        </p:nvSpPr>
        <p:spPr>
          <a:xfrm>
            <a:off x="5810250" y="2705100"/>
            <a:ext cx="5429250" cy="9525"/>
          </a:xfrm>
          <a:prstGeom prst="rect">
            <a:avLst/>
          </a:prstGeom>
          <a:solidFill>
            <a:srgbClr val="B8BCC4"/>
          </a:solidFill>
          <a:ln w="0">
            <a:noFill/>
            <a:prstDash val="solid"/>
          </a:ln>
        </p:spPr>
        <p:txBody>
          <a:bodyPr/>
          <a:lstStyle/>
          <a:p>
            <a:endParaRPr lang="en-US"/>
          </a:p>
        </p:txBody>
      </p:sp>
      <p:sp>
        <p:nvSpPr>
          <p:cNvPr id="7" name="step-no-0">
            <a:extLst>
              <a:ext uri="{FF2B5EF4-FFF2-40B4-BE49-F238E27FC236}">
                <a16:creationId xmlns:a16="http://schemas.microsoft.com/office/drawing/2014/main" id="{C9C171C0-FC7C-4374-8620-DBC4726C3CC4}"/>
              </a:ext>
            </a:extLst>
          </p:cNvPr>
          <p:cNvSpPr>
            <a:spLocks noGrp="1"/>
          </p:cNvSpPr>
          <p:nvPr/>
        </p:nvSpPr>
        <p:spPr>
          <a:xfrm>
            <a:off x="5810250" y="198120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01</a:t>
            </a:r>
          </a:p>
        </p:txBody>
      </p:sp>
      <p:sp>
        <p:nvSpPr>
          <p:cNvPr id="8" name="step-label-0">
            <a:extLst>
              <a:ext uri="{FF2B5EF4-FFF2-40B4-BE49-F238E27FC236}">
                <a16:creationId xmlns:a16="http://schemas.microsoft.com/office/drawing/2014/main" id="{BB8ED136-254E-4A28-90A9-3EE15CF55B0D}"/>
              </a:ext>
            </a:extLst>
          </p:cNvPr>
          <p:cNvSpPr>
            <a:spLocks noGrp="1"/>
          </p:cNvSpPr>
          <p:nvPr/>
        </p:nvSpPr>
        <p:spPr>
          <a:xfrm>
            <a:off x="6496050" y="198120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UNDERSTAND</a:t>
            </a:r>
          </a:p>
        </p:txBody>
      </p:sp>
      <p:sp>
        <p:nvSpPr>
          <p:cNvPr id="9" name="step-body-0">
            <a:extLst>
              <a:ext uri="{FF2B5EF4-FFF2-40B4-BE49-F238E27FC236}">
                <a16:creationId xmlns:a16="http://schemas.microsoft.com/office/drawing/2014/main" id="{BAC902AE-DB30-4BA2-AC1C-FCDF7947FA3B}"/>
              </a:ext>
            </a:extLst>
          </p:cNvPr>
          <p:cNvSpPr>
            <a:spLocks noGrp="1"/>
          </p:cNvSpPr>
          <p:nvPr/>
        </p:nvSpPr>
        <p:spPr>
          <a:xfrm>
            <a:off x="8020050" y="198120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Voice + live scene + camera context</a:t>
            </a:r>
          </a:p>
        </p:txBody>
      </p:sp>
      <p:sp>
        <p:nvSpPr>
          <p:cNvPr id="10" name="step-rule-1">
            <a:extLst>
              <a:ext uri="{FF2B5EF4-FFF2-40B4-BE49-F238E27FC236}">
                <a16:creationId xmlns:a16="http://schemas.microsoft.com/office/drawing/2014/main" id="{34F96683-516A-4E2C-A00A-D686973035A2}"/>
              </a:ext>
            </a:extLst>
          </p:cNvPr>
          <p:cNvSpPr>
            <a:spLocks noGrp="1"/>
          </p:cNvSpPr>
          <p:nvPr/>
        </p:nvSpPr>
        <p:spPr>
          <a:xfrm>
            <a:off x="5810250" y="3638550"/>
            <a:ext cx="5429250" cy="9525"/>
          </a:xfrm>
          <a:prstGeom prst="rect">
            <a:avLst/>
          </a:prstGeom>
          <a:solidFill>
            <a:srgbClr val="B8BCC4"/>
          </a:solidFill>
          <a:ln w="0">
            <a:noFill/>
            <a:prstDash val="solid"/>
          </a:ln>
        </p:spPr>
        <p:txBody>
          <a:bodyPr/>
          <a:lstStyle/>
          <a:p>
            <a:endParaRPr lang="en-US"/>
          </a:p>
        </p:txBody>
      </p:sp>
      <p:sp>
        <p:nvSpPr>
          <p:cNvPr id="11" name="step-no-1">
            <a:extLst>
              <a:ext uri="{FF2B5EF4-FFF2-40B4-BE49-F238E27FC236}">
                <a16:creationId xmlns:a16="http://schemas.microsoft.com/office/drawing/2014/main" id="{0CB31644-AE9B-45E9-9B3A-B74D97CE3A56}"/>
              </a:ext>
            </a:extLst>
          </p:cNvPr>
          <p:cNvSpPr>
            <a:spLocks noGrp="1"/>
          </p:cNvSpPr>
          <p:nvPr/>
        </p:nvSpPr>
        <p:spPr>
          <a:xfrm>
            <a:off x="5810250" y="291465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02</a:t>
            </a:r>
          </a:p>
        </p:txBody>
      </p:sp>
      <p:sp>
        <p:nvSpPr>
          <p:cNvPr id="12" name="step-label-1">
            <a:extLst>
              <a:ext uri="{FF2B5EF4-FFF2-40B4-BE49-F238E27FC236}">
                <a16:creationId xmlns:a16="http://schemas.microsoft.com/office/drawing/2014/main" id="{449DE9B7-7E6C-42CE-87BA-D0289105C88B}"/>
              </a:ext>
            </a:extLst>
          </p:cNvPr>
          <p:cNvSpPr>
            <a:spLocks noGrp="1"/>
          </p:cNvSpPr>
          <p:nvPr/>
        </p:nvSpPr>
        <p:spPr>
          <a:xfrm>
            <a:off x="6496050" y="291465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PLAN</a:t>
            </a:r>
          </a:p>
        </p:txBody>
      </p:sp>
      <p:sp>
        <p:nvSpPr>
          <p:cNvPr id="13" name="step-body-1">
            <a:extLst>
              <a:ext uri="{FF2B5EF4-FFF2-40B4-BE49-F238E27FC236}">
                <a16:creationId xmlns:a16="http://schemas.microsoft.com/office/drawing/2014/main" id="{EECDB46A-869D-47BB-A967-096D03982DB2}"/>
              </a:ext>
            </a:extLst>
          </p:cNvPr>
          <p:cNvSpPr>
            <a:spLocks noGrp="1"/>
          </p:cNvSpPr>
          <p:nvPr/>
        </p:nvSpPr>
        <p:spPr>
          <a:xfrm>
            <a:off x="8020050" y="291465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Qwen creates ordered semantic actions</a:t>
            </a:r>
          </a:p>
        </p:txBody>
      </p:sp>
      <p:sp>
        <p:nvSpPr>
          <p:cNvPr id="14" name="step-rule-2">
            <a:extLst>
              <a:ext uri="{FF2B5EF4-FFF2-40B4-BE49-F238E27FC236}">
                <a16:creationId xmlns:a16="http://schemas.microsoft.com/office/drawing/2014/main" id="{426C7F13-FA5D-424C-9CC3-A068BF66F1BB}"/>
              </a:ext>
            </a:extLst>
          </p:cNvPr>
          <p:cNvSpPr>
            <a:spLocks noGrp="1"/>
          </p:cNvSpPr>
          <p:nvPr/>
        </p:nvSpPr>
        <p:spPr>
          <a:xfrm>
            <a:off x="5810250" y="4572000"/>
            <a:ext cx="5429250" cy="9525"/>
          </a:xfrm>
          <a:prstGeom prst="rect">
            <a:avLst/>
          </a:prstGeom>
          <a:solidFill>
            <a:srgbClr val="B8BCC4"/>
          </a:solidFill>
          <a:ln w="0">
            <a:noFill/>
            <a:prstDash val="solid"/>
          </a:ln>
        </p:spPr>
        <p:txBody>
          <a:bodyPr/>
          <a:lstStyle/>
          <a:p>
            <a:endParaRPr lang="en-US"/>
          </a:p>
        </p:txBody>
      </p:sp>
      <p:sp>
        <p:nvSpPr>
          <p:cNvPr id="15" name="step-no-2">
            <a:extLst>
              <a:ext uri="{FF2B5EF4-FFF2-40B4-BE49-F238E27FC236}">
                <a16:creationId xmlns:a16="http://schemas.microsoft.com/office/drawing/2014/main" id="{A0480BD2-FABD-4453-87BF-20EA214C67E9}"/>
              </a:ext>
            </a:extLst>
          </p:cNvPr>
          <p:cNvSpPr>
            <a:spLocks noGrp="1"/>
          </p:cNvSpPr>
          <p:nvPr/>
        </p:nvSpPr>
        <p:spPr>
          <a:xfrm>
            <a:off x="5810250" y="384810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03</a:t>
            </a:r>
          </a:p>
        </p:txBody>
      </p:sp>
      <p:sp>
        <p:nvSpPr>
          <p:cNvPr id="16" name="step-label-2">
            <a:extLst>
              <a:ext uri="{FF2B5EF4-FFF2-40B4-BE49-F238E27FC236}">
                <a16:creationId xmlns:a16="http://schemas.microsoft.com/office/drawing/2014/main" id="{7271EBD5-61BB-4C73-99E4-747A2433A637}"/>
              </a:ext>
            </a:extLst>
          </p:cNvPr>
          <p:cNvSpPr>
            <a:spLocks noGrp="1"/>
          </p:cNvSpPr>
          <p:nvPr/>
        </p:nvSpPr>
        <p:spPr>
          <a:xfrm>
            <a:off x="6496050" y="384810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CHECK</a:t>
            </a:r>
          </a:p>
        </p:txBody>
      </p:sp>
      <p:sp>
        <p:nvSpPr>
          <p:cNvPr id="17" name="step-body-2">
            <a:extLst>
              <a:ext uri="{FF2B5EF4-FFF2-40B4-BE49-F238E27FC236}">
                <a16:creationId xmlns:a16="http://schemas.microsoft.com/office/drawing/2014/main" id="{9F4162C0-CD27-4E61-AC8F-465E1B2B521A}"/>
              </a:ext>
            </a:extLst>
          </p:cNvPr>
          <p:cNvSpPr>
            <a:spLocks noGrp="1"/>
          </p:cNvSpPr>
          <p:nvPr/>
        </p:nvSpPr>
        <p:spPr>
          <a:xfrm>
            <a:off x="8020050" y="384810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Android validates against real capabilities</a:t>
            </a:r>
          </a:p>
        </p:txBody>
      </p:sp>
      <p:sp>
        <p:nvSpPr>
          <p:cNvPr id="18" name="step-rule-3">
            <a:extLst>
              <a:ext uri="{FF2B5EF4-FFF2-40B4-BE49-F238E27FC236}">
                <a16:creationId xmlns:a16="http://schemas.microsoft.com/office/drawing/2014/main" id="{D241DBC7-62A1-4D51-8D77-4BBAC2D62F3F}"/>
              </a:ext>
            </a:extLst>
          </p:cNvPr>
          <p:cNvSpPr>
            <a:spLocks noGrp="1"/>
          </p:cNvSpPr>
          <p:nvPr/>
        </p:nvSpPr>
        <p:spPr>
          <a:xfrm>
            <a:off x="5810250" y="5505450"/>
            <a:ext cx="5429250" cy="9525"/>
          </a:xfrm>
          <a:prstGeom prst="rect">
            <a:avLst/>
          </a:prstGeom>
          <a:solidFill>
            <a:srgbClr val="B8BCC4"/>
          </a:solidFill>
          <a:ln w="0">
            <a:noFill/>
            <a:prstDash val="solid"/>
          </a:ln>
        </p:spPr>
        <p:txBody>
          <a:bodyPr/>
          <a:lstStyle/>
          <a:p>
            <a:endParaRPr lang="en-US"/>
          </a:p>
        </p:txBody>
      </p:sp>
      <p:sp>
        <p:nvSpPr>
          <p:cNvPr id="19" name="step-no-3">
            <a:extLst>
              <a:ext uri="{FF2B5EF4-FFF2-40B4-BE49-F238E27FC236}">
                <a16:creationId xmlns:a16="http://schemas.microsoft.com/office/drawing/2014/main" id="{C8B0D56E-2785-4590-82E5-0B6FEAC5C80A}"/>
              </a:ext>
            </a:extLst>
          </p:cNvPr>
          <p:cNvSpPr>
            <a:spLocks noGrp="1"/>
          </p:cNvSpPr>
          <p:nvPr/>
        </p:nvSpPr>
        <p:spPr>
          <a:xfrm>
            <a:off x="5810250" y="4781550"/>
            <a:ext cx="495300" cy="304800"/>
          </a:xfrm>
          <a:prstGeom prst="rect">
            <a:avLst/>
          </a:prstGeom>
          <a:noFill/>
          <a:ln w="0">
            <a:noFill/>
            <a:prstDash val="solid"/>
          </a:ln>
        </p:spPr>
        <p:txBody>
          <a:bodyPr wrap="square" lIns="0" tIns="0" rIns="0" bIns="0" anchor="t">
            <a:normAutofit/>
          </a:bodyPr>
          <a:lstStyle/>
          <a:p>
            <a:pPr algn="l">
              <a:defRPr sz="1350" b="1">
                <a:solidFill>
                  <a:srgbClr val="3D8DFF"/>
                </a:solidFill>
                <a:latin typeface="Arial"/>
                <a:ea typeface="Arial"/>
                <a:cs typeface="Arial"/>
              </a:defRPr>
            </a:pPr>
            <a:r>
              <a:rPr sz="1350" b="1">
                <a:solidFill>
                  <a:srgbClr val="3D8DFF"/>
                </a:solidFill>
                <a:latin typeface="Arial"/>
                <a:ea typeface="Arial"/>
                <a:cs typeface="Arial"/>
              </a:rPr>
              <a:t>04</a:t>
            </a:r>
          </a:p>
        </p:txBody>
      </p:sp>
      <p:sp>
        <p:nvSpPr>
          <p:cNvPr id="20" name="step-label-3">
            <a:extLst>
              <a:ext uri="{FF2B5EF4-FFF2-40B4-BE49-F238E27FC236}">
                <a16:creationId xmlns:a16="http://schemas.microsoft.com/office/drawing/2014/main" id="{81E55EB6-7EF8-41A5-A90E-92F033CD2DF4}"/>
              </a:ext>
            </a:extLst>
          </p:cNvPr>
          <p:cNvSpPr>
            <a:spLocks noGrp="1"/>
          </p:cNvSpPr>
          <p:nvPr/>
        </p:nvSpPr>
        <p:spPr>
          <a:xfrm>
            <a:off x="6496050" y="4781550"/>
            <a:ext cx="1524000" cy="304800"/>
          </a:xfrm>
          <a:prstGeom prst="rect">
            <a:avLst/>
          </a:prstGeom>
          <a:noFill/>
          <a:ln w="0">
            <a:noFill/>
            <a:prstDash val="solid"/>
          </a:ln>
        </p:spPr>
        <p:txBody>
          <a:bodyPr wrap="square" lIns="0" tIns="0" rIns="0" bIns="0" anchor="t">
            <a:normAutofit/>
          </a:bodyPr>
          <a:lstStyle/>
          <a:p>
            <a:pPr algn="l">
              <a:defRPr sz="1350" b="1">
                <a:solidFill>
                  <a:srgbClr val="101114"/>
                </a:solidFill>
                <a:latin typeface="Arial"/>
                <a:ea typeface="Arial"/>
                <a:cs typeface="Arial"/>
              </a:defRPr>
            </a:pPr>
            <a:r>
              <a:rPr sz="1350" b="1">
                <a:solidFill>
                  <a:srgbClr val="101114"/>
                </a:solidFill>
                <a:latin typeface="Arial"/>
                <a:ea typeface="Arial"/>
                <a:cs typeface="Arial"/>
              </a:rPr>
              <a:t>ACT</a:t>
            </a:r>
          </a:p>
        </p:txBody>
      </p:sp>
      <p:sp>
        <p:nvSpPr>
          <p:cNvPr id="21" name="step-body-3">
            <a:extLst>
              <a:ext uri="{FF2B5EF4-FFF2-40B4-BE49-F238E27FC236}">
                <a16:creationId xmlns:a16="http://schemas.microsoft.com/office/drawing/2014/main" id="{C0E86194-3EB5-4BCD-B2EB-3F3193E1489A}"/>
              </a:ext>
            </a:extLst>
          </p:cNvPr>
          <p:cNvSpPr>
            <a:spLocks noGrp="1"/>
          </p:cNvSpPr>
          <p:nvPr/>
        </p:nvSpPr>
        <p:spPr>
          <a:xfrm>
            <a:off x="8020050" y="4781550"/>
            <a:ext cx="3219450" cy="514350"/>
          </a:xfrm>
          <a:prstGeom prst="rect">
            <a:avLst/>
          </a:prstGeom>
          <a:noFill/>
          <a:ln w="0">
            <a:noFill/>
            <a:prstDash val="solid"/>
          </a:ln>
        </p:spPr>
        <p:txBody>
          <a:bodyPr wrap="square" lIns="0" tIns="0" rIns="0" bIns="0" anchor="t">
            <a:normAutofit/>
          </a:bodyPr>
          <a:lstStyle/>
          <a:p>
            <a:pPr algn="l">
              <a:defRPr sz="1425" b="0">
                <a:solidFill>
                  <a:srgbClr val="60656F"/>
                </a:solidFill>
                <a:latin typeface="Arial"/>
                <a:ea typeface="Arial"/>
                <a:cs typeface="Arial"/>
              </a:defRPr>
            </a:pPr>
            <a:r>
              <a:rPr sz="1425" b="0">
                <a:solidFill>
                  <a:srgbClr val="60656F"/>
                </a:solidFill>
                <a:latin typeface="Arial"/>
                <a:ea typeface="Arial"/>
                <a:cs typeface="Arial"/>
              </a:rPr>
              <a:t>Brightness · focus · timer · capture</a:t>
            </a:r>
          </a:p>
        </p:txBody>
      </p:sp>
      <p:sp>
        <p:nvSpPr>
          <p:cNvPr id="22" name="product-boundary">
            <a:extLst>
              <a:ext uri="{FF2B5EF4-FFF2-40B4-BE49-F238E27FC236}">
                <a16:creationId xmlns:a16="http://schemas.microsoft.com/office/drawing/2014/main" id="{56EA39F2-7324-4DD2-B8E1-BD40A9219BFA}"/>
              </a:ext>
            </a:extLst>
          </p:cNvPr>
          <p:cNvSpPr>
            <a:spLocks noGrp="1"/>
          </p:cNvSpPr>
          <p:nvPr/>
        </p:nvSpPr>
        <p:spPr>
          <a:xfrm>
            <a:off x="5810250" y="5753100"/>
            <a:ext cx="5429250" cy="457200"/>
          </a:xfrm>
          <a:prstGeom prst="roundRect">
            <a:avLst>
              <a:gd name="adj" fmla="val 16667"/>
            </a:avLst>
          </a:prstGeom>
          <a:solidFill>
            <a:srgbClr val="0A2D55"/>
          </a:solidFill>
          <a:ln w="0">
            <a:noFill/>
            <a:prstDash val="solid"/>
          </a:ln>
        </p:spPr>
        <p:txBody>
          <a:bodyPr/>
          <a:lstStyle/>
          <a:p>
            <a:endParaRPr lang="en-US"/>
          </a:p>
        </p:txBody>
      </p:sp>
      <p:sp>
        <p:nvSpPr>
          <p:cNvPr id="23" name="product-boundary-text">
            <a:extLst>
              <a:ext uri="{FF2B5EF4-FFF2-40B4-BE49-F238E27FC236}">
                <a16:creationId xmlns:a16="http://schemas.microsoft.com/office/drawing/2014/main" id="{D2A2EC05-1C1A-4289-84F2-7550D6901CAD}"/>
              </a:ext>
            </a:extLst>
          </p:cNvPr>
          <p:cNvSpPr>
            <a:spLocks noGrp="1"/>
          </p:cNvSpPr>
          <p:nvPr/>
        </p:nvSpPr>
        <p:spPr>
          <a:xfrm>
            <a:off x="6000750" y="5895975"/>
            <a:ext cx="5048250" cy="209550"/>
          </a:xfrm>
          <a:prstGeom prst="rect">
            <a:avLst/>
          </a:prstGeom>
          <a:noFill/>
          <a:ln w="0">
            <a:noFill/>
            <a:prstDash val="solid"/>
          </a:ln>
        </p:spPr>
        <p:txBody>
          <a:bodyPr wrap="square" lIns="0" tIns="0" rIns="0" bIns="0" anchor="t">
            <a:normAutofit/>
          </a:bodyPr>
          <a:lstStyle/>
          <a:p>
            <a:pPr algn="ctr">
              <a:defRPr sz="1050" b="1">
                <a:solidFill>
                  <a:srgbClr val="FFFFFF"/>
                </a:solidFill>
                <a:latin typeface="Arial"/>
                <a:ea typeface="Arial"/>
                <a:cs typeface="Arial"/>
              </a:defRPr>
            </a:pPr>
            <a:r>
              <a:rPr sz="1050" b="1">
                <a:solidFill>
                  <a:srgbClr val="FFFFFF"/>
                </a:solidFill>
                <a:latin typeface="Arial"/>
                <a:ea typeface="Arial"/>
                <a:cs typeface="Arial"/>
              </a:rPr>
              <a:t>QWEN INTERPRETS · ANDROID VALIDATES · CAMERAX EXECUTES</a:t>
            </a:r>
          </a:p>
        </p:txBody>
      </p:sp>
      <p:sp>
        <p:nvSpPr>
          <p:cNvPr id="24" name="footer-rule-2">
            <a:extLst>
              <a:ext uri="{FF2B5EF4-FFF2-40B4-BE49-F238E27FC236}">
                <a16:creationId xmlns:a16="http://schemas.microsoft.com/office/drawing/2014/main" id="{B55C1D2C-AF9A-4FE6-B675-82C6D5E0C26B}"/>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25" name="footer-left-2">
            <a:extLst>
              <a:ext uri="{FF2B5EF4-FFF2-40B4-BE49-F238E27FC236}">
                <a16:creationId xmlns:a16="http://schemas.microsoft.com/office/drawing/2014/main" id="{64CFF79A-CE6A-4AB8-B2B5-E30AAE124EAB}"/>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6" name="footer-number-2">
            <a:extLst>
              <a:ext uri="{FF2B5EF4-FFF2-40B4-BE49-F238E27FC236}">
                <a16:creationId xmlns:a16="http://schemas.microsoft.com/office/drawing/2014/main" id="{DC104C3A-4D60-43AA-BE3E-4539B36576DA}"/>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02</a:t>
            </a:r>
          </a:p>
        </p:txBody>
      </p:sp>
    </p:spTree>
    <p:extLst>
      <p:ext uri="{BB962C8B-B14F-4D97-AF65-F5344CB8AC3E}">
        <p14:creationId xmlns:p14="http://schemas.microsoft.com/office/powerpoint/2010/main" val="115706416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3D8DFF"/>
        </a:solidFill>
        <a:effectLst/>
      </p:bgPr>
    </p:bg>
    <p:spTree>
      <p:nvGrpSpPr>
        <p:cNvPr id="1" name=""/>
        <p:cNvGrpSpPr/>
        <p:nvPr/>
      </p:nvGrpSpPr>
      <p:grpSpPr>
        <a:xfrm>
          <a:off x="0" y="0"/>
          <a:ext cx="0" cy="0"/>
          <a:chOff x="0" y="0"/>
          <a:chExt cx="0" cy="0"/>
        </a:xfrm>
      </p:grpSpPr>
      <p:sp>
        <p:nvSpPr>
          <p:cNvPr id="2" name="demo-title">
            <a:extLst>
              <a:ext uri="{FF2B5EF4-FFF2-40B4-BE49-F238E27FC236}">
                <a16:creationId xmlns:a16="http://schemas.microsoft.com/office/drawing/2014/main" id="{46128CE0-EB3C-46F0-8B37-8242373BA19A}"/>
              </a:ext>
            </a:extLst>
          </p:cNvPr>
          <p:cNvSpPr>
            <a:spLocks noGrp="1"/>
          </p:cNvSpPr>
          <p:nvPr/>
        </p:nvSpPr>
        <p:spPr>
          <a:xfrm>
            <a:off x="952500" y="2333625"/>
            <a:ext cx="10287000" cy="1714500"/>
          </a:xfrm>
          <a:prstGeom prst="rect">
            <a:avLst/>
          </a:prstGeom>
          <a:noFill/>
          <a:ln w="0">
            <a:noFill/>
            <a:prstDash val="solid"/>
          </a:ln>
        </p:spPr>
        <p:txBody>
          <a:bodyPr wrap="square" lIns="0" tIns="0" rIns="0" bIns="0" anchor="ctr">
            <a:normAutofit/>
          </a:bodyPr>
          <a:lstStyle/>
          <a:p>
            <a:pPr algn="ctr">
              <a:defRPr sz="7500" b="1">
                <a:solidFill>
                  <a:srgbClr val="FFFFFF"/>
                </a:solidFill>
                <a:latin typeface="Arial"/>
                <a:ea typeface="Arial"/>
                <a:cs typeface="Arial"/>
              </a:defRPr>
            </a:pPr>
            <a:r>
              <a:rPr sz="7500" b="1">
                <a:solidFill>
                  <a:srgbClr val="FFFFFF"/>
                </a:solidFill>
                <a:latin typeface="Arial"/>
                <a:ea typeface="Arial"/>
                <a:cs typeface="Arial"/>
              </a:rPr>
              <a:t>DEMO</a:t>
            </a:r>
          </a:p>
        </p:txBody>
      </p:sp>
    </p:spTree>
    <p:extLst>
      <p:ext uri="{BB962C8B-B14F-4D97-AF65-F5344CB8AC3E}">
        <p14:creationId xmlns:p14="http://schemas.microsoft.com/office/powerpoint/2010/main" val="11414160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 name="stage-index-4">
            <a:extLst>
              <a:ext uri="{FF2B5EF4-FFF2-40B4-BE49-F238E27FC236}">
                <a16:creationId xmlns:a16="http://schemas.microsoft.com/office/drawing/2014/main" id="{4C0065CA-E775-47BB-9AB5-C14BFBC7D8CD}"/>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04</a:t>
            </a:r>
          </a:p>
        </p:txBody>
      </p:sp>
      <p:sp>
        <p:nvSpPr>
          <p:cNvPr id="2" name="stage-section-4">
            <a:extLst>
              <a:ext uri="{FF2B5EF4-FFF2-40B4-BE49-F238E27FC236}">
                <a16:creationId xmlns:a16="http://schemas.microsoft.com/office/drawing/2014/main" id="{35136A31-66A1-43CA-95AB-159F5C02E1B3}"/>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WHY WORKBUDDY</a:t>
            </a:r>
          </a:p>
        </p:txBody>
      </p:sp>
      <p:sp>
        <p:nvSpPr>
          <p:cNvPr id="3" name="workbuddy-title">
            <a:extLst>
              <a:ext uri="{FF2B5EF4-FFF2-40B4-BE49-F238E27FC236}">
                <a16:creationId xmlns:a16="http://schemas.microsoft.com/office/drawing/2014/main" id="{828F31E8-95FD-4ADD-A1B1-53A84EE82FE7}"/>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WorkBuddy became our product-quality team.</a:t>
            </a:r>
          </a:p>
        </p:txBody>
      </p:sp>
      <p:sp>
        <p:nvSpPr>
          <p:cNvPr id="4" name="workbuddy-big-message">
            <a:extLst>
              <a:ext uri="{FF2B5EF4-FFF2-40B4-BE49-F238E27FC236}">
                <a16:creationId xmlns:a16="http://schemas.microsoft.com/office/drawing/2014/main" id="{57D809B1-8C69-4214-9D43-882FD8C276BB}"/>
              </a:ext>
            </a:extLst>
          </p:cNvPr>
          <p:cNvSpPr>
            <a:spLocks noGrp="1"/>
          </p:cNvSpPr>
          <p:nvPr/>
        </p:nvSpPr>
        <p:spPr>
          <a:xfrm>
            <a:off x="609600" y="1952625"/>
            <a:ext cx="4572000" cy="3429000"/>
          </a:xfrm>
          <a:prstGeom prst="rect">
            <a:avLst/>
          </a:prstGeom>
          <a:noFill/>
          <a:ln w="0">
            <a:noFill/>
            <a:prstDash val="solid"/>
          </a:ln>
        </p:spPr>
        <p:txBody>
          <a:bodyPr wrap="square" lIns="0" tIns="0" rIns="0" bIns="0" anchor="t">
            <a:normAutofit/>
          </a:bodyPr>
          <a:lstStyle/>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FAST LOOPS</a:t>
            </a: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BUILD.</a:t>
            </a:r>
          </a:p>
          <a:p>
            <a:endParaRPr sz="3450" b="1">
              <a:solidFill>
                <a:srgbClr val="101114"/>
              </a:solidFill>
              <a:latin typeface="Arial"/>
              <a:ea typeface="Arial"/>
              <a:cs typeface="Arial"/>
            </a:endParaRP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EXPERT PASSES</a:t>
            </a:r>
          </a:p>
          <a:p>
            <a:pPr algn="l">
              <a:lnSpc>
                <a:spcPct val="90000"/>
              </a:lnSpc>
              <a:buNone/>
              <a:defRPr sz="3450" b="1">
                <a:solidFill>
                  <a:srgbClr val="101114"/>
                </a:solidFill>
                <a:latin typeface="Arial"/>
                <a:ea typeface="Arial"/>
                <a:cs typeface="Arial"/>
              </a:defRPr>
            </a:pPr>
            <a:r>
              <a:rPr sz="3450" b="1">
                <a:solidFill>
                  <a:srgbClr val="101114"/>
                </a:solidFill>
                <a:latin typeface="Arial"/>
                <a:ea typeface="Arial"/>
                <a:cs typeface="Arial"/>
              </a:rPr>
              <a:t>REFINE.</a:t>
            </a:r>
          </a:p>
        </p:txBody>
      </p:sp>
      <p:sp>
        <p:nvSpPr>
          <p:cNvPr id="5" name="workbuddy-divider">
            <a:extLst>
              <a:ext uri="{FF2B5EF4-FFF2-40B4-BE49-F238E27FC236}">
                <a16:creationId xmlns:a16="http://schemas.microsoft.com/office/drawing/2014/main" id="{07B4B615-EB07-4A55-93C6-D9AC5A61E133}"/>
              </a:ext>
            </a:extLst>
          </p:cNvPr>
          <p:cNvSpPr>
            <a:spLocks noGrp="1"/>
          </p:cNvSpPr>
          <p:nvPr/>
        </p:nvSpPr>
        <p:spPr>
          <a:xfrm>
            <a:off x="5619750" y="2000250"/>
            <a:ext cx="19050" cy="3619500"/>
          </a:xfrm>
          <a:prstGeom prst="rect">
            <a:avLst/>
          </a:prstGeom>
          <a:solidFill>
            <a:srgbClr val="B8BCC4"/>
          </a:solidFill>
          <a:ln w="0">
            <a:noFill/>
            <a:prstDash val="solid"/>
          </a:ln>
        </p:spPr>
        <p:txBody>
          <a:bodyPr/>
          <a:lstStyle/>
          <a:p>
            <a:endParaRPr lang="en-US"/>
          </a:p>
        </p:txBody>
      </p:sp>
      <p:sp>
        <p:nvSpPr>
          <p:cNvPr id="6" name="definition-key-0">
            <a:extLst>
              <a:ext uri="{FF2B5EF4-FFF2-40B4-BE49-F238E27FC236}">
                <a16:creationId xmlns:a16="http://schemas.microsoft.com/office/drawing/2014/main" id="{E2A53DC0-8CA4-416E-862F-169521895E9E}"/>
              </a:ext>
            </a:extLst>
          </p:cNvPr>
          <p:cNvSpPr>
            <a:spLocks noGrp="1"/>
          </p:cNvSpPr>
          <p:nvPr/>
        </p:nvSpPr>
        <p:spPr>
          <a:xfrm>
            <a:off x="6191250" y="20478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MODEL</a:t>
            </a:r>
          </a:p>
        </p:txBody>
      </p:sp>
      <p:sp>
        <p:nvSpPr>
          <p:cNvPr id="7" name="definition-value-0">
            <a:extLst>
              <a:ext uri="{FF2B5EF4-FFF2-40B4-BE49-F238E27FC236}">
                <a16:creationId xmlns:a16="http://schemas.microsoft.com/office/drawing/2014/main" id="{940D6150-7DAD-4E85-9302-E048A798300F}"/>
              </a:ext>
            </a:extLst>
          </p:cNvPr>
          <p:cNvSpPr>
            <a:spLocks noGrp="1"/>
          </p:cNvSpPr>
          <p:nvPr/>
        </p:nvSpPr>
        <p:spPr>
          <a:xfrm>
            <a:off x="6191250" y="23526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Reasoning engine</a:t>
            </a:r>
          </a:p>
        </p:txBody>
      </p:sp>
      <p:sp>
        <p:nvSpPr>
          <p:cNvPr id="8" name="definition-key-1">
            <a:extLst>
              <a:ext uri="{FF2B5EF4-FFF2-40B4-BE49-F238E27FC236}">
                <a16:creationId xmlns:a16="http://schemas.microsoft.com/office/drawing/2014/main" id="{646670F0-7B6E-4243-86FA-E6594B3FCCF7}"/>
              </a:ext>
            </a:extLst>
          </p:cNvPr>
          <p:cNvSpPr>
            <a:spLocks noGrp="1"/>
          </p:cNvSpPr>
          <p:nvPr/>
        </p:nvSpPr>
        <p:spPr>
          <a:xfrm>
            <a:off x="6191250" y="29241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EXPERT</a:t>
            </a:r>
          </a:p>
        </p:txBody>
      </p:sp>
      <p:sp>
        <p:nvSpPr>
          <p:cNvPr id="9" name="definition-value-1">
            <a:extLst>
              <a:ext uri="{FF2B5EF4-FFF2-40B4-BE49-F238E27FC236}">
                <a16:creationId xmlns:a16="http://schemas.microsoft.com/office/drawing/2014/main" id="{D6C932CE-3790-476B-BE5B-412EA0522B80}"/>
              </a:ext>
            </a:extLst>
          </p:cNvPr>
          <p:cNvSpPr>
            <a:spLocks noGrp="1"/>
          </p:cNvSpPr>
          <p:nvPr/>
        </p:nvSpPr>
        <p:spPr>
          <a:xfrm>
            <a:off x="6191250" y="3228975"/>
            <a:ext cx="4762500" cy="419100"/>
          </a:xfrm>
          <a:prstGeom prst="rect">
            <a:avLst/>
          </a:prstGeom>
          <a:noFill/>
          <a:ln w="0">
            <a:noFill/>
            <a:prstDash val="solid"/>
          </a:ln>
        </p:spPr>
        <p:txBody>
          <a:bodyPr wrap="square" lIns="0" tIns="0" rIns="0" bIns="0" anchor="t">
            <a:normAutofit/>
          </a:bodyPr>
          <a:lstStyle/>
          <a:p>
            <a:pPr algn="l">
              <a:defRPr sz="1875" b="1">
                <a:solidFill>
                  <a:srgbClr val="101114"/>
                </a:solidFill>
                <a:latin typeface="Arial"/>
                <a:ea typeface="Arial"/>
                <a:cs typeface="Arial"/>
              </a:defRPr>
            </a:pPr>
            <a:r>
              <a:rPr sz="1875" b="1">
                <a:solidFill>
                  <a:srgbClr val="101114"/>
                </a:solidFill>
                <a:latin typeface="Arial"/>
                <a:ea typeface="Arial"/>
                <a:cs typeface="Arial"/>
              </a:rPr>
              <a:t>Specialist role + domain framing</a:t>
            </a:r>
          </a:p>
        </p:txBody>
      </p:sp>
      <p:sp>
        <p:nvSpPr>
          <p:cNvPr id="10" name="definition-key-2">
            <a:extLst>
              <a:ext uri="{FF2B5EF4-FFF2-40B4-BE49-F238E27FC236}">
                <a16:creationId xmlns:a16="http://schemas.microsoft.com/office/drawing/2014/main" id="{C8B7426B-25FD-465A-B01B-635140363859}"/>
              </a:ext>
            </a:extLst>
          </p:cNvPr>
          <p:cNvSpPr>
            <a:spLocks noGrp="1"/>
          </p:cNvSpPr>
          <p:nvPr/>
        </p:nvSpPr>
        <p:spPr>
          <a:xfrm>
            <a:off x="6191250" y="38004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TEAM</a:t>
            </a:r>
          </a:p>
        </p:txBody>
      </p:sp>
      <p:sp>
        <p:nvSpPr>
          <p:cNvPr id="11" name="definition-value-2">
            <a:extLst>
              <a:ext uri="{FF2B5EF4-FFF2-40B4-BE49-F238E27FC236}">
                <a16:creationId xmlns:a16="http://schemas.microsoft.com/office/drawing/2014/main" id="{87F01D9A-80AF-4A1B-B62D-ECD113B34F3E}"/>
              </a:ext>
            </a:extLst>
          </p:cNvPr>
          <p:cNvSpPr>
            <a:spLocks noGrp="1"/>
          </p:cNvSpPr>
          <p:nvPr/>
        </p:nvSpPr>
        <p:spPr>
          <a:xfrm>
            <a:off x="6191250" y="41052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Divide work + cross-check</a:t>
            </a:r>
          </a:p>
        </p:txBody>
      </p:sp>
      <p:sp>
        <p:nvSpPr>
          <p:cNvPr id="12" name="definition-key-3">
            <a:extLst>
              <a:ext uri="{FF2B5EF4-FFF2-40B4-BE49-F238E27FC236}">
                <a16:creationId xmlns:a16="http://schemas.microsoft.com/office/drawing/2014/main" id="{E627F2D0-8560-4110-AAB9-AE609FEA60D6}"/>
              </a:ext>
            </a:extLst>
          </p:cNvPr>
          <p:cNvSpPr>
            <a:spLocks noGrp="1"/>
          </p:cNvSpPr>
          <p:nvPr/>
        </p:nvSpPr>
        <p:spPr>
          <a:xfrm>
            <a:off x="6191250" y="4676775"/>
            <a:ext cx="15240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WORKSPACE</a:t>
            </a:r>
          </a:p>
        </p:txBody>
      </p:sp>
      <p:sp>
        <p:nvSpPr>
          <p:cNvPr id="13" name="definition-value-3">
            <a:extLst>
              <a:ext uri="{FF2B5EF4-FFF2-40B4-BE49-F238E27FC236}">
                <a16:creationId xmlns:a16="http://schemas.microsoft.com/office/drawing/2014/main" id="{0F84496B-53BC-4EF3-934F-DBAEA2996B56}"/>
              </a:ext>
            </a:extLst>
          </p:cNvPr>
          <p:cNvSpPr>
            <a:spLocks noGrp="1"/>
          </p:cNvSpPr>
          <p:nvPr/>
        </p:nvSpPr>
        <p:spPr>
          <a:xfrm>
            <a:off x="6191250" y="4981575"/>
            <a:ext cx="4762500" cy="419100"/>
          </a:xfrm>
          <a:prstGeom prst="rect">
            <a:avLst/>
          </a:prstGeom>
          <a:noFill/>
          <a:ln w="0">
            <a:noFill/>
            <a:prstDash val="solid"/>
          </a:ln>
        </p:spPr>
        <p:txBody>
          <a:bodyPr wrap="square" lIns="0" tIns="0" rIns="0" bIns="0" anchor="t">
            <a:normAutofit/>
          </a:bodyPr>
          <a:lstStyle/>
          <a:p>
            <a:pPr algn="l">
              <a:defRPr sz="1875" b="0">
                <a:solidFill>
                  <a:srgbClr val="101114"/>
                </a:solidFill>
                <a:latin typeface="Arial"/>
                <a:ea typeface="Arial"/>
                <a:cs typeface="Arial"/>
              </a:defRPr>
            </a:pPr>
            <a:r>
              <a:rPr sz="1875" b="0">
                <a:solidFill>
                  <a:srgbClr val="101114"/>
                </a:solidFill>
                <a:latin typeface="Arial"/>
                <a:ea typeface="Arial"/>
                <a:cs typeface="Arial"/>
              </a:rPr>
              <a:t>Review connects to implementation</a:t>
            </a:r>
          </a:p>
        </p:txBody>
      </p:sp>
      <p:sp>
        <p:nvSpPr>
          <p:cNvPr id="14" name="workbuddy-callout">
            <a:extLst>
              <a:ext uri="{FF2B5EF4-FFF2-40B4-BE49-F238E27FC236}">
                <a16:creationId xmlns:a16="http://schemas.microsoft.com/office/drawing/2014/main" id="{169C903E-2463-476B-8AE4-DEDB0C544A4E}"/>
              </a:ext>
            </a:extLst>
          </p:cNvPr>
          <p:cNvSpPr>
            <a:spLocks noGrp="1"/>
          </p:cNvSpPr>
          <p:nvPr/>
        </p:nvSpPr>
        <p:spPr>
          <a:xfrm>
            <a:off x="6191250" y="5638800"/>
            <a:ext cx="4762500" cy="552450"/>
          </a:xfrm>
          <a:prstGeom prst="roundRect">
            <a:avLst>
              <a:gd name="adj" fmla="val 13793"/>
            </a:avLst>
          </a:prstGeom>
          <a:solidFill>
            <a:srgbClr val="EAF5FB"/>
          </a:solidFill>
          <a:ln w="0">
            <a:noFill/>
            <a:prstDash val="solid"/>
          </a:ln>
        </p:spPr>
        <p:txBody>
          <a:bodyPr/>
          <a:lstStyle/>
          <a:p>
            <a:endParaRPr lang="en-US"/>
          </a:p>
        </p:txBody>
      </p:sp>
      <p:sp>
        <p:nvSpPr>
          <p:cNvPr id="15" name="workbuddy-callout-text">
            <a:extLst>
              <a:ext uri="{FF2B5EF4-FFF2-40B4-BE49-F238E27FC236}">
                <a16:creationId xmlns:a16="http://schemas.microsoft.com/office/drawing/2014/main" id="{E8C0E941-3D27-4846-A167-FC46AFBADC11}"/>
              </a:ext>
            </a:extLst>
          </p:cNvPr>
          <p:cNvSpPr>
            <a:spLocks noGrp="1"/>
          </p:cNvSpPr>
          <p:nvPr/>
        </p:nvSpPr>
        <p:spPr>
          <a:xfrm>
            <a:off x="6419850" y="5810250"/>
            <a:ext cx="4305300" cy="247650"/>
          </a:xfrm>
          <a:prstGeom prst="rect">
            <a:avLst/>
          </a:prstGeom>
          <a:noFill/>
          <a:ln w="0">
            <a:noFill/>
            <a:prstDash val="solid"/>
          </a:ln>
        </p:spPr>
        <p:txBody>
          <a:bodyPr wrap="square" lIns="0" tIns="0" rIns="0" bIns="0" anchor="t">
            <a:normAutofit/>
          </a:bodyPr>
          <a:lstStyle/>
          <a:p>
            <a:pPr algn="ctr">
              <a:defRPr sz="1350" b="1">
                <a:solidFill>
                  <a:srgbClr val="0A2D55"/>
                </a:solidFill>
                <a:latin typeface="Arial"/>
                <a:ea typeface="Arial"/>
                <a:cs typeface="Arial"/>
              </a:defRPr>
            </a:pPr>
            <a:r>
              <a:rPr sz="1350" b="1">
                <a:solidFill>
                  <a:srgbClr val="0A2D55"/>
                </a:solidFill>
                <a:latin typeface="Arial"/>
                <a:ea typeface="Arial"/>
                <a:cs typeface="Arial"/>
              </a:rPr>
              <a:t>Deeper judgment where it had the most leverage.</a:t>
            </a:r>
          </a:p>
        </p:txBody>
      </p:sp>
      <p:sp>
        <p:nvSpPr>
          <p:cNvPr id="16" name="footer-rule-4">
            <a:extLst>
              <a:ext uri="{FF2B5EF4-FFF2-40B4-BE49-F238E27FC236}">
                <a16:creationId xmlns:a16="http://schemas.microsoft.com/office/drawing/2014/main" id="{BCF7ACD2-8ABD-49B7-9CD6-9D43DA472EAE}"/>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17" name="footer-left-4">
            <a:extLst>
              <a:ext uri="{FF2B5EF4-FFF2-40B4-BE49-F238E27FC236}">
                <a16:creationId xmlns:a16="http://schemas.microsoft.com/office/drawing/2014/main" id="{70DF1716-7FB7-4FC3-B5DE-4E5EA26F1036}"/>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18" name="footer-number-4">
            <a:extLst>
              <a:ext uri="{FF2B5EF4-FFF2-40B4-BE49-F238E27FC236}">
                <a16:creationId xmlns:a16="http://schemas.microsoft.com/office/drawing/2014/main" id="{5AECAC3C-33F9-403D-A983-C46912D7A759}"/>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04</a:t>
            </a:r>
          </a:p>
        </p:txBody>
      </p:sp>
    </p:spTree>
    <p:extLst>
      <p:ext uri="{BB962C8B-B14F-4D97-AF65-F5344CB8AC3E}">
        <p14:creationId xmlns:p14="http://schemas.microsoft.com/office/powerpoint/2010/main" val="142051447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 name="stage-index-5">
            <a:extLst>
              <a:ext uri="{FF2B5EF4-FFF2-40B4-BE49-F238E27FC236}">
                <a16:creationId xmlns:a16="http://schemas.microsoft.com/office/drawing/2014/main" id="{44F77098-F2F2-49F0-85C4-84A05B7162E9}"/>
              </a:ext>
            </a:extLst>
          </p:cNvPr>
          <p:cNvSpPr>
            <a:spLocks noGrp="1"/>
          </p:cNvSpPr>
          <p:nvPr/>
        </p:nvSpPr>
        <p:spPr>
          <a:xfrm>
            <a:off x="609600" y="400050"/>
            <a:ext cx="438150" cy="2286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05</a:t>
            </a:r>
          </a:p>
        </p:txBody>
      </p:sp>
      <p:sp>
        <p:nvSpPr>
          <p:cNvPr id="2" name="stage-section-5">
            <a:extLst>
              <a:ext uri="{FF2B5EF4-FFF2-40B4-BE49-F238E27FC236}">
                <a16:creationId xmlns:a16="http://schemas.microsoft.com/office/drawing/2014/main" id="{FDA246E3-37E5-44B1-BA89-80F8A1F1F52B}"/>
              </a:ext>
            </a:extLst>
          </p:cNvPr>
          <p:cNvSpPr>
            <a:spLocks noGrp="1"/>
          </p:cNvSpPr>
          <p:nvPr/>
        </p:nvSpPr>
        <p:spPr>
          <a:xfrm>
            <a:off x="1162050" y="400050"/>
            <a:ext cx="5905500" cy="228600"/>
          </a:xfrm>
          <a:prstGeom prst="rect">
            <a:avLst/>
          </a:prstGeom>
          <a:noFill/>
          <a:ln w="0">
            <a:noFill/>
            <a:prstDash val="solid"/>
          </a:ln>
        </p:spPr>
        <p:txBody>
          <a:bodyPr wrap="square" lIns="0" tIns="0" rIns="0" bIns="0" anchor="t">
            <a:normAutofit/>
          </a:bodyPr>
          <a:lstStyle/>
          <a:p>
            <a:pPr algn="l">
              <a:defRPr sz="1200" b="1">
                <a:solidFill>
                  <a:srgbClr val="60656F"/>
                </a:solidFill>
                <a:latin typeface="Arial"/>
                <a:ea typeface="Arial"/>
                <a:cs typeface="Arial"/>
              </a:defRPr>
            </a:pPr>
            <a:r>
              <a:rPr sz="1200" b="1">
                <a:solidFill>
                  <a:srgbClr val="60656F"/>
                </a:solidFill>
                <a:latin typeface="Arial"/>
                <a:ea typeface="Arial"/>
                <a:cs typeface="Arial"/>
              </a:rPr>
              <a:t>WORKBUDDY WORKFLOW</a:t>
            </a:r>
          </a:p>
        </p:txBody>
      </p:sp>
      <p:sp>
        <p:nvSpPr>
          <p:cNvPr id="3" name="workflow-title">
            <a:extLst>
              <a:ext uri="{FF2B5EF4-FFF2-40B4-BE49-F238E27FC236}">
                <a16:creationId xmlns:a16="http://schemas.microsoft.com/office/drawing/2014/main" id="{5C46728B-2177-47D5-A937-3BB1C9165A0A}"/>
              </a:ext>
            </a:extLst>
          </p:cNvPr>
          <p:cNvSpPr>
            <a:spLocks noGrp="1"/>
          </p:cNvSpPr>
          <p:nvPr/>
        </p:nvSpPr>
        <p:spPr>
          <a:xfrm>
            <a:off x="609600" y="876300"/>
            <a:ext cx="10972800" cy="685800"/>
          </a:xfrm>
          <a:prstGeom prst="rect">
            <a:avLst/>
          </a:prstGeom>
          <a:noFill/>
          <a:ln w="0">
            <a:noFill/>
            <a:prstDash val="solid"/>
          </a:ln>
        </p:spPr>
        <p:txBody>
          <a:bodyPr wrap="square" lIns="0" tIns="0" rIns="0" bIns="0" anchor="t">
            <a:normAutofit/>
          </a:bodyPr>
          <a:lstStyle/>
          <a:p>
            <a:pPr algn="l">
              <a:defRPr sz="3150" b="1">
                <a:solidFill>
                  <a:srgbClr val="101114"/>
                </a:solidFill>
                <a:latin typeface="Arial"/>
                <a:ea typeface="Arial"/>
                <a:cs typeface="Arial"/>
              </a:defRPr>
            </a:pPr>
            <a:r>
              <a:rPr sz="3150" b="1">
                <a:solidFill>
                  <a:srgbClr val="101114"/>
                </a:solidFill>
                <a:latin typeface="Arial"/>
                <a:ea typeface="Arial"/>
                <a:cs typeface="Arial"/>
              </a:rPr>
              <a:t>Three specialist passes made the product stronger.</a:t>
            </a:r>
          </a:p>
        </p:txBody>
      </p:sp>
      <p:sp>
        <p:nvSpPr>
          <p:cNvPr id="4" name="workflow-line">
            <a:extLst>
              <a:ext uri="{FF2B5EF4-FFF2-40B4-BE49-F238E27FC236}">
                <a16:creationId xmlns:a16="http://schemas.microsoft.com/office/drawing/2014/main" id="{B92A0F4D-5E8E-4E2B-821A-3BD2E50C374E}"/>
              </a:ext>
            </a:extLst>
          </p:cNvPr>
          <p:cNvSpPr>
            <a:spLocks noGrp="1"/>
          </p:cNvSpPr>
          <p:nvPr/>
        </p:nvSpPr>
        <p:spPr>
          <a:xfrm>
            <a:off x="952500" y="3219450"/>
            <a:ext cx="10287000" cy="19050"/>
          </a:xfrm>
          <a:prstGeom prst="rect">
            <a:avLst/>
          </a:prstGeom>
          <a:solidFill>
            <a:srgbClr val="101114"/>
          </a:solidFill>
          <a:ln w="0">
            <a:noFill/>
            <a:prstDash val="solid"/>
          </a:ln>
        </p:spPr>
        <p:txBody>
          <a:bodyPr/>
          <a:lstStyle/>
          <a:p>
            <a:endParaRPr lang="en-US"/>
          </a:p>
        </p:txBody>
      </p:sp>
      <p:sp>
        <p:nvSpPr>
          <p:cNvPr id="5" name="workflow-no-0">
            <a:extLst>
              <a:ext uri="{FF2B5EF4-FFF2-40B4-BE49-F238E27FC236}">
                <a16:creationId xmlns:a16="http://schemas.microsoft.com/office/drawing/2014/main" id="{8C4E1DED-44FF-4D82-945B-EF465E9A2AB8}"/>
              </a:ext>
            </a:extLst>
          </p:cNvPr>
          <p:cNvSpPr>
            <a:spLocks noGrp="1"/>
          </p:cNvSpPr>
          <p:nvPr/>
        </p:nvSpPr>
        <p:spPr>
          <a:xfrm>
            <a:off x="95250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01</a:t>
            </a:r>
          </a:p>
        </p:txBody>
      </p:sp>
      <p:sp>
        <p:nvSpPr>
          <p:cNvPr id="6" name="workflow-model-0">
            <a:extLst>
              <a:ext uri="{FF2B5EF4-FFF2-40B4-BE49-F238E27FC236}">
                <a16:creationId xmlns:a16="http://schemas.microsoft.com/office/drawing/2014/main" id="{0929967C-A543-48FE-92B6-512146E7D965}"/>
              </a:ext>
            </a:extLst>
          </p:cNvPr>
          <p:cNvSpPr>
            <a:spLocks noGrp="1"/>
          </p:cNvSpPr>
          <p:nvPr/>
        </p:nvSpPr>
        <p:spPr>
          <a:xfrm>
            <a:off x="95250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7" name="workflow-expert-0">
            <a:extLst>
              <a:ext uri="{FF2B5EF4-FFF2-40B4-BE49-F238E27FC236}">
                <a16:creationId xmlns:a16="http://schemas.microsoft.com/office/drawing/2014/main" id="{537789C8-A75A-4000-9B7B-48748D15E83D}"/>
              </a:ext>
            </a:extLst>
          </p:cNvPr>
          <p:cNvSpPr>
            <a:spLocks noGrp="1"/>
          </p:cNvSpPr>
          <p:nvPr/>
        </p:nvSpPr>
        <p:spPr>
          <a:xfrm>
            <a:off x="95250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MOBILE APPLICATION</a:t>
            </a:r>
          </a:p>
          <a:p>
            <a:pPr algn="l">
              <a:defRPr sz="1125" b="1">
                <a:solidFill>
                  <a:srgbClr val="60656F"/>
                </a:solidFill>
                <a:latin typeface="Arial"/>
                <a:ea typeface="Arial"/>
                <a:cs typeface="Arial"/>
              </a:defRPr>
            </a:pPr>
            <a:r>
              <a:rPr sz="1125" b="1">
                <a:solidFill>
                  <a:srgbClr val="60656F"/>
                </a:solidFill>
                <a:latin typeface="Arial"/>
                <a:ea typeface="Arial"/>
                <a:cs typeface="Arial"/>
              </a:rPr>
              <a:t>DEVELOPER</a:t>
            </a:r>
          </a:p>
        </p:txBody>
      </p:sp>
      <p:sp>
        <p:nvSpPr>
          <p:cNvPr id="8" name="workflow-dot-0">
            <a:extLst>
              <a:ext uri="{FF2B5EF4-FFF2-40B4-BE49-F238E27FC236}">
                <a16:creationId xmlns:a16="http://schemas.microsoft.com/office/drawing/2014/main" id="{B16121C0-9ADD-4E8D-8065-3CF7DA5E015B}"/>
              </a:ext>
            </a:extLst>
          </p:cNvPr>
          <p:cNvSpPr>
            <a:spLocks noGrp="1"/>
          </p:cNvSpPr>
          <p:nvPr/>
        </p:nvSpPr>
        <p:spPr>
          <a:xfrm>
            <a:off x="885825" y="3143250"/>
            <a:ext cx="152400" cy="152400"/>
          </a:xfrm>
          <a:prstGeom prst="rect">
            <a:avLst/>
          </a:prstGeom>
          <a:solidFill>
            <a:srgbClr val="101114"/>
          </a:solidFill>
          <a:ln w="0">
            <a:noFill/>
            <a:prstDash val="solid"/>
          </a:ln>
        </p:spPr>
        <p:txBody>
          <a:bodyPr/>
          <a:lstStyle/>
          <a:p>
            <a:endParaRPr lang="en-US"/>
          </a:p>
        </p:txBody>
      </p:sp>
      <p:sp>
        <p:nvSpPr>
          <p:cNvPr id="9" name="workflow-body-0">
            <a:extLst>
              <a:ext uri="{FF2B5EF4-FFF2-40B4-BE49-F238E27FC236}">
                <a16:creationId xmlns:a16="http://schemas.microsoft.com/office/drawing/2014/main" id="{4BC50DF4-95B4-4A6C-9E8D-406CC0098753}"/>
              </a:ext>
            </a:extLst>
          </p:cNvPr>
          <p:cNvSpPr>
            <a:spLocks noGrp="1"/>
          </p:cNvSpPr>
          <p:nvPr/>
        </p:nvSpPr>
        <p:spPr>
          <a:xfrm>
            <a:off x="95250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Trace the Android journey</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Find evidence-backed issues</a:t>
            </a:r>
          </a:p>
        </p:txBody>
      </p:sp>
      <p:sp>
        <p:nvSpPr>
          <p:cNvPr id="10" name="workflow-no-1">
            <a:extLst>
              <a:ext uri="{FF2B5EF4-FFF2-40B4-BE49-F238E27FC236}">
                <a16:creationId xmlns:a16="http://schemas.microsoft.com/office/drawing/2014/main" id="{8D243308-B03D-4735-B526-2220A72F1B61}"/>
              </a:ext>
            </a:extLst>
          </p:cNvPr>
          <p:cNvSpPr>
            <a:spLocks noGrp="1"/>
          </p:cNvSpPr>
          <p:nvPr/>
        </p:nvSpPr>
        <p:spPr>
          <a:xfrm>
            <a:off x="447675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02</a:t>
            </a:r>
          </a:p>
        </p:txBody>
      </p:sp>
      <p:sp>
        <p:nvSpPr>
          <p:cNvPr id="11" name="workflow-model-1">
            <a:extLst>
              <a:ext uri="{FF2B5EF4-FFF2-40B4-BE49-F238E27FC236}">
                <a16:creationId xmlns:a16="http://schemas.microsoft.com/office/drawing/2014/main" id="{C6B6CB11-9A24-40E6-A0D9-2D2715E81AF2}"/>
              </a:ext>
            </a:extLst>
          </p:cNvPr>
          <p:cNvSpPr>
            <a:spLocks noGrp="1"/>
          </p:cNvSpPr>
          <p:nvPr/>
        </p:nvSpPr>
        <p:spPr>
          <a:xfrm>
            <a:off x="447675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KIMI-K3</a:t>
            </a:r>
          </a:p>
        </p:txBody>
      </p:sp>
      <p:sp>
        <p:nvSpPr>
          <p:cNvPr id="12" name="workflow-expert-1">
            <a:extLst>
              <a:ext uri="{FF2B5EF4-FFF2-40B4-BE49-F238E27FC236}">
                <a16:creationId xmlns:a16="http://schemas.microsoft.com/office/drawing/2014/main" id="{C02E4C96-9B46-40CE-B238-2AD2E29832DF}"/>
              </a:ext>
            </a:extLst>
          </p:cNvPr>
          <p:cNvSpPr>
            <a:spLocks noGrp="1"/>
          </p:cNvSpPr>
          <p:nvPr/>
        </p:nvSpPr>
        <p:spPr>
          <a:xfrm>
            <a:off x="447675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UI DESIGNER</a:t>
            </a:r>
          </a:p>
        </p:txBody>
      </p:sp>
      <p:sp>
        <p:nvSpPr>
          <p:cNvPr id="13" name="workflow-dot-1">
            <a:extLst>
              <a:ext uri="{FF2B5EF4-FFF2-40B4-BE49-F238E27FC236}">
                <a16:creationId xmlns:a16="http://schemas.microsoft.com/office/drawing/2014/main" id="{2EA60114-72FC-4732-A062-45B79FE369D7}"/>
              </a:ext>
            </a:extLst>
          </p:cNvPr>
          <p:cNvSpPr>
            <a:spLocks noGrp="1"/>
          </p:cNvSpPr>
          <p:nvPr/>
        </p:nvSpPr>
        <p:spPr>
          <a:xfrm>
            <a:off x="4410075" y="3143250"/>
            <a:ext cx="152400" cy="152400"/>
          </a:xfrm>
          <a:prstGeom prst="rect">
            <a:avLst/>
          </a:prstGeom>
          <a:solidFill>
            <a:srgbClr val="3D8DFF"/>
          </a:solidFill>
          <a:ln w="0">
            <a:noFill/>
            <a:prstDash val="solid"/>
          </a:ln>
        </p:spPr>
        <p:txBody>
          <a:bodyPr/>
          <a:lstStyle/>
          <a:p>
            <a:endParaRPr lang="en-US"/>
          </a:p>
        </p:txBody>
      </p:sp>
      <p:sp>
        <p:nvSpPr>
          <p:cNvPr id="14" name="workflow-body-1">
            <a:extLst>
              <a:ext uri="{FF2B5EF4-FFF2-40B4-BE49-F238E27FC236}">
                <a16:creationId xmlns:a16="http://schemas.microsoft.com/office/drawing/2014/main" id="{0AF498E3-AA42-4F4C-86DA-80231E051C47}"/>
              </a:ext>
            </a:extLst>
          </p:cNvPr>
          <p:cNvSpPr>
            <a:spLocks noGrp="1"/>
          </p:cNvSpPr>
          <p:nvPr/>
        </p:nvSpPr>
        <p:spPr>
          <a:xfrm>
            <a:off x="447675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Challenge comprehension</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Refine Stop + Reset</a:t>
            </a:r>
          </a:p>
        </p:txBody>
      </p:sp>
      <p:sp>
        <p:nvSpPr>
          <p:cNvPr id="15" name="workflow-no-2">
            <a:extLst>
              <a:ext uri="{FF2B5EF4-FFF2-40B4-BE49-F238E27FC236}">
                <a16:creationId xmlns:a16="http://schemas.microsoft.com/office/drawing/2014/main" id="{78FF6C89-8F5B-4670-9B81-DCAA08222BDC}"/>
              </a:ext>
            </a:extLst>
          </p:cNvPr>
          <p:cNvSpPr>
            <a:spLocks noGrp="1"/>
          </p:cNvSpPr>
          <p:nvPr/>
        </p:nvSpPr>
        <p:spPr>
          <a:xfrm>
            <a:off x="8001000" y="2095500"/>
            <a:ext cx="457200" cy="26670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03</a:t>
            </a:r>
          </a:p>
        </p:txBody>
      </p:sp>
      <p:sp>
        <p:nvSpPr>
          <p:cNvPr id="16" name="workflow-model-2">
            <a:extLst>
              <a:ext uri="{FF2B5EF4-FFF2-40B4-BE49-F238E27FC236}">
                <a16:creationId xmlns:a16="http://schemas.microsoft.com/office/drawing/2014/main" id="{694EA6AD-825D-41C9-B031-4CAD019F4813}"/>
              </a:ext>
            </a:extLst>
          </p:cNvPr>
          <p:cNvSpPr>
            <a:spLocks noGrp="1"/>
          </p:cNvSpPr>
          <p:nvPr/>
        </p:nvSpPr>
        <p:spPr>
          <a:xfrm>
            <a:off x="8001000" y="2400300"/>
            <a:ext cx="2667000" cy="457200"/>
          </a:xfrm>
          <a:prstGeom prst="rect">
            <a:avLst/>
          </a:prstGeom>
          <a:noFill/>
          <a:ln w="0">
            <a:noFill/>
            <a:prstDash val="solid"/>
          </a:ln>
        </p:spPr>
        <p:txBody>
          <a:bodyPr wrap="square" lIns="0" tIns="0" rIns="0" bIns="0" anchor="t">
            <a:normAutofit/>
          </a:bodyPr>
          <a:lstStyle/>
          <a:p>
            <a:pPr algn="l">
              <a:defRPr sz="2250" b="1">
                <a:solidFill>
                  <a:srgbClr val="101114"/>
                </a:solidFill>
                <a:latin typeface="Arial"/>
                <a:ea typeface="Arial"/>
                <a:cs typeface="Arial"/>
              </a:defRPr>
            </a:pPr>
            <a:r>
              <a:rPr sz="2250" b="1">
                <a:solidFill>
                  <a:srgbClr val="101114"/>
                </a:solidFill>
                <a:latin typeface="Arial"/>
                <a:ea typeface="Arial"/>
                <a:cs typeface="Arial"/>
              </a:rPr>
              <a:t>HY3</a:t>
            </a:r>
          </a:p>
        </p:txBody>
      </p:sp>
      <p:sp>
        <p:nvSpPr>
          <p:cNvPr id="17" name="workflow-expert-2">
            <a:extLst>
              <a:ext uri="{FF2B5EF4-FFF2-40B4-BE49-F238E27FC236}">
                <a16:creationId xmlns:a16="http://schemas.microsoft.com/office/drawing/2014/main" id="{D45BDAA5-28D5-42EB-B608-7C26715E2725}"/>
              </a:ext>
            </a:extLst>
          </p:cNvPr>
          <p:cNvSpPr>
            <a:spLocks noGrp="1"/>
          </p:cNvSpPr>
          <p:nvPr/>
        </p:nvSpPr>
        <p:spPr>
          <a:xfrm>
            <a:off x="8001000" y="2857500"/>
            <a:ext cx="2762250" cy="514350"/>
          </a:xfrm>
          <a:prstGeom prst="rect">
            <a:avLst/>
          </a:prstGeom>
          <a:noFill/>
          <a:ln w="0">
            <a:noFill/>
            <a:prstDash val="solid"/>
          </a:ln>
        </p:spPr>
        <p:txBody>
          <a:bodyPr wrap="square" lIns="0" tIns="0" rIns="0" bIns="0" anchor="t">
            <a:normAutofit/>
          </a:bodyPr>
          <a:lstStyle/>
          <a:p>
            <a:pPr algn="l">
              <a:defRPr sz="1125" b="1">
                <a:solidFill>
                  <a:srgbClr val="60656F"/>
                </a:solidFill>
                <a:latin typeface="Arial"/>
                <a:ea typeface="Arial"/>
                <a:cs typeface="Arial"/>
              </a:defRPr>
            </a:pPr>
            <a:r>
              <a:rPr sz="1125" b="1">
                <a:solidFill>
                  <a:srgbClr val="60656F"/>
                </a:solidFill>
                <a:latin typeface="Arial"/>
                <a:ea typeface="Arial"/>
                <a:cs typeface="Arial"/>
              </a:rPr>
              <a:t>SOFTWARE WORKSHOP</a:t>
            </a:r>
          </a:p>
        </p:txBody>
      </p:sp>
      <p:sp>
        <p:nvSpPr>
          <p:cNvPr id="18" name="workflow-dot-2">
            <a:extLst>
              <a:ext uri="{FF2B5EF4-FFF2-40B4-BE49-F238E27FC236}">
                <a16:creationId xmlns:a16="http://schemas.microsoft.com/office/drawing/2014/main" id="{FE657C6F-B5AC-4759-956F-86F6A631CCFF}"/>
              </a:ext>
            </a:extLst>
          </p:cNvPr>
          <p:cNvSpPr>
            <a:spLocks noGrp="1"/>
          </p:cNvSpPr>
          <p:nvPr/>
        </p:nvSpPr>
        <p:spPr>
          <a:xfrm>
            <a:off x="7934325" y="3143250"/>
            <a:ext cx="152400" cy="152400"/>
          </a:xfrm>
          <a:prstGeom prst="rect">
            <a:avLst/>
          </a:prstGeom>
          <a:solidFill>
            <a:srgbClr val="101114"/>
          </a:solidFill>
          <a:ln w="0">
            <a:noFill/>
            <a:prstDash val="solid"/>
          </a:ln>
        </p:spPr>
        <p:txBody>
          <a:bodyPr/>
          <a:lstStyle/>
          <a:p>
            <a:endParaRPr lang="en-US"/>
          </a:p>
        </p:txBody>
      </p:sp>
      <p:sp>
        <p:nvSpPr>
          <p:cNvPr id="19" name="workflow-body-2">
            <a:extLst>
              <a:ext uri="{FF2B5EF4-FFF2-40B4-BE49-F238E27FC236}">
                <a16:creationId xmlns:a16="http://schemas.microsoft.com/office/drawing/2014/main" id="{29D08FFA-1FDE-4DAD-B659-2FF71E658243}"/>
              </a:ext>
            </a:extLst>
          </p:cNvPr>
          <p:cNvSpPr>
            <a:spLocks noGrp="1"/>
          </p:cNvSpPr>
          <p:nvPr/>
        </p:nvSpPr>
        <p:spPr>
          <a:xfrm>
            <a:off x="8001000" y="3714750"/>
            <a:ext cx="2857500" cy="1047750"/>
          </a:xfrm>
          <a:prstGeom prst="rect">
            <a:avLst/>
          </a:prstGeom>
          <a:noFill/>
          <a:ln w="0">
            <a:noFill/>
            <a:prstDash val="solid"/>
          </a:ln>
        </p:spPr>
        <p:txBody>
          <a:bodyPr wrap="square" lIns="0" tIns="0" rIns="0" bIns="0" anchor="t">
            <a:normAutofit/>
          </a:bodyPr>
          <a:lstStyle/>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Implement selected changes</a:t>
            </a:r>
          </a:p>
          <a:p>
            <a:pPr algn="l">
              <a:lnSpc>
                <a:spcPct val="105000"/>
              </a:lnSpc>
              <a:buNone/>
              <a:defRPr sz="1650" b="0">
                <a:solidFill>
                  <a:srgbClr val="101114"/>
                </a:solidFill>
                <a:latin typeface="Arial"/>
                <a:ea typeface="Arial"/>
                <a:cs typeface="Arial"/>
              </a:defRPr>
            </a:pPr>
            <a:r>
              <a:rPr sz="1650" b="0">
                <a:solidFill>
                  <a:srgbClr val="101114"/>
                </a:solidFill>
                <a:latin typeface="Arial"/>
                <a:ea typeface="Arial"/>
                <a:cs typeface="Arial"/>
              </a:rPr>
              <a:t>Rebuild + verify on OnePlus</a:t>
            </a:r>
          </a:p>
        </p:txBody>
      </p:sp>
      <p:sp>
        <p:nvSpPr>
          <p:cNvPr id="20" name="workflow-summary">
            <a:extLst>
              <a:ext uri="{FF2B5EF4-FFF2-40B4-BE49-F238E27FC236}">
                <a16:creationId xmlns:a16="http://schemas.microsoft.com/office/drawing/2014/main" id="{EE7801EB-CFBA-4E30-92C2-2AC94032E5D6}"/>
              </a:ext>
            </a:extLst>
          </p:cNvPr>
          <p:cNvSpPr>
            <a:spLocks noGrp="1"/>
          </p:cNvSpPr>
          <p:nvPr/>
        </p:nvSpPr>
        <p:spPr>
          <a:xfrm>
            <a:off x="952500" y="5410200"/>
            <a:ext cx="10287000" cy="666750"/>
          </a:xfrm>
          <a:prstGeom prst="roundRect">
            <a:avLst>
              <a:gd name="adj" fmla="val 11429"/>
            </a:avLst>
          </a:prstGeom>
          <a:solidFill>
            <a:srgbClr val="0A2D55"/>
          </a:solidFill>
          <a:ln w="0">
            <a:noFill/>
            <a:prstDash val="solid"/>
          </a:ln>
        </p:spPr>
        <p:txBody>
          <a:bodyPr/>
          <a:lstStyle/>
          <a:p>
            <a:endParaRPr lang="en-US"/>
          </a:p>
        </p:txBody>
      </p:sp>
      <p:sp>
        <p:nvSpPr>
          <p:cNvPr id="21" name="workflow-summary-text">
            <a:extLst>
              <a:ext uri="{FF2B5EF4-FFF2-40B4-BE49-F238E27FC236}">
                <a16:creationId xmlns:a16="http://schemas.microsoft.com/office/drawing/2014/main" id="{3E4A9B2F-0CF4-4AF8-9E2E-7EF3CBFD42A4}"/>
              </a:ext>
            </a:extLst>
          </p:cNvPr>
          <p:cNvSpPr>
            <a:spLocks noGrp="1"/>
          </p:cNvSpPr>
          <p:nvPr/>
        </p:nvSpPr>
        <p:spPr>
          <a:xfrm>
            <a:off x="1238250" y="5629275"/>
            <a:ext cx="9715500" cy="285750"/>
          </a:xfrm>
          <a:prstGeom prst="rect">
            <a:avLst/>
          </a:prstGeom>
          <a:noFill/>
          <a:ln w="0">
            <a:noFill/>
            <a:prstDash val="solid"/>
          </a:ln>
        </p:spPr>
        <p:txBody>
          <a:bodyPr wrap="square" lIns="0" tIns="0" rIns="0" bIns="0" anchor="t">
            <a:normAutofit/>
          </a:bodyPr>
          <a:lstStyle/>
          <a:p>
            <a:pPr algn="ctr">
              <a:defRPr sz="1575" b="1">
                <a:solidFill>
                  <a:srgbClr val="FFFFFF"/>
                </a:solidFill>
                <a:latin typeface="Arial"/>
                <a:ea typeface="Arial"/>
                <a:cs typeface="Arial"/>
              </a:defRPr>
            </a:pPr>
            <a:r>
              <a:rPr sz="1575" b="1">
                <a:solidFill>
                  <a:srgbClr val="FFFFFF"/>
                </a:solidFill>
                <a:latin typeface="Arial"/>
                <a:ea typeface="Arial"/>
                <a:cs typeface="Arial"/>
              </a:rPr>
              <a:t>INVESTIGATE  →  CHALLENGE  →  IMPLEMENT  →  VERIFY</a:t>
            </a:r>
          </a:p>
        </p:txBody>
      </p:sp>
      <p:sp>
        <p:nvSpPr>
          <p:cNvPr id="22" name="footer-rule-5">
            <a:extLst>
              <a:ext uri="{FF2B5EF4-FFF2-40B4-BE49-F238E27FC236}">
                <a16:creationId xmlns:a16="http://schemas.microsoft.com/office/drawing/2014/main" id="{411C36D0-A569-4EBB-8275-B4C97CAC87C6}"/>
              </a:ext>
            </a:extLst>
          </p:cNvPr>
          <p:cNvSpPr>
            <a:spLocks noGrp="1"/>
          </p:cNvSpPr>
          <p:nvPr/>
        </p:nvSpPr>
        <p:spPr>
          <a:xfrm>
            <a:off x="609600" y="6486525"/>
            <a:ext cx="10972800" cy="9525"/>
          </a:xfrm>
          <a:prstGeom prst="rect">
            <a:avLst/>
          </a:prstGeom>
          <a:solidFill>
            <a:srgbClr val="B8BCC4"/>
          </a:solidFill>
          <a:ln w="0">
            <a:noFill/>
            <a:prstDash val="solid"/>
          </a:ln>
        </p:spPr>
        <p:txBody>
          <a:bodyPr/>
          <a:lstStyle/>
          <a:p>
            <a:endParaRPr lang="en-US"/>
          </a:p>
        </p:txBody>
      </p:sp>
      <p:sp>
        <p:nvSpPr>
          <p:cNvPr id="23" name="footer-left-5">
            <a:extLst>
              <a:ext uri="{FF2B5EF4-FFF2-40B4-BE49-F238E27FC236}">
                <a16:creationId xmlns:a16="http://schemas.microsoft.com/office/drawing/2014/main" id="{340155FB-3D96-426C-AFA7-3BAD872D7656}"/>
              </a:ext>
            </a:extLst>
          </p:cNvPr>
          <p:cNvSpPr>
            <a:spLocks noGrp="1"/>
          </p:cNvSpPr>
          <p:nvPr/>
        </p:nvSpPr>
        <p:spPr>
          <a:xfrm>
            <a:off x="609600" y="6572250"/>
            <a:ext cx="4953000" cy="1714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PHOTO HELPER · FIVECENT</a:t>
            </a:r>
          </a:p>
        </p:txBody>
      </p:sp>
      <p:sp>
        <p:nvSpPr>
          <p:cNvPr id="24" name="footer-number-5">
            <a:extLst>
              <a:ext uri="{FF2B5EF4-FFF2-40B4-BE49-F238E27FC236}">
                <a16:creationId xmlns:a16="http://schemas.microsoft.com/office/drawing/2014/main" id="{63117AE8-F974-426F-AEE0-BC652CDF4A63}"/>
              </a:ext>
            </a:extLst>
          </p:cNvPr>
          <p:cNvSpPr>
            <a:spLocks noGrp="1"/>
          </p:cNvSpPr>
          <p:nvPr/>
        </p:nvSpPr>
        <p:spPr>
          <a:xfrm>
            <a:off x="11144250" y="6562725"/>
            <a:ext cx="438150" cy="171450"/>
          </a:xfrm>
          <a:prstGeom prst="rect">
            <a:avLst/>
          </a:prstGeom>
          <a:noFill/>
          <a:ln w="0">
            <a:noFill/>
            <a:prstDash val="solid"/>
          </a:ln>
        </p:spPr>
        <p:txBody>
          <a:bodyPr wrap="square" lIns="0" tIns="0" rIns="0" bIns="0" anchor="t">
            <a:normAutofit/>
          </a:bodyPr>
          <a:lstStyle/>
          <a:p>
            <a:pPr algn="r">
              <a:defRPr sz="900" b="1">
                <a:solidFill>
                  <a:srgbClr val="60656F"/>
                </a:solidFill>
                <a:latin typeface="Arial"/>
                <a:ea typeface="Arial"/>
                <a:cs typeface="Arial"/>
              </a:defRPr>
            </a:pPr>
            <a:r>
              <a:rPr sz="900" b="1">
                <a:solidFill>
                  <a:srgbClr val="60656F"/>
                </a:solidFill>
                <a:latin typeface="Arial"/>
                <a:ea typeface="Arial"/>
                <a:cs typeface="Arial"/>
              </a:rPr>
              <a:t>05</a:t>
            </a:r>
          </a:p>
        </p:txBody>
      </p:sp>
    </p:spTree>
    <p:extLst>
      <p:ext uri="{BB962C8B-B14F-4D97-AF65-F5344CB8AC3E}">
        <p14:creationId xmlns:p14="http://schemas.microsoft.com/office/powerpoint/2010/main" val="18381567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future-eyebrow">
            <a:extLst>
              <a:ext uri="{FF2B5EF4-FFF2-40B4-BE49-F238E27FC236}">
                <a16:creationId xmlns:a16="http://schemas.microsoft.com/office/drawing/2014/main" id="{38191A2E-9BC0-4CAB-B50B-4C1D3B7A4955}"/>
              </a:ext>
            </a:extLst>
          </p:cNvPr>
          <p:cNvSpPr>
            <a:spLocks noGrp="1"/>
          </p:cNvSpPr>
          <p:nvPr/>
        </p:nvSpPr>
        <p:spPr>
          <a:xfrm>
            <a:off x="609600" y="457200"/>
            <a:ext cx="2095500" cy="285750"/>
          </a:xfrm>
          <a:prstGeom prst="rect">
            <a:avLst/>
          </a:prstGeom>
          <a:noFill/>
          <a:ln w="0">
            <a:noFill/>
            <a:prstDash val="solid"/>
          </a:ln>
        </p:spPr>
        <p:txBody>
          <a:bodyPr wrap="square" lIns="0" tIns="0" rIns="0" bIns="0" anchor="t">
            <a:normAutofit/>
          </a:bodyPr>
          <a:lstStyle/>
          <a:p>
            <a:pPr algn="l">
              <a:defRPr sz="1200" b="1">
                <a:solidFill>
                  <a:srgbClr val="3D8DFF"/>
                </a:solidFill>
                <a:latin typeface="Arial"/>
                <a:ea typeface="Arial"/>
                <a:cs typeface="Arial"/>
              </a:defRPr>
            </a:pPr>
            <a:r>
              <a:rPr sz="1200" b="1">
                <a:solidFill>
                  <a:srgbClr val="3D8DFF"/>
                </a:solidFill>
                <a:latin typeface="Arial"/>
                <a:ea typeface="Arial"/>
                <a:cs typeface="Arial"/>
              </a:rPr>
              <a:t>FUTURE</a:t>
            </a:r>
          </a:p>
        </p:txBody>
      </p:sp>
      <p:sp>
        <p:nvSpPr>
          <p:cNvPr id="2" name="future-title">
            <a:extLst>
              <a:ext uri="{FF2B5EF4-FFF2-40B4-BE49-F238E27FC236}">
                <a16:creationId xmlns:a16="http://schemas.microsoft.com/office/drawing/2014/main" id="{D3BCEA8A-A911-4996-9938-AF068DE72574}"/>
              </a:ext>
            </a:extLst>
          </p:cNvPr>
          <p:cNvSpPr>
            <a:spLocks noGrp="1"/>
          </p:cNvSpPr>
          <p:nvPr/>
        </p:nvSpPr>
        <p:spPr>
          <a:xfrm>
            <a:off x="609600" y="1476375"/>
            <a:ext cx="10668000" cy="1047750"/>
          </a:xfrm>
          <a:prstGeom prst="rect">
            <a:avLst/>
          </a:prstGeom>
          <a:noFill/>
          <a:ln w="0">
            <a:noFill/>
            <a:prstDash val="solid"/>
          </a:ln>
        </p:spPr>
        <p:txBody>
          <a:bodyPr wrap="square" lIns="0" tIns="0" rIns="0" bIns="0" anchor="t">
            <a:normAutofit/>
          </a:bodyPr>
          <a:lstStyle/>
          <a:p>
            <a:pPr algn="l">
              <a:lnSpc>
                <a:spcPct val="95000"/>
              </a:lnSpc>
              <a:buNone/>
              <a:defRPr sz="3600" b="1">
                <a:solidFill>
                  <a:srgbClr val="101114"/>
                </a:solidFill>
                <a:latin typeface="Arial"/>
                <a:ea typeface="Arial"/>
                <a:cs typeface="Arial"/>
              </a:defRPr>
            </a:pPr>
            <a:r>
              <a:rPr sz="3600" b="1">
                <a:solidFill>
                  <a:srgbClr val="101114"/>
                </a:solidFill>
                <a:latin typeface="Arial"/>
                <a:ea typeface="Arial"/>
                <a:cs typeface="Arial"/>
              </a:rPr>
              <a:t>Three gaps. One more capable camera.</a:t>
            </a:r>
          </a:p>
        </p:txBody>
      </p:sp>
      <p:sp>
        <p:nvSpPr>
          <p:cNvPr id="3" name="future-key-0">
            <a:extLst>
              <a:ext uri="{FF2B5EF4-FFF2-40B4-BE49-F238E27FC236}">
                <a16:creationId xmlns:a16="http://schemas.microsoft.com/office/drawing/2014/main" id="{17205196-D13E-4972-AF06-BBE1B0B75C14}"/>
              </a:ext>
            </a:extLst>
          </p:cNvPr>
          <p:cNvSpPr>
            <a:spLocks noGrp="1"/>
          </p:cNvSpPr>
          <p:nvPr/>
        </p:nvSpPr>
        <p:spPr>
          <a:xfrm>
            <a:off x="609600" y="42386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FOCUS</a:t>
            </a:r>
          </a:p>
        </p:txBody>
      </p:sp>
      <p:sp>
        <p:nvSpPr>
          <p:cNvPr id="4" name="future-value-0">
            <a:extLst>
              <a:ext uri="{FF2B5EF4-FFF2-40B4-BE49-F238E27FC236}">
                <a16:creationId xmlns:a16="http://schemas.microsoft.com/office/drawing/2014/main" id="{5FE955BF-7886-43B2-8057-342ADFDDB031}"/>
              </a:ext>
            </a:extLst>
          </p:cNvPr>
          <p:cNvSpPr>
            <a:spLocks noGrp="1"/>
          </p:cNvSpPr>
          <p:nvPr/>
        </p:nvSpPr>
        <p:spPr>
          <a:xfrm>
            <a:off x="2238375" y="42195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dirty="0">
                <a:solidFill>
                  <a:srgbClr val="101114"/>
                </a:solidFill>
                <a:latin typeface="Arial"/>
                <a:ea typeface="Arial"/>
                <a:cs typeface="Arial"/>
              </a:rPr>
              <a:t>Object masks replace coarse grid cells</a:t>
            </a:r>
          </a:p>
        </p:txBody>
      </p:sp>
      <p:sp>
        <p:nvSpPr>
          <p:cNvPr id="5" name="future-key-1">
            <a:extLst>
              <a:ext uri="{FF2B5EF4-FFF2-40B4-BE49-F238E27FC236}">
                <a16:creationId xmlns:a16="http://schemas.microsoft.com/office/drawing/2014/main" id="{0EBA4D72-9B56-4789-B3A9-C7FE419DCC52}"/>
              </a:ext>
            </a:extLst>
          </p:cNvPr>
          <p:cNvSpPr>
            <a:spLocks noGrp="1"/>
          </p:cNvSpPr>
          <p:nvPr/>
        </p:nvSpPr>
        <p:spPr>
          <a:xfrm>
            <a:off x="609600" y="47720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SPEED</a:t>
            </a:r>
          </a:p>
        </p:txBody>
      </p:sp>
      <p:sp>
        <p:nvSpPr>
          <p:cNvPr id="6" name="future-value-1">
            <a:extLst>
              <a:ext uri="{FF2B5EF4-FFF2-40B4-BE49-F238E27FC236}">
                <a16:creationId xmlns:a16="http://schemas.microsoft.com/office/drawing/2014/main" id="{55DCB00E-CC32-454B-8D70-4F9C8CD5CB36}"/>
              </a:ext>
            </a:extLst>
          </p:cNvPr>
          <p:cNvSpPr>
            <a:spLocks noGrp="1"/>
          </p:cNvSpPr>
          <p:nvPr/>
        </p:nvSpPr>
        <p:spPr>
          <a:xfrm>
            <a:off x="2238375" y="47529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dirty="0">
                <a:solidFill>
                  <a:srgbClr val="101114"/>
                </a:solidFill>
                <a:latin typeface="Arial"/>
                <a:ea typeface="Arial"/>
                <a:cs typeface="Arial"/>
              </a:rPr>
              <a:t>On-device commands</a:t>
            </a:r>
            <a:r>
              <a:rPr lang="en-US" sz="1575" b="0" dirty="0">
                <a:solidFill>
                  <a:srgbClr val="101114"/>
                </a:solidFill>
                <a:latin typeface="Arial"/>
                <a:ea typeface="Arial"/>
                <a:cs typeface="Arial"/>
              </a:rPr>
              <a:t> handling model</a:t>
            </a:r>
            <a:endParaRPr sz="1575" b="0" dirty="0">
              <a:solidFill>
                <a:srgbClr val="101114"/>
              </a:solidFill>
              <a:latin typeface="Arial"/>
              <a:ea typeface="Arial"/>
              <a:cs typeface="Arial"/>
            </a:endParaRPr>
          </a:p>
        </p:txBody>
      </p:sp>
      <p:sp>
        <p:nvSpPr>
          <p:cNvPr id="7" name="future-key-2">
            <a:extLst>
              <a:ext uri="{FF2B5EF4-FFF2-40B4-BE49-F238E27FC236}">
                <a16:creationId xmlns:a16="http://schemas.microsoft.com/office/drawing/2014/main" id="{E39B7AD4-A0D9-452A-93B5-2FBB3A940B71}"/>
              </a:ext>
            </a:extLst>
          </p:cNvPr>
          <p:cNvSpPr>
            <a:spLocks noGrp="1"/>
          </p:cNvSpPr>
          <p:nvPr/>
        </p:nvSpPr>
        <p:spPr>
          <a:xfrm>
            <a:off x="609600" y="5305425"/>
            <a:ext cx="1428750" cy="247650"/>
          </a:xfrm>
          <a:prstGeom prst="rect">
            <a:avLst/>
          </a:prstGeom>
          <a:noFill/>
          <a:ln w="0">
            <a:noFill/>
            <a:prstDash val="solid"/>
          </a:ln>
        </p:spPr>
        <p:txBody>
          <a:bodyPr wrap="square" lIns="0" tIns="0" rIns="0" bIns="0" anchor="t">
            <a:normAutofit/>
          </a:bodyPr>
          <a:lstStyle/>
          <a:p>
            <a:pPr algn="l">
              <a:defRPr sz="1125" b="1">
                <a:solidFill>
                  <a:srgbClr val="3D8DFF"/>
                </a:solidFill>
                <a:latin typeface="Arial"/>
                <a:ea typeface="Arial"/>
                <a:cs typeface="Arial"/>
              </a:defRPr>
            </a:pPr>
            <a:r>
              <a:rPr sz="1125" b="1">
                <a:solidFill>
                  <a:srgbClr val="3D8DFF"/>
                </a:solidFill>
                <a:latin typeface="Arial"/>
                <a:ea typeface="Arial"/>
                <a:cs typeface="Arial"/>
              </a:rPr>
              <a:t>AESTHETICS</a:t>
            </a:r>
          </a:p>
        </p:txBody>
      </p:sp>
      <p:sp>
        <p:nvSpPr>
          <p:cNvPr id="8" name="future-value-2">
            <a:extLst>
              <a:ext uri="{FF2B5EF4-FFF2-40B4-BE49-F238E27FC236}">
                <a16:creationId xmlns:a16="http://schemas.microsoft.com/office/drawing/2014/main" id="{6390EF7E-DE61-4294-9AB3-60FD5F724DFA}"/>
              </a:ext>
            </a:extLst>
          </p:cNvPr>
          <p:cNvSpPr>
            <a:spLocks noGrp="1"/>
          </p:cNvSpPr>
          <p:nvPr/>
        </p:nvSpPr>
        <p:spPr>
          <a:xfrm>
            <a:off x="2238375" y="5286375"/>
            <a:ext cx="6667500" cy="323850"/>
          </a:xfrm>
          <a:prstGeom prst="rect">
            <a:avLst/>
          </a:prstGeom>
          <a:noFill/>
          <a:ln w="0">
            <a:noFill/>
            <a:prstDash val="solid"/>
          </a:ln>
        </p:spPr>
        <p:txBody>
          <a:bodyPr wrap="square" lIns="0" tIns="0" rIns="0" bIns="0" anchor="t">
            <a:normAutofit/>
          </a:bodyPr>
          <a:lstStyle/>
          <a:p>
            <a:pPr algn="l">
              <a:defRPr sz="1575" b="0">
                <a:solidFill>
                  <a:srgbClr val="101114"/>
                </a:solidFill>
                <a:latin typeface="Arial"/>
                <a:ea typeface="Arial"/>
                <a:cs typeface="Arial"/>
              </a:defRPr>
            </a:pPr>
            <a:r>
              <a:rPr sz="1575" b="0">
                <a:solidFill>
                  <a:srgbClr val="101114"/>
                </a:solidFill>
                <a:latin typeface="Arial"/>
                <a:ea typeface="Arial"/>
                <a:cs typeface="Arial"/>
              </a:rPr>
              <a:t>Rapid variants → user choice → learned preferences</a:t>
            </a:r>
          </a:p>
        </p:txBody>
      </p:sp>
      <p:sp>
        <p:nvSpPr>
          <p:cNvPr id="9" name="future-accent">
            <a:extLst>
              <a:ext uri="{FF2B5EF4-FFF2-40B4-BE49-F238E27FC236}">
                <a16:creationId xmlns:a16="http://schemas.microsoft.com/office/drawing/2014/main" id="{C598BE98-CE67-4F2C-811D-CCDBF2D0FEC2}"/>
              </a:ext>
            </a:extLst>
          </p:cNvPr>
          <p:cNvSpPr>
            <a:spLocks noGrp="1"/>
          </p:cNvSpPr>
          <p:nvPr/>
        </p:nvSpPr>
        <p:spPr>
          <a:xfrm>
            <a:off x="9525000" y="4267200"/>
            <a:ext cx="76200" cy="1504950"/>
          </a:xfrm>
          <a:prstGeom prst="rect">
            <a:avLst/>
          </a:prstGeom>
          <a:solidFill>
            <a:srgbClr val="3D8DFF"/>
          </a:solidFill>
          <a:ln w="0">
            <a:noFill/>
            <a:prstDash val="solid"/>
          </a:ln>
        </p:spPr>
        <p:txBody>
          <a:bodyPr/>
          <a:lstStyle/>
          <a:p>
            <a:endParaRPr lang="en-US"/>
          </a:p>
        </p:txBody>
      </p:sp>
      <p:sp>
        <p:nvSpPr>
          <p:cNvPr id="10" name="future-tagline">
            <a:extLst>
              <a:ext uri="{FF2B5EF4-FFF2-40B4-BE49-F238E27FC236}">
                <a16:creationId xmlns:a16="http://schemas.microsoft.com/office/drawing/2014/main" id="{ACC0A2EE-2434-44E8-BC0C-5CDE76A11C35}"/>
              </a:ext>
            </a:extLst>
          </p:cNvPr>
          <p:cNvSpPr>
            <a:spLocks noGrp="1"/>
          </p:cNvSpPr>
          <p:nvPr/>
        </p:nvSpPr>
        <p:spPr>
          <a:xfrm>
            <a:off x="9810750" y="4210050"/>
            <a:ext cx="1809750" cy="1619250"/>
          </a:xfrm>
          <a:prstGeom prst="rect">
            <a:avLst/>
          </a:prstGeom>
          <a:noFill/>
          <a:ln w="0">
            <a:noFill/>
            <a:prstDash val="solid"/>
          </a:ln>
        </p:spPr>
        <p:txBody>
          <a:bodyPr wrap="square" lIns="0" tIns="0" rIns="0" bIns="0" anchor="ctr">
            <a:normAutofit/>
          </a:bodyPr>
          <a:lstStyle/>
          <a:p>
            <a:pPr algn="l">
              <a:defRPr sz="1875" b="1">
                <a:solidFill>
                  <a:srgbClr val="0A2D55"/>
                </a:solidFill>
                <a:latin typeface="Arial"/>
                <a:ea typeface="Arial"/>
                <a:cs typeface="Arial"/>
              </a:defRPr>
            </a:pPr>
            <a:r>
              <a:rPr sz="1875" b="1">
                <a:solidFill>
                  <a:srgbClr val="0A2D55"/>
                </a:solidFill>
                <a:latin typeface="Arial"/>
                <a:ea typeface="Arial"/>
                <a:cs typeface="Arial"/>
              </a:rPr>
              <a:t>PRECISE.</a:t>
            </a:r>
          </a:p>
          <a:p>
            <a:pPr algn="l">
              <a:defRPr sz="1875" b="1">
                <a:solidFill>
                  <a:srgbClr val="0A2D55"/>
                </a:solidFill>
                <a:latin typeface="Arial"/>
                <a:ea typeface="Arial"/>
                <a:cs typeface="Arial"/>
              </a:defRPr>
            </a:pPr>
            <a:r>
              <a:rPr sz="1875" b="1">
                <a:solidFill>
                  <a:srgbClr val="0A2D55"/>
                </a:solidFill>
                <a:latin typeface="Arial"/>
                <a:ea typeface="Arial"/>
                <a:cs typeface="Arial"/>
              </a:rPr>
              <a:t>RESPONSIVE.</a:t>
            </a:r>
          </a:p>
          <a:p>
            <a:pPr algn="l">
              <a:defRPr sz="1875" b="1">
                <a:solidFill>
                  <a:srgbClr val="0A2D55"/>
                </a:solidFill>
                <a:latin typeface="Arial"/>
                <a:ea typeface="Arial"/>
                <a:cs typeface="Arial"/>
              </a:defRPr>
            </a:pPr>
            <a:r>
              <a:rPr sz="1875" b="1">
                <a:solidFill>
                  <a:srgbClr val="0A2D55"/>
                </a:solidFill>
                <a:latin typeface="Arial"/>
                <a:ea typeface="Arial"/>
                <a:cs typeface="Arial"/>
              </a:rPr>
              <a:t>PERSONAL.</a:t>
            </a:r>
          </a:p>
        </p:txBody>
      </p:sp>
      <p:sp>
        <p:nvSpPr>
          <p:cNvPr id="11" name="future-team">
            <a:extLst>
              <a:ext uri="{FF2B5EF4-FFF2-40B4-BE49-F238E27FC236}">
                <a16:creationId xmlns:a16="http://schemas.microsoft.com/office/drawing/2014/main" id="{4F24D4D1-E90F-4440-825F-0BBF6E78BF73}"/>
              </a:ext>
            </a:extLst>
          </p:cNvPr>
          <p:cNvSpPr>
            <a:spLocks noGrp="1"/>
          </p:cNvSpPr>
          <p:nvPr/>
        </p:nvSpPr>
        <p:spPr>
          <a:xfrm>
            <a:off x="609600" y="6362700"/>
            <a:ext cx="3810000" cy="209550"/>
          </a:xfrm>
          <a:prstGeom prst="rect">
            <a:avLst/>
          </a:prstGeom>
          <a:noFill/>
          <a:ln w="0">
            <a:noFill/>
            <a:prstDash val="solid"/>
          </a:ln>
        </p:spPr>
        <p:txBody>
          <a:bodyPr wrap="square" lIns="0" tIns="0" rIns="0" bIns="0" anchor="t">
            <a:normAutofit/>
          </a:bodyPr>
          <a:lstStyle/>
          <a:p>
            <a:pPr algn="l">
              <a:defRPr sz="900" b="1">
                <a:solidFill>
                  <a:srgbClr val="60656F"/>
                </a:solidFill>
                <a:latin typeface="Arial"/>
                <a:ea typeface="Arial"/>
                <a:cs typeface="Arial"/>
              </a:defRPr>
            </a:pPr>
            <a:r>
              <a:rPr sz="900" b="1">
                <a:solidFill>
                  <a:srgbClr val="60656F"/>
                </a:solidFill>
                <a:latin typeface="Arial"/>
                <a:ea typeface="Arial"/>
                <a:cs typeface="Arial"/>
              </a:rPr>
              <a:t>FIVECENT · PHOTO HELPER</a:t>
            </a:r>
          </a:p>
        </p:txBody>
      </p:sp>
    </p:spTree>
    <p:extLst>
      <p:ext uri="{BB962C8B-B14F-4D97-AF65-F5344CB8AC3E}">
        <p14:creationId xmlns:p14="http://schemas.microsoft.com/office/powerpoint/2010/main" val="198543401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181</TotalTime>
  <Words>1256</Words>
  <Application>Microsoft Office PowerPoint</Application>
  <DocSecurity>0</DocSecurity>
  <PresentationFormat>Widescreen</PresentationFormat>
  <Paragraphs>148</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LBL</cp:lastModifiedBy>
  <cp:revision>2</cp:revision>
  <dcterms:created xsi:type="dcterms:W3CDTF">2026-08-22T09:58:09Z</dcterms:created>
  <dcterms:modified xsi:type="dcterms:W3CDTF">2026-08-22T15:06:32Z</dcterms:modified>
</cp:coreProperties>
</file>